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87" r:id="rId6"/>
    <p:sldId id="288" r:id="rId7"/>
    <p:sldId id="289" r:id="rId8"/>
    <p:sldId id="290" r:id="rId9"/>
    <p:sldId id="303" r:id="rId10"/>
    <p:sldId id="304" r:id="rId11"/>
    <p:sldId id="305" r:id="rId12"/>
    <p:sldId id="261" r:id="rId13"/>
    <p:sldId id="293" r:id="rId14"/>
    <p:sldId id="273" r:id="rId15"/>
    <p:sldId id="275" r:id="rId16"/>
    <p:sldId id="277" r:id="rId17"/>
    <p:sldId id="292" r:id="rId18"/>
    <p:sldId id="271" r:id="rId19"/>
    <p:sldId id="272" r:id="rId20"/>
    <p:sldId id="278" r:id="rId21"/>
    <p:sldId id="280" r:id="rId22"/>
    <p:sldId id="282" r:id="rId23"/>
    <p:sldId id="301" r:id="rId24"/>
    <p:sldId id="302" r:id="rId25"/>
    <p:sldId id="285" r:id="rId26"/>
    <p:sldId id="294" r:id="rId27"/>
    <p:sldId id="295" r:id="rId28"/>
    <p:sldId id="297" r:id="rId29"/>
    <p:sldId id="298" r:id="rId30"/>
    <p:sldId id="276" r:id="rId31"/>
    <p:sldId id="299" r:id="rId32"/>
    <p:sldId id="300" r:id="rId33"/>
    <p:sldId id="306" r:id="rId34"/>
    <p:sldId id="307" r:id="rId35"/>
    <p:sldId id="26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6" d="100"/>
          <a:sy n="76" d="100"/>
        </p:scale>
        <p:origin x="28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C352F6-2FAB-4C10-94ED-CBB9D2CA2147}" type="datetimeFigureOut">
              <a:rPr lang="en-IN" smtClean="0"/>
              <a:t>19-05-2026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2424B-373E-444D-9ABF-72BC0338D94D}" type="slidenum">
              <a:rPr lang="en-IN" smtClean="0"/>
              <a:t>‹#›</a:t>
            </a:fld>
            <a:endParaRPr lang="en-IN"/>
          </a:p>
        </p:txBody>
      </p:sp>
    </p:spTree>
    <p:extLst>
      <p:ext uri="{BB962C8B-B14F-4D97-AF65-F5344CB8AC3E}">
        <p14:creationId xmlns:p14="http://schemas.microsoft.com/office/powerpoint/2010/main" val="165594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22424B-373E-444D-9ABF-72BC0338D94D}" type="slidenum">
              <a:rPr lang="en-IN" smtClean="0"/>
              <a:t>22</a:t>
            </a:fld>
            <a:endParaRPr lang="en-IN"/>
          </a:p>
        </p:txBody>
      </p:sp>
    </p:spTree>
    <p:extLst>
      <p:ext uri="{BB962C8B-B14F-4D97-AF65-F5344CB8AC3E}">
        <p14:creationId xmlns:p14="http://schemas.microsoft.com/office/powerpoint/2010/main" val="2024775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411EA-1E40-9F00-B289-3760CA2A6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6E0B6-DD85-A7B0-BC65-C5CC78A3641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89ABD88-8095-7FB9-84ED-5F7FCDBE9A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D29B4A6-F030-87CD-99C3-FE699A615507}"/>
              </a:ext>
            </a:extLst>
          </p:cNvPr>
          <p:cNvSpPr>
            <a:spLocks noGrp="1"/>
          </p:cNvSpPr>
          <p:nvPr>
            <p:ph type="sldNum" sz="quarter" idx="5"/>
          </p:nvPr>
        </p:nvSpPr>
        <p:spPr/>
        <p:txBody>
          <a:bodyPr/>
          <a:lstStyle/>
          <a:p>
            <a:fld id="{2722424B-373E-444D-9ABF-72BC0338D94D}" type="slidenum">
              <a:rPr lang="en-IN" smtClean="0"/>
              <a:t>23</a:t>
            </a:fld>
            <a:endParaRPr lang="en-IN"/>
          </a:p>
        </p:txBody>
      </p:sp>
    </p:spTree>
    <p:extLst>
      <p:ext uri="{BB962C8B-B14F-4D97-AF65-F5344CB8AC3E}">
        <p14:creationId xmlns:p14="http://schemas.microsoft.com/office/powerpoint/2010/main" val="1815441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493C1-144A-7336-9301-F3F6539C4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2A352-4AE4-E8BA-6715-8DE963542A3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686796A-DC53-C9EC-CE90-9029EBA7EF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736759-49E4-A34B-49D5-812271047001}"/>
              </a:ext>
            </a:extLst>
          </p:cNvPr>
          <p:cNvSpPr>
            <a:spLocks noGrp="1"/>
          </p:cNvSpPr>
          <p:nvPr>
            <p:ph type="sldNum" sz="quarter" idx="5"/>
          </p:nvPr>
        </p:nvSpPr>
        <p:spPr/>
        <p:txBody>
          <a:bodyPr/>
          <a:lstStyle/>
          <a:p>
            <a:fld id="{2722424B-373E-444D-9ABF-72BC0338D94D}" type="slidenum">
              <a:rPr lang="en-IN" smtClean="0"/>
              <a:t>24</a:t>
            </a:fld>
            <a:endParaRPr lang="en-IN"/>
          </a:p>
        </p:txBody>
      </p:sp>
    </p:spTree>
    <p:extLst>
      <p:ext uri="{BB962C8B-B14F-4D97-AF65-F5344CB8AC3E}">
        <p14:creationId xmlns:p14="http://schemas.microsoft.com/office/powerpoint/2010/main" val="2313933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FDFA3-BFF3-37C9-8AF5-8B1334C5FE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AB7F2B-856F-29B8-58E6-AB6B5CFC08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47B5A29-865F-1400-73BA-7F4D308E5CC8}"/>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5" name="Footer Placeholder 4">
            <a:extLst>
              <a:ext uri="{FF2B5EF4-FFF2-40B4-BE49-F238E27FC236}">
                <a16:creationId xmlns:a16="http://schemas.microsoft.com/office/drawing/2014/main" id="{D8F554CC-4F3C-E871-6934-CB67EA112A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50E798-09FA-D515-5BAD-C5A3CDF4B4F3}"/>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68081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7B6A-F826-87F5-AF5B-E86F274CC0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D28870-9228-8523-B537-ACCE0AEDBE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AEA963-3570-7438-FDF0-4B4171F5DA8C}"/>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5" name="Footer Placeholder 4">
            <a:extLst>
              <a:ext uri="{FF2B5EF4-FFF2-40B4-BE49-F238E27FC236}">
                <a16:creationId xmlns:a16="http://schemas.microsoft.com/office/drawing/2014/main" id="{8C4D0D89-64B1-D16E-0A7C-D904C6103A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DE6130-744C-AD72-23C1-038948CA6463}"/>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1357378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C4F78-A3D6-D6B5-573A-6CC6AEB507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C2CB7E-797C-BE8D-9837-4E44348204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A5C7F1-A7F0-9B5F-D6C8-3400005C40C4}"/>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5" name="Footer Placeholder 4">
            <a:extLst>
              <a:ext uri="{FF2B5EF4-FFF2-40B4-BE49-F238E27FC236}">
                <a16:creationId xmlns:a16="http://schemas.microsoft.com/office/drawing/2014/main" id="{B2A0602A-267A-95AC-BFE5-E135F08897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57AB51-7462-9827-FD2D-303ED4962D82}"/>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184950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7A8A-90CE-EEE5-B8A2-AF51BE0350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5A625A-D597-D0CC-F53C-01311AD76E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F5566CA-668B-7683-C391-CDBAEDED32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9CA517-0B2F-948B-3858-B6868E22F8F5}"/>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6" name="Footer Placeholder 5">
            <a:extLst>
              <a:ext uri="{FF2B5EF4-FFF2-40B4-BE49-F238E27FC236}">
                <a16:creationId xmlns:a16="http://schemas.microsoft.com/office/drawing/2014/main" id="{FB4B0B08-F210-05E2-0E51-8CFE1637CD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D4BE08-A92D-D458-EDD8-B12B659E6931}"/>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2088948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58104-BEF1-22F0-A23E-BC717A4425C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49F942-8A80-E676-FA65-FE1326A3FF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0D7B12-E003-00B3-FCE9-7EE80C5E2D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899129-F7D6-F902-5B23-EF9E701E0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A0F99D-7273-B3A2-8FE2-CADDC04E76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59214D-3145-6ACA-16AD-ED374D64941C}"/>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8" name="Footer Placeholder 7">
            <a:extLst>
              <a:ext uri="{FF2B5EF4-FFF2-40B4-BE49-F238E27FC236}">
                <a16:creationId xmlns:a16="http://schemas.microsoft.com/office/drawing/2014/main" id="{F1356AA7-1A9E-48BC-2D31-6308DA8A01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FB7624-8F10-7614-EB0B-357766D9AD7C}"/>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1268633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97AC4-0C10-8ACB-76D0-85D4F98B9A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304DA0-34AC-836A-041E-49C7ED4CEF5A}"/>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4" name="Footer Placeholder 3">
            <a:extLst>
              <a:ext uri="{FF2B5EF4-FFF2-40B4-BE49-F238E27FC236}">
                <a16:creationId xmlns:a16="http://schemas.microsoft.com/office/drawing/2014/main" id="{FE333422-E90D-F625-F757-6B7DF6947A3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4AACB4E-F342-0779-D655-407F98F8D802}"/>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1204835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DDF9A7-A763-E194-BC5F-A2B93101C151}"/>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3" name="Footer Placeholder 2">
            <a:extLst>
              <a:ext uri="{FF2B5EF4-FFF2-40B4-BE49-F238E27FC236}">
                <a16:creationId xmlns:a16="http://schemas.microsoft.com/office/drawing/2014/main" id="{F27B9A89-8D19-D257-5292-DDF7F81E283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F0206C-D5B2-EF41-E9B3-E4C20FE3562C}"/>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1974261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FD038-39EF-89B1-7218-AE55156CE8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A41BED-0A0E-F7E9-261F-E9816592A7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A416116-F841-0228-5CAE-79DA0ED7FC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A9AF64-C86D-1195-9B43-BC2FF9D9A238}"/>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6" name="Footer Placeholder 5">
            <a:extLst>
              <a:ext uri="{FF2B5EF4-FFF2-40B4-BE49-F238E27FC236}">
                <a16:creationId xmlns:a16="http://schemas.microsoft.com/office/drawing/2014/main" id="{2A48AE3C-7D45-3743-4924-BFE9257DDC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6DA767-AAC1-C98F-C2C0-5C12D5165FA8}"/>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4163097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8B5DA-93FA-BEC7-3E63-EFC76978AB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8564F9-AB0E-E1FA-E56D-94ED2D52EA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1C0A95-2A71-00A3-8BCC-BB4E0129E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F15B7F-CFC9-D0DE-29C6-90830DE7ABE4}"/>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6" name="Footer Placeholder 5">
            <a:extLst>
              <a:ext uri="{FF2B5EF4-FFF2-40B4-BE49-F238E27FC236}">
                <a16:creationId xmlns:a16="http://schemas.microsoft.com/office/drawing/2014/main" id="{20CDC6F7-D0DE-0728-1049-09EA1A545D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C0579F-9D36-3D31-552C-E3FD1EB7C4B6}"/>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101984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CF381-1098-9DA7-58FF-917ADA4328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E43624-B1DA-71D6-B746-2A9DE8F6BF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0BB0A6-2684-546B-7090-C3C552CA8EEB}"/>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5" name="Footer Placeholder 4">
            <a:extLst>
              <a:ext uri="{FF2B5EF4-FFF2-40B4-BE49-F238E27FC236}">
                <a16:creationId xmlns:a16="http://schemas.microsoft.com/office/drawing/2014/main" id="{C35BE7EF-36F9-EC33-E7E4-7861A1CEA8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6846A-1313-CF61-DD42-CAAF48968FCF}"/>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3510630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75D4B1-19ED-4F3E-25E9-AF7E45A6AB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CA3C77-12D5-C500-CBBC-3F5E05A9E7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09BB15-38E9-9859-4F77-0FA6837D7715}"/>
              </a:ext>
            </a:extLst>
          </p:cNvPr>
          <p:cNvSpPr>
            <a:spLocks noGrp="1"/>
          </p:cNvSpPr>
          <p:nvPr>
            <p:ph type="dt" sz="half" idx="10"/>
          </p:nvPr>
        </p:nvSpPr>
        <p:spPr/>
        <p:txBody>
          <a:bodyPr/>
          <a:lstStyle/>
          <a:p>
            <a:fld id="{EA1C5DE0-332F-4C2A-948B-601D49184A84}" type="datetimeFigureOut">
              <a:rPr lang="en-IN" smtClean="0"/>
              <a:t>19-05-2026</a:t>
            </a:fld>
            <a:endParaRPr lang="en-IN"/>
          </a:p>
        </p:txBody>
      </p:sp>
      <p:sp>
        <p:nvSpPr>
          <p:cNvPr id="5" name="Footer Placeholder 4">
            <a:extLst>
              <a:ext uri="{FF2B5EF4-FFF2-40B4-BE49-F238E27FC236}">
                <a16:creationId xmlns:a16="http://schemas.microsoft.com/office/drawing/2014/main" id="{BA2ADACF-D9BA-6DDA-362C-66598ADE56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1CBA4B-B822-EC5B-14CF-A6C5D34E6227}"/>
              </a:ext>
            </a:extLst>
          </p:cNvPr>
          <p:cNvSpPr>
            <a:spLocks noGrp="1"/>
          </p:cNvSpPr>
          <p:nvPr>
            <p:ph type="sldNum" sz="quarter" idx="12"/>
          </p:nvPr>
        </p:nvSpPr>
        <p:spPr/>
        <p:txBody>
          <a:bodyPr/>
          <a:lstStyle/>
          <a:p>
            <a:fld id="{F737F4A2-6B83-44E0-95F2-ABD01BAA03AD}" type="slidenum">
              <a:rPr lang="en-IN" smtClean="0"/>
              <a:t>‹#›</a:t>
            </a:fld>
            <a:endParaRPr lang="en-IN"/>
          </a:p>
        </p:txBody>
      </p:sp>
    </p:spTree>
    <p:extLst>
      <p:ext uri="{BB962C8B-B14F-4D97-AF65-F5344CB8AC3E}">
        <p14:creationId xmlns:p14="http://schemas.microsoft.com/office/powerpoint/2010/main" val="2242296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3821D6-A0F0-FF75-1939-7BD5D50009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37B18C-B353-6E26-A437-CD81B087A4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B55A55-AB66-B9A6-2DF3-18D48C77F4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1C5DE0-332F-4C2A-948B-601D49184A84}" type="datetimeFigureOut">
              <a:rPr lang="en-IN" smtClean="0"/>
              <a:t>19-05-2026</a:t>
            </a:fld>
            <a:endParaRPr lang="en-IN"/>
          </a:p>
        </p:txBody>
      </p:sp>
      <p:sp>
        <p:nvSpPr>
          <p:cNvPr id="5" name="Footer Placeholder 4">
            <a:extLst>
              <a:ext uri="{FF2B5EF4-FFF2-40B4-BE49-F238E27FC236}">
                <a16:creationId xmlns:a16="http://schemas.microsoft.com/office/drawing/2014/main" id="{EDBE00CB-132F-B58B-D44E-592ABEEE2E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907C26-BDC9-1AF0-0603-88D86C04B3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37F4A2-6B83-44E0-95F2-ABD01BAA03AD}" type="slidenum">
              <a:rPr lang="en-IN" smtClean="0"/>
              <a:t>‹#›</a:t>
            </a:fld>
            <a:endParaRPr lang="en-IN"/>
          </a:p>
        </p:txBody>
      </p:sp>
    </p:spTree>
    <p:extLst>
      <p:ext uri="{BB962C8B-B14F-4D97-AF65-F5344CB8AC3E}">
        <p14:creationId xmlns:p14="http://schemas.microsoft.com/office/powerpoint/2010/main" val="1219564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2.jpe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038/s41598%20025-15591-8" TargetMode="External"/><Relationship Id="rId2" Type="http://schemas.openxmlformats.org/officeDocument/2006/relationships/hyperlink" Target="https://doi.org/10.1186/s13638-026-02576-y" TargetMode="External"/><Relationship Id="rId1" Type="http://schemas.openxmlformats.org/officeDocument/2006/relationships/slideLayout" Target="../slideLayouts/slideLayout2.xml"/><Relationship Id="rId5" Type="http://schemas.openxmlformats.org/officeDocument/2006/relationships/hyperlink" Target="https://doi.org/10.1016/j.sciaf.2025.e02566" TargetMode="External"/><Relationship Id="rId4" Type="http://schemas.openxmlformats.org/officeDocument/2006/relationships/hyperlink" Target="https://doi.org/10.3390/telecom6010003"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jmeditec.utm.my/" TargetMode="External"/><Relationship Id="rId2" Type="http://schemas.openxmlformats.org/officeDocument/2006/relationships/hyperlink" Target="https://doi.org/10.1016/j.heliyon.2024.e40627" TargetMode="External"/><Relationship Id="rId1" Type="http://schemas.openxmlformats.org/officeDocument/2006/relationships/slideLayout" Target="../slideLayouts/slideLayout6.xml"/><Relationship Id="rId4" Type="http://schemas.openxmlformats.org/officeDocument/2006/relationships/hyperlink" Target="https://doi.org/10.3390/electronics13122251"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doi.org/10.1109/LAWP.2023.3281395" TargetMode="External"/><Relationship Id="rId2" Type="http://schemas.openxmlformats.org/officeDocument/2006/relationships/hyperlink" Target="https://doi.org/10.1038/s41598-023-46400-9" TargetMode="External"/><Relationship Id="rId1" Type="http://schemas.openxmlformats.org/officeDocument/2006/relationships/slideLayout" Target="../slideLayouts/slideLayout6.xml"/><Relationship Id="rId5" Type="http://schemas.openxmlformats.org/officeDocument/2006/relationships/hyperlink" Target="https://doi.org/10.1038/s41598-023-34917-y" TargetMode="External"/><Relationship Id="rId4" Type="http://schemas.openxmlformats.org/officeDocument/2006/relationships/hyperlink" Target="https://doi.org/10.1038/s41598-023-36335-6"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doi.org/10.1109/ACCESS.2023.3262290" TargetMode="External"/><Relationship Id="rId2" Type="http://schemas.openxmlformats.org/officeDocument/2006/relationships/hyperlink" Target="https://doi.org/10.1038/s41598-023-34394-3" TargetMode="External"/><Relationship Id="rId1" Type="http://schemas.openxmlformats.org/officeDocument/2006/relationships/slideLayout" Target="../slideLayouts/slideLayout6.xml"/><Relationship Id="rId5" Type="http://schemas.openxmlformats.org/officeDocument/2006/relationships/hyperlink" Target="https://doi.org/10.26866/jees.2023.2.r.159" TargetMode="External"/><Relationship Id="rId4" Type="http://schemas.openxmlformats.org/officeDocument/2006/relationships/hyperlink" Target="https://doi.org/10.3390/mi14030591"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doi.org/10.18178/ijeetc.11.5.356-362" TargetMode="External"/><Relationship Id="rId2" Type="http://schemas.openxmlformats.org/officeDocument/2006/relationships/hyperlink" Target="https://doi.org/10.1017/S1759078722001283" TargetMode="External"/><Relationship Id="rId1" Type="http://schemas.openxmlformats.org/officeDocument/2006/relationships/slideLayout" Target="../slideLayouts/slideLayout6.xml"/><Relationship Id="rId5" Type="http://schemas.openxmlformats.org/officeDocument/2006/relationships/hyperlink" Target="https://doi.org/10.1109/ACCESS.2022.3161564" TargetMode="External"/><Relationship Id="rId4" Type="http://schemas.openxmlformats.org/officeDocument/2006/relationships/hyperlink" Target="https://doi.org/10.17762/ijritcc.v10i6.5626"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D08F4-D86C-0498-E533-7F4DE50548D2}"/>
              </a:ext>
            </a:extLst>
          </p:cNvPr>
          <p:cNvSpPr>
            <a:spLocks noGrp="1"/>
          </p:cNvSpPr>
          <p:nvPr>
            <p:ph type="ctrTitle"/>
          </p:nvPr>
        </p:nvSpPr>
        <p:spPr>
          <a:xfrm>
            <a:off x="125690" y="1762788"/>
            <a:ext cx="11940620" cy="1177352"/>
          </a:xfrm>
        </p:spPr>
        <p:txBody>
          <a:bodyPr>
            <a:normAutofit/>
          </a:bodyPr>
          <a:lstStyle/>
          <a:p>
            <a:r>
              <a:rPr lang="en-IN" sz="3600" b="1" dirty="0"/>
              <a:t>Reduced specific absorption rate compact flexible monopole antenna system for wearable wireless communication</a:t>
            </a:r>
          </a:p>
        </p:txBody>
      </p:sp>
      <p:sp>
        <p:nvSpPr>
          <p:cNvPr id="3" name="Subtitle 2">
            <a:extLst>
              <a:ext uri="{FF2B5EF4-FFF2-40B4-BE49-F238E27FC236}">
                <a16:creationId xmlns:a16="http://schemas.microsoft.com/office/drawing/2014/main" id="{72D3A713-0136-B1C5-E8D4-1CC7E6BBDF6D}"/>
              </a:ext>
            </a:extLst>
          </p:cNvPr>
          <p:cNvSpPr>
            <a:spLocks noGrp="1"/>
          </p:cNvSpPr>
          <p:nvPr>
            <p:ph type="subTitle" idx="1"/>
          </p:nvPr>
        </p:nvSpPr>
        <p:spPr>
          <a:xfrm>
            <a:off x="399067" y="4823533"/>
            <a:ext cx="2400694" cy="702322"/>
          </a:xfrm>
        </p:spPr>
        <p:txBody>
          <a:bodyPr>
            <a:normAutofit/>
          </a:bodyPr>
          <a:lstStyle/>
          <a:p>
            <a:pPr marL="12700">
              <a:lnSpc>
                <a:spcPct val="100000"/>
              </a:lnSpc>
              <a:spcBef>
                <a:spcPts val="105"/>
              </a:spcBef>
            </a:pPr>
            <a:r>
              <a:rPr lang="en-US" sz="1600" dirty="0">
                <a:latin typeface="Times New Roman"/>
                <a:cs typeface="Times New Roman"/>
              </a:rPr>
              <a:t>Under</a:t>
            </a:r>
            <a:r>
              <a:rPr lang="en-US" sz="1600" spc="-55" dirty="0">
                <a:latin typeface="Times New Roman"/>
                <a:cs typeface="Times New Roman"/>
              </a:rPr>
              <a:t> </a:t>
            </a:r>
            <a:r>
              <a:rPr lang="en-US" sz="1600" dirty="0">
                <a:latin typeface="Times New Roman"/>
                <a:cs typeface="Times New Roman"/>
              </a:rPr>
              <a:t>the</a:t>
            </a:r>
            <a:r>
              <a:rPr lang="en-US" sz="1600" spc="-40" dirty="0">
                <a:latin typeface="Times New Roman"/>
                <a:cs typeface="Times New Roman"/>
              </a:rPr>
              <a:t> </a:t>
            </a:r>
            <a:r>
              <a:rPr lang="en-US" sz="1600" dirty="0">
                <a:latin typeface="Times New Roman"/>
                <a:cs typeface="Times New Roman"/>
              </a:rPr>
              <a:t>guidance</a:t>
            </a:r>
            <a:r>
              <a:rPr lang="en-US" sz="1600" spc="-55" dirty="0">
                <a:latin typeface="Times New Roman"/>
                <a:cs typeface="Times New Roman"/>
              </a:rPr>
              <a:t> </a:t>
            </a:r>
            <a:r>
              <a:rPr lang="en-US" sz="1600" spc="-25" dirty="0">
                <a:latin typeface="Times New Roman"/>
                <a:cs typeface="Times New Roman"/>
              </a:rPr>
              <a:t>of</a:t>
            </a:r>
            <a:endParaRPr lang="en-US" sz="1600" dirty="0">
              <a:latin typeface="Times New Roman"/>
              <a:cs typeface="Times New Roman"/>
            </a:endParaRPr>
          </a:p>
          <a:p>
            <a:pPr>
              <a:lnSpc>
                <a:spcPct val="100000"/>
              </a:lnSpc>
              <a:spcBef>
                <a:spcPts val="70"/>
              </a:spcBef>
            </a:pPr>
            <a:r>
              <a:rPr lang="en-US" sz="1600" b="1" dirty="0">
                <a:latin typeface="Times New Roman"/>
                <a:cs typeface="Times New Roman"/>
              </a:rPr>
              <a:t>Ms. R. Tejaswini</a:t>
            </a:r>
          </a:p>
        </p:txBody>
      </p:sp>
      <p:pic>
        <p:nvPicPr>
          <p:cNvPr id="4" name="object 3">
            <a:extLst>
              <a:ext uri="{FF2B5EF4-FFF2-40B4-BE49-F238E27FC236}">
                <a16:creationId xmlns:a16="http://schemas.microsoft.com/office/drawing/2014/main" id="{DB660199-CAA2-E17D-EFB8-E5B99D5980F4}"/>
              </a:ext>
            </a:extLst>
          </p:cNvPr>
          <p:cNvPicPr/>
          <p:nvPr/>
        </p:nvPicPr>
        <p:blipFill>
          <a:blip r:embed="rId2" cstate="print"/>
          <a:stretch>
            <a:fillRect/>
          </a:stretch>
        </p:blipFill>
        <p:spPr>
          <a:xfrm>
            <a:off x="862552" y="313793"/>
            <a:ext cx="10058400" cy="1072895"/>
          </a:xfrm>
          <a:prstGeom prst="rect">
            <a:avLst/>
          </a:prstGeom>
        </p:spPr>
      </p:pic>
      <p:graphicFrame>
        <p:nvGraphicFramePr>
          <p:cNvPr id="5" name="Table 4">
            <a:extLst>
              <a:ext uri="{FF2B5EF4-FFF2-40B4-BE49-F238E27FC236}">
                <a16:creationId xmlns:a16="http://schemas.microsoft.com/office/drawing/2014/main" id="{FBC545CB-3DFE-2B11-8834-B179774F5BF0}"/>
              </a:ext>
            </a:extLst>
          </p:cNvPr>
          <p:cNvGraphicFramePr>
            <a:graphicFrameLocks noGrp="1"/>
          </p:cNvGraphicFramePr>
          <p:nvPr>
            <p:extLst>
              <p:ext uri="{D42A27DB-BD31-4B8C-83A1-F6EECF244321}">
                <p14:modId xmlns:p14="http://schemas.microsoft.com/office/powerpoint/2010/main" val="1350804556"/>
              </p:ext>
            </p:extLst>
          </p:nvPr>
        </p:nvGraphicFramePr>
        <p:xfrm>
          <a:off x="6109615" y="4711407"/>
          <a:ext cx="5782821" cy="1483360"/>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1629483901"/>
                    </a:ext>
                  </a:extLst>
                </a:gridCol>
                <a:gridCol w="1718821">
                  <a:extLst>
                    <a:ext uri="{9D8B030D-6E8A-4147-A177-3AD203B41FA5}">
                      <a16:colId xmlns:a16="http://schemas.microsoft.com/office/drawing/2014/main" val="2965185802"/>
                    </a:ext>
                  </a:extLst>
                </a:gridCol>
              </a:tblGrid>
              <a:tr h="370840">
                <a:tc>
                  <a:txBody>
                    <a:bodyPr/>
                    <a:lstStyle/>
                    <a:p>
                      <a:r>
                        <a:rPr lang="en-IN" b="0" dirty="0"/>
                        <a:t>N Hema Anantha Durga Vara Prasad</a:t>
                      </a:r>
                    </a:p>
                  </a:txBody>
                  <a:tcPr/>
                </a:tc>
                <a:tc>
                  <a:txBody>
                    <a:bodyPr/>
                    <a:lstStyle/>
                    <a:p>
                      <a:r>
                        <a:rPr lang="en-IN" b="0" dirty="0"/>
                        <a:t>322103312136</a:t>
                      </a:r>
                    </a:p>
                  </a:txBody>
                  <a:tcPr/>
                </a:tc>
                <a:extLst>
                  <a:ext uri="{0D108BD9-81ED-4DB2-BD59-A6C34878D82A}">
                    <a16:rowId xmlns:a16="http://schemas.microsoft.com/office/drawing/2014/main" val="2853259067"/>
                  </a:ext>
                </a:extLst>
              </a:tr>
              <a:tr h="370840">
                <a:tc>
                  <a:txBody>
                    <a:bodyPr/>
                    <a:lstStyle/>
                    <a:p>
                      <a:r>
                        <a:rPr lang="en-IN" dirty="0"/>
                        <a:t>N P Harshavardhan</a:t>
                      </a:r>
                    </a:p>
                  </a:txBody>
                  <a:tcPr/>
                </a:tc>
                <a:tc>
                  <a:txBody>
                    <a:bodyPr/>
                    <a:lstStyle/>
                    <a:p>
                      <a:r>
                        <a:rPr lang="en-IN" dirty="0"/>
                        <a:t>322103312135</a:t>
                      </a:r>
                    </a:p>
                  </a:txBody>
                  <a:tcPr/>
                </a:tc>
                <a:extLst>
                  <a:ext uri="{0D108BD9-81ED-4DB2-BD59-A6C34878D82A}">
                    <a16:rowId xmlns:a16="http://schemas.microsoft.com/office/drawing/2014/main" val="2107350954"/>
                  </a:ext>
                </a:extLst>
              </a:tr>
              <a:tr h="370840">
                <a:tc>
                  <a:txBody>
                    <a:bodyPr/>
                    <a:lstStyle/>
                    <a:p>
                      <a:r>
                        <a:rPr lang="en-IN" dirty="0"/>
                        <a:t>P Satya Sathvik</a:t>
                      </a:r>
                    </a:p>
                  </a:txBody>
                  <a:tcPr/>
                </a:tc>
                <a:tc>
                  <a:txBody>
                    <a:bodyPr/>
                    <a:lstStyle/>
                    <a:p>
                      <a:r>
                        <a:rPr lang="en-IN" dirty="0"/>
                        <a:t>322103312167</a:t>
                      </a:r>
                    </a:p>
                  </a:txBody>
                  <a:tcPr/>
                </a:tc>
                <a:extLst>
                  <a:ext uri="{0D108BD9-81ED-4DB2-BD59-A6C34878D82A}">
                    <a16:rowId xmlns:a16="http://schemas.microsoft.com/office/drawing/2014/main" val="721081819"/>
                  </a:ext>
                </a:extLst>
              </a:tr>
              <a:tr h="370840">
                <a:tc>
                  <a:txBody>
                    <a:bodyPr/>
                    <a:lstStyle/>
                    <a:p>
                      <a:r>
                        <a:rPr lang="en-IN" dirty="0"/>
                        <a:t>P Akhil Rahul</a:t>
                      </a:r>
                    </a:p>
                  </a:txBody>
                  <a:tcPr/>
                </a:tc>
                <a:tc>
                  <a:txBody>
                    <a:bodyPr/>
                    <a:lstStyle/>
                    <a:p>
                      <a:r>
                        <a:rPr lang="en-IN" dirty="0"/>
                        <a:t>322103312146</a:t>
                      </a:r>
                    </a:p>
                  </a:txBody>
                  <a:tcPr/>
                </a:tc>
                <a:extLst>
                  <a:ext uri="{0D108BD9-81ED-4DB2-BD59-A6C34878D82A}">
                    <a16:rowId xmlns:a16="http://schemas.microsoft.com/office/drawing/2014/main" val="2842218498"/>
                  </a:ext>
                </a:extLst>
              </a:tr>
            </a:tbl>
          </a:graphicData>
        </a:graphic>
      </p:graphicFrame>
      <p:sp>
        <p:nvSpPr>
          <p:cNvPr id="6" name="Subtitle 2">
            <a:extLst>
              <a:ext uri="{FF2B5EF4-FFF2-40B4-BE49-F238E27FC236}">
                <a16:creationId xmlns:a16="http://schemas.microsoft.com/office/drawing/2014/main" id="{5EF76C8F-319E-5837-F5E2-C679CDD24601}"/>
              </a:ext>
            </a:extLst>
          </p:cNvPr>
          <p:cNvSpPr txBox="1">
            <a:spLocks/>
          </p:cNvSpPr>
          <p:nvPr/>
        </p:nvSpPr>
        <p:spPr>
          <a:xfrm>
            <a:off x="7960934" y="4272090"/>
            <a:ext cx="2400694" cy="35552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nSpc>
                <a:spcPct val="100000"/>
              </a:lnSpc>
              <a:spcBef>
                <a:spcPts val="105"/>
              </a:spcBef>
            </a:pPr>
            <a:r>
              <a:rPr lang="en-US" sz="1600" b="1" dirty="0">
                <a:latin typeface="Times New Roman"/>
                <a:cs typeface="Times New Roman"/>
              </a:rPr>
              <a:t>Submitted by:</a:t>
            </a:r>
          </a:p>
        </p:txBody>
      </p:sp>
      <p:sp>
        <p:nvSpPr>
          <p:cNvPr id="7" name="Subtitle 2">
            <a:extLst>
              <a:ext uri="{FF2B5EF4-FFF2-40B4-BE49-F238E27FC236}">
                <a16:creationId xmlns:a16="http://schemas.microsoft.com/office/drawing/2014/main" id="{78EA128D-1D07-7E7D-1D73-8EDCA8E0F7BF}"/>
              </a:ext>
            </a:extLst>
          </p:cNvPr>
          <p:cNvSpPr txBox="1">
            <a:spLocks/>
          </p:cNvSpPr>
          <p:nvPr/>
        </p:nvSpPr>
        <p:spPr>
          <a:xfrm>
            <a:off x="2727224" y="2985536"/>
            <a:ext cx="6737551" cy="80184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nSpc>
                <a:spcPct val="100000"/>
              </a:lnSpc>
              <a:spcBef>
                <a:spcPts val="105"/>
              </a:spcBef>
            </a:pPr>
            <a:r>
              <a:rPr lang="en-US" sz="2000" b="1" dirty="0">
                <a:latin typeface="Times New Roman"/>
                <a:cs typeface="Times New Roman"/>
              </a:rPr>
              <a:t>Department of Electronics and Communication Engineering</a:t>
            </a:r>
          </a:p>
        </p:txBody>
      </p:sp>
    </p:spTree>
    <p:extLst>
      <p:ext uri="{BB962C8B-B14F-4D97-AF65-F5344CB8AC3E}">
        <p14:creationId xmlns:p14="http://schemas.microsoft.com/office/powerpoint/2010/main" val="1796148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1A56A-AAB9-041D-98AF-9EE97AECE653}"/>
              </a:ext>
            </a:extLst>
          </p:cNvPr>
          <p:cNvSpPr>
            <a:spLocks noGrp="1"/>
          </p:cNvSpPr>
          <p:nvPr>
            <p:ph type="title"/>
          </p:nvPr>
        </p:nvSpPr>
        <p:spPr/>
        <p:txBody>
          <a:bodyPr/>
          <a:lstStyle/>
          <a:p>
            <a:r>
              <a:rPr lang="en-IN" b="1" u="sng" dirty="0">
                <a:solidFill>
                  <a:srgbClr val="FF0000"/>
                </a:solidFill>
              </a:rPr>
              <a:t>Contents</a:t>
            </a:r>
          </a:p>
        </p:txBody>
      </p:sp>
      <p:sp>
        <p:nvSpPr>
          <p:cNvPr id="4" name="Content Placeholder 3">
            <a:extLst>
              <a:ext uri="{FF2B5EF4-FFF2-40B4-BE49-F238E27FC236}">
                <a16:creationId xmlns:a16="http://schemas.microsoft.com/office/drawing/2014/main" id="{E478E082-4404-B5E6-2223-5B84CB97B6DC}"/>
              </a:ext>
            </a:extLst>
          </p:cNvPr>
          <p:cNvSpPr>
            <a:spLocks noGrp="1"/>
          </p:cNvSpPr>
          <p:nvPr>
            <p:ph idx="1"/>
          </p:nvPr>
        </p:nvSpPr>
        <p:spPr/>
        <p:txBody>
          <a:bodyPr>
            <a:normAutofit fontScale="9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Objectives</a:t>
            </a:r>
          </a:p>
          <a:p>
            <a:pPr marL="514350" indent="-514350">
              <a:buFont typeface="+mj-lt"/>
              <a:buAutoNum type="arabicPeriod"/>
            </a:pPr>
            <a:r>
              <a:rPr lang="en-IN" dirty="0"/>
              <a:t>Literature Survey</a:t>
            </a:r>
          </a:p>
          <a:p>
            <a:pPr marL="514350" indent="-514350">
              <a:buFont typeface="+mj-lt"/>
              <a:buAutoNum type="arabicPeriod"/>
            </a:pPr>
            <a:r>
              <a:rPr lang="en-IN" dirty="0"/>
              <a:t>Software Used</a:t>
            </a:r>
          </a:p>
          <a:p>
            <a:pPr marL="514350" indent="-514350">
              <a:buFont typeface="+mj-lt"/>
              <a:buAutoNum type="arabicPeriod"/>
            </a:pPr>
            <a:r>
              <a:rPr lang="en-IN" dirty="0"/>
              <a:t>Proposed Design</a:t>
            </a:r>
          </a:p>
          <a:p>
            <a:pPr marL="514350" indent="-514350">
              <a:buFont typeface="+mj-lt"/>
              <a:buAutoNum type="arabicPeriod"/>
            </a:pPr>
            <a:r>
              <a:rPr lang="en-IN" dirty="0"/>
              <a:t>Radiation Patterns</a:t>
            </a:r>
          </a:p>
          <a:p>
            <a:pPr marL="514350" indent="-514350">
              <a:buFont typeface="+mj-lt"/>
              <a:buAutoNum type="arabicPeriod"/>
            </a:pPr>
            <a:r>
              <a:rPr lang="en-IN" dirty="0"/>
              <a:t>Future scope</a:t>
            </a:r>
          </a:p>
          <a:p>
            <a:pPr marL="514350" indent="-514350">
              <a:buFont typeface="+mj-lt"/>
              <a:buAutoNum type="arabicPeriod"/>
            </a:pPr>
            <a:r>
              <a:rPr lang="en-IN" dirty="0"/>
              <a:t>Results &amp; Conclusion</a:t>
            </a:r>
          </a:p>
          <a:p>
            <a:pPr marL="514350" indent="-514350">
              <a:buFont typeface="+mj-lt"/>
              <a:buAutoNum type="arabicPeriod"/>
            </a:pPr>
            <a:r>
              <a:rPr lang="en-IN" dirty="0"/>
              <a:t>Comparison Table</a:t>
            </a:r>
          </a:p>
          <a:p>
            <a:pPr marL="514350" indent="-514350">
              <a:buFont typeface="+mj-lt"/>
              <a:buAutoNum type="arabicPeriod"/>
            </a:pPr>
            <a:r>
              <a:rPr lang="en-IN" dirty="0"/>
              <a:t>References</a:t>
            </a:r>
          </a:p>
          <a:p>
            <a:pPr marL="0" indent="0">
              <a:buNone/>
            </a:pPr>
            <a:endParaRPr lang="en-IN" dirty="0"/>
          </a:p>
          <a:p>
            <a:pPr marL="514350" indent="-514350">
              <a:buFont typeface="+mj-lt"/>
              <a:buAutoNum type="arabicPeriod"/>
            </a:pPr>
            <a:endParaRPr lang="en-IN" dirty="0"/>
          </a:p>
        </p:txBody>
      </p:sp>
    </p:spTree>
    <p:extLst>
      <p:ext uri="{BB962C8B-B14F-4D97-AF65-F5344CB8AC3E}">
        <p14:creationId xmlns:p14="http://schemas.microsoft.com/office/powerpoint/2010/main" val="1813181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B1AC2-26C7-8CAD-D8BA-CE78D32524EE}"/>
              </a:ext>
            </a:extLst>
          </p:cNvPr>
          <p:cNvSpPr>
            <a:spLocks noGrp="1"/>
          </p:cNvSpPr>
          <p:nvPr>
            <p:ph type="title"/>
          </p:nvPr>
        </p:nvSpPr>
        <p:spPr/>
        <p:txBody>
          <a:bodyPr/>
          <a:lstStyle/>
          <a:p>
            <a:r>
              <a:rPr lang="en-IN" b="1" u="sng" dirty="0">
                <a:solidFill>
                  <a:srgbClr val="FF0000"/>
                </a:solidFill>
              </a:rPr>
              <a:t>Abstract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6071CC1-33D6-8953-F0AA-CB166826C78C}"/>
                  </a:ext>
                </a:extLst>
              </p:cNvPr>
              <p:cNvSpPr>
                <a:spLocks noGrp="1"/>
              </p:cNvSpPr>
              <p:nvPr>
                <p:ph idx="1"/>
              </p:nvPr>
            </p:nvSpPr>
            <p:spPr/>
            <p:txBody>
              <a:bodyPr>
                <a:normAutofit lnSpcReduction="10000"/>
              </a:bodyPr>
              <a:lstStyle/>
              <a:p>
                <a:pPr marL="0" indent="0" algn="just">
                  <a:lnSpc>
                    <a:spcPct val="100000"/>
                  </a:lnSpc>
                  <a:buNone/>
                </a:pPr>
                <a:r>
                  <a:rPr lang="en-US" sz="2200"/>
                  <a:t>In this project</a:t>
                </a:r>
                <a:r>
                  <a:rPr lang="en-US" sz="2200" dirty="0"/>
                  <a:t>, design and analysis of a flexible antenna backed with </a:t>
                </a:r>
                <a:r>
                  <a:rPr lang="en-US" sz="2200" b="1" dirty="0"/>
                  <a:t>Frequency Selective Surface </a:t>
                </a:r>
                <a:r>
                  <a:rPr lang="en-US" sz="2200" dirty="0"/>
                  <a:t>(FSS) is presented for wireless body area communications. Textile based compact monopole antenna is backed with a modified square loop FSS textile-based superstrate, to improve the wearable antenna's performance in terms of </a:t>
                </a:r>
                <a:r>
                  <a:rPr lang="en-US" sz="2200" b="1" dirty="0"/>
                  <a:t>SAR reduction and gain enhancement</a:t>
                </a:r>
                <a:r>
                  <a:rPr lang="en-US" sz="2200" dirty="0"/>
                  <a:t>. Modified square shaped monopole radiator with a rectangular slit defected ground structure provides the radiation of the </a:t>
                </a:r>
                <a:r>
                  <a:rPr lang="en-US" sz="2200" b="1" dirty="0"/>
                  <a:t>2.45 GHz ISM band</a:t>
                </a:r>
                <a:r>
                  <a:rPr lang="en-US" sz="2200" dirty="0"/>
                  <a:t>. The bending analysis of antenna is also investigated in operating frequency band. The proposed antenna system with the FSS, yields the fractional bandwidth and peak gain with the dimensions of </a:t>
                </a:r>
                <a:r>
                  <a:rPr lang="en-US" sz="2200" b="1" dirty="0"/>
                  <a:t>120 x 120 x 30 </a:t>
                </a:r>
                <a14:m>
                  <m:oMath xmlns:m="http://schemas.openxmlformats.org/officeDocument/2006/math">
                    <m:sSup>
                      <m:sSupPr>
                        <m:ctrlPr>
                          <a:rPr lang="en-US" sz="2200" b="1" i="1" smtClean="0">
                            <a:latin typeface="Cambria Math" panose="02040503050406030204" pitchFamily="18" charset="0"/>
                          </a:rPr>
                        </m:ctrlPr>
                      </m:sSupPr>
                      <m:e>
                        <m:r>
                          <a:rPr lang="en-IN" sz="2200" b="1" i="1" smtClean="0">
                            <a:latin typeface="Cambria Math" panose="02040503050406030204" pitchFamily="18" charset="0"/>
                          </a:rPr>
                          <m:t>𝒎𝒎</m:t>
                        </m:r>
                      </m:e>
                      <m:sup>
                        <m:r>
                          <a:rPr lang="en-IN" sz="2200" b="1" i="1" smtClean="0">
                            <a:latin typeface="Cambria Math" panose="02040503050406030204" pitchFamily="18" charset="0"/>
                          </a:rPr>
                          <m:t>𝟑</m:t>
                        </m:r>
                      </m:sup>
                    </m:sSup>
                  </m:oMath>
                </a14:m>
                <a:r>
                  <a:rPr lang="en-US" sz="2200" dirty="0"/>
                  <a:t>. The inclusion of FSS, reduces the back radiation there by decrease in SAR Level. The reduced SAR value and its stable frequency performance over flexed conditions, ensures that the proposed system is a suitable entrant for wearable applications. The FSS and antenna are made up of denim cloth (Jeans) based textile material which is one of the common wearable material. The proposed monopole antenna is modelled in CST STUDIO SUITE 2024 and designed to operate at 2.45 GHz ISM band.</a:t>
                </a:r>
                <a:endParaRPr lang="en-IN" sz="2200" dirty="0"/>
              </a:p>
            </p:txBody>
          </p:sp>
        </mc:Choice>
        <mc:Fallback>
          <p:sp>
            <p:nvSpPr>
              <p:cNvPr id="3" name="Content Placeholder 2">
                <a:extLst>
                  <a:ext uri="{FF2B5EF4-FFF2-40B4-BE49-F238E27FC236}">
                    <a16:creationId xmlns:a16="http://schemas.microsoft.com/office/drawing/2014/main" id="{36071CC1-33D6-8953-F0AA-CB166826C78C}"/>
                  </a:ext>
                </a:extLst>
              </p:cNvPr>
              <p:cNvSpPr>
                <a:spLocks noGrp="1" noRot="1" noChangeAspect="1" noMove="1" noResize="1" noEditPoints="1" noAdjustHandles="1" noChangeArrowheads="1" noChangeShapeType="1" noTextEdit="1"/>
              </p:cNvSpPr>
              <p:nvPr>
                <p:ph idx="1"/>
              </p:nvPr>
            </p:nvSpPr>
            <p:spPr>
              <a:blipFill>
                <a:blip r:embed="rId2"/>
                <a:stretch>
                  <a:fillRect l="-754" t="-1681" r="-696" b="-2241"/>
                </a:stretch>
              </a:blipFill>
            </p:spPr>
            <p:txBody>
              <a:bodyPr/>
              <a:lstStyle/>
              <a:p>
                <a:r>
                  <a:rPr lang="en-IN">
                    <a:noFill/>
                  </a:rPr>
                  <a:t> </a:t>
                </a:r>
              </a:p>
            </p:txBody>
          </p:sp>
        </mc:Fallback>
      </mc:AlternateContent>
    </p:spTree>
    <p:extLst>
      <p:ext uri="{BB962C8B-B14F-4D97-AF65-F5344CB8AC3E}">
        <p14:creationId xmlns:p14="http://schemas.microsoft.com/office/powerpoint/2010/main" val="3649472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E4BBB-4F41-516C-62C0-E7635A979165}"/>
              </a:ext>
            </a:extLst>
          </p:cNvPr>
          <p:cNvSpPr>
            <a:spLocks noGrp="1"/>
          </p:cNvSpPr>
          <p:nvPr>
            <p:ph type="title"/>
          </p:nvPr>
        </p:nvSpPr>
        <p:spPr>
          <a:xfrm>
            <a:off x="838200" y="374552"/>
            <a:ext cx="10515600" cy="1325563"/>
          </a:xfrm>
        </p:spPr>
        <p:txBody>
          <a:bodyPr/>
          <a:lstStyle/>
          <a:p>
            <a:r>
              <a:rPr lang="en-IN" b="1" u="sng" dirty="0">
                <a:solidFill>
                  <a:srgbClr val="FF0000"/>
                </a:solidFill>
              </a:rPr>
              <a:t>Objectives</a:t>
            </a:r>
          </a:p>
        </p:txBody>
      </p:sp>
      <p:sp>
        <p:nvSpPr>
          <p:cNvPr id="3" name="Content Placeholder 2">
            <a:extLst>
              <a:ext uri="{FF2B5EF4-FFF2-40B4-BE49-F238E27FC236}">
                <a16:creationId xmlns:a16="http://schemas.microsoft.com/office/drawing/2014/main" id="{1E24DEAF-E7AC-C366-C8D3-7789D00400D8}"/>
              </a:ext>
            </a:extLst>
          </p:cNvPr>
          <p:cNvSpPr>
            <a:spLocks noGrp="1"/>
          </p:cNvSpPr>
          <p:nvPr>
            <p:ph idx="1"/>
          </p:nvPr>
        </p:nvSpPr>
        <p:spPr>
          <a:xfrm>
            <a:off x="838200" y="2287539"/>
            <a:ext cx="10515600" cy="4351338"/>
          </a:xfrm>
        </p:spPr>
        <p:txBody>
          <a:bodyPr/>
          <a:lstStyle/>
          <a:p>
            <a:r>
              <a:rPr lang="en-US" dirty="0"/>
              <a:t>To design a </a:t>
            </a:r>
            <a:r>
              <a:rPr lang="en-US" b="1" dirty="0"/>
              <a:t>compact, flexible textile-based monopole antenna</a:t>
            </a:r>
            <a:r>
              <a:rPr lang="en-US" dirty="0"/>
              <a:t> operating at the 2.45 GHz ISM band for wearable WBAN applications </a:t>
            </a:r>
          </a:p>
          <a:p>
            <a:pPr marL="0" indent="0">
              <a:buNone/>
            </a:pPr>
            <a:endParaRPr lang="en-US" dirty="0"/>
          </a:p>
          <a:p>
            <a:pPr algn="just"/>
            <a:r>
              <a:rPr lang="en-US" dirty="0"/>
              <a:t>To </a:t>
            </a:r>
            <a:r>
              <a:rPr lang="en-US" b="1" dirty="0"/>
              <a:t>reduce Specific Absorption Rate (SAR)</a:t>
            </a:r>
            <a:r>
              <a:rPr lang="en-US" dirty="0"/>
              <a:t> significantly when the antenna is placed close to the human body by integrating a Frequency Selective Surface (FSS) reflector</a:t>
            </a:r>
          </a:p>
        </p:txBody>
      </p:sp>
    </p:spTree>
    <p:extLst>
      <p:ext uri="{BB962C8B-B14F-4D97-AF65-F5344CB8AC3E}">
        <p14:creationId xmlns:p14="http://schemas.microsoft.com/office/powerpoint/2010/main" val="315501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247E4-7BDA-C02C-C985-00588180B9C4}"/>
              </a:ext>
            </a:extLst>
          </p:cNvPr>
          <p:cNvSpPr>
            <a:spLocks noGrp="1"/>
          </p:cNvSpPr>
          <p:nvPr>
            <p:ph type="title"/>
          </p:nvPr>
        </p:nvSpPr>
        <p:spPr>
          <a:xfrm>
            <a:off x="838200" y="148308"/>
            <a:ext cx="10515600" cy="1325563"/>
          </a:xfrm>
        </p:spPr>
        <p:txBody>
          <a:bodyPr/>
          <a:lstStyle/>
          <a:p>
            <a:r>
              <a:rPr lang="en-IN" b="1" u="sng" dirty="0">
                <a:solidFill>
                  <a:srgbClr val="FF0000"/>
                </a:solidFill>
              </a:rPr>
              <a:t>Literature Survey</a:t>
            </a:r>
          </a:p>
        </p:txBody>
      </p:sp>
      <p:graphicFrame>
        <p:nvGraphicFramePr>
          <p:cNvPr id="4" name="Content Placeholder 3">
            <a:extLst>
              <a:ext uri="{FF2B5EF4-FFF2-40B4-BE49-F238E27FC236}">
                <a16:creationId xmlns:a16="http://schemas.microsoft.com/office/drawing/2014/main" id="{A29D6C71-48BC-60E8-C356-54B03B005CD4}"/>
              </a:ext>
            </a:extLst>
          </p:cNvPr>
          <p:cNvGraphicFramePr>
            <a:graphicFrameLocks noGrp="1"/>
          </p:cNvGraphicFramePr>
          <p:nvPr>
            <p:ph idx="1"/>
            <p:extLst>
              <p:ext uri="{D42A27DB-BD31-4B8C-83A1-F6EECF244321}">
                <p14:modId xmlns:p14="http://schemas.microsoft.com/office/powerpoint/2010/main" val="67848985"/>
              </p:ext>
            </p:extLst>
          </p:nvPr>
        </p:nvGraphicFramePr>
        <p:xfrm>
          <a:off x="705438" y="1391992"/>
          <a:ext cx="10964706" cy="5008807"/>
        </p:xfrm>
        <a:graphic>
          <a:graphicData uri="http://schemas.openxmlformats.org/drawingml/2006/table">
            <a:tbl>
              <a:tblPr firstRow="1" bandRow="1">
                <a:tableStyleId>{E8B1032C-EA38-4F05-BA0D-38AFFFC7BED3}</a:tableStyleId>
              </a:tblPr>
              <a:tblGrid>
                <a:gridCol w="833755">
                  <a:extLst>
                    <a:ext uri="{9D8B030D-6E8A-4147-A177-3AD203B41FA5}">
                      <a16:colId xmlns:a16="http://schemas.microsoft.com/office/drawing/2014/main" val="743592034"/>
                    </a:ext>
                  </a:extLst>
                </a:gridCol>
                <a:gridCol w="3079941">
                  <a:extLst>
                    <a:ext uri="{9D8B030D-6E8A-4147-A177-3AD203B41FA5}">
                      <a16:colId xmlns:a16="http://schemas.microsoft.com/office/drawing/2014/main" val="810700651"/>
                    </a:ext>
                  </a:extLst>
                </a:gridCol>
                <a:gridCol w="3148553">
                  <a:extLst>
                    <a:ext uri="{9D8B030D-6E8A-4147-A177-3AD203B41FA5}">
                      <a16:colId xmlns:a16="http://schemas.microsoft.com/office/drawing/2014/main" val="3384285512"/>
                    </a:ext>
                  </a:extLst>
                </a:gridCol>
                <a:gridCol w="3902457">
                  <a:extLst>
                    <a:ext uri="{9D8B030D-6E8A-4147-A177-3AD203B41FA5}">
                      <a16:colId xmlns:a16="http://schemas.microsoft.com/office/drawing/2014/main" val="2403543386"/>
                    </a:ext>
                  </a:extLst>
                </a:gridCol>
              </a:tblGrid>
              <a:tr h="943977">
                <a:tc>
                  <a:txBody>
                    <a:bodyPr/>
                    <a:lstStyle/>
                    <a:p>
                      <a:pPr marL="91440">
                        <a:lnSpc>
                          <a:spcPct val="100000"/>
                        </a:lnSpc>
                        <a:spcBef>
                          <a:spcPts val="2125"/>
                        </a:spcBef>
                      </a:pPr>
                      <a:r>
                        <a:rPr lang="en-US" sz="2400" b="1" i="1" spc="-20" dirty="0" err="1">
                          <a:solidFill>
                            <a:srgbClr val="1F1F1F"/>
                          </a:solidFill>
                          <a:latin typeface="Calibri"/>
                          <a:cs typeface="Calibri"/>
                        </a:rPr>
                        <a:t>R</a:t>
                      </a:r>
                      <a:r>
                        <a:rPr sz="2400" b="1" i="1" spc="-20" dirty="0" err="1">
                          <a:solidFill>
                            <a:srgbClr val="1F1F1F"/>
                          </a:solidFill>
                          <a:latin typeface="Calibri"/>
                          <a:cs typeface="Calibri"/>
                        </a:rPr>
                        <a:t>.No</a:t>
                      </a:r>
                      <a:endParaRPr sz="2400" dirty="0">
                        <a:latin typeface="Calibri"/>
                        <a:cs typeface="Calibri"/>
                      </a:endParaRPr>
                    </a:p>
                  </a:txBody>
                  <a:tcPr marL="0" marR="0" marT="269875" marB="0"/>
                </a:tc>
                <a:tc>
                  <a:txBody>
                    <a:bodyPr/>
                    <a:lstStyle/>
                    <a:p>
                      <a:pPr marL="91440">
                        <a:lnSpc>
                          <a:spcPct val="100000"/>
                        </a:lnSpc>
                        <a:spcBef>
                          <a:spcPts val="2125"/>
                        </a:spcBef>
                      </a:pPr>
                      <a:r>
                        <a:rPr sz="2400" b="1" i="1" spc="-10" dirty="0">
                          <a:solidFill>
                            <a:srgbClr val="1F1F1F"/>
                          </a:solidFill>
                          <a:latin typeface="Calibri"/>
                          <a:cs typeface="Calibri"/>
                        </a:rPr>
                        <a:t>Title</a:t>
                      </a:r>
                      <a:endParaRPr sz="2400" dirty="0">
                        <a:latin typeface="Calibri"/>
                        <a:cs typeface="Calibri"/>
                      </a:endParaRPr>
                    </a:p>
                  </a:txBody>
                  <a:tcPr marL="0" marR="0" marT="269875" marB="0"/>
                </a:tc>
                <a:tc>
                  <a:txBody>
                    <a:bodyPr/>
                    <a:lstStyle/>
                    <a:p>
                      <a:pPr marL="92075">
                        <a:lnSpc>
                          <a:spcPct val="100000"/>
                        </a:lnSpc>
                        <a:spcBef>
                          <a:spcPts val="2125"/>
                        </a:spcBef>
                      </a:pPr>
                      <a:r>
                        <a:rPr sz="2400" b="1" i="1" spc="-10" dirty="0">
                          <a:solidFill>
                            <a:srgbClr val="1F1F1F"/>
                          </a:solidFill>
                          <a:latin typeface="Calibri"/>
                          <a:cs typeface="Calibri"/>
                        </a:rPr>
                        <a:t>Authors</a:t>
                      </a:r>
                      <a:endParaRPr sz="2400" dirty="0">
                        <a:latin typeface="Calibri"/>
                        <a:cs typeface="Calibri"/>
                      </a:endParaRPr>
                    </a:p>
                  </a:txBody>
                  <a:tcPr marL="0" marR="0" marT="269875" marB="0"/>
                </a:tc>
                <a:tc>
                  <a:txBody>
                    <a:bodyPr/>
                    <a:lstStyle/>
                    <a:p>
                      <a:pPr marL="92075">
                        <a:lnSpc>
                          <a:spcPct val="100000"/>
                        </a:lnSpc>
                        <a:spcBef>
                          <a:spcPts val="2125"/>
                        </a:spcBef>
                      </a:pPr>
                      <a:r>
                        <a:rPr sz="2400" b="1" i="1" spc="-10" dirty="0">
                          <a:solidFill>
                            <a:srgbClr val="1F1F1F"/>
                          </a:solidFill>
                          <a:latin typeface="Calibri"/>
                          <a:cs typeface="Calibri"/>
                        </a:rPr>
                        <a:t>Summary</a:t>
                      </a:r>
                      <a:endParaRPr sz="2400" dirty="0">
                        <a:latin typeface="Calibri"/>
                        <a:cs typeface="Calibri"/>
                      </a:endParaRPr>
                    </a:p>
                  </a:txBody>
                  <a:tcPr marL="0" marR="0" marT="269875" marB="0"/>
                </a:tc>
                <a:extLst>
                  <a:ext uri="{0D108BD9-81ED-4DB2-BD59-A6C34878D82A}">
                    <a16:rowId xmlns:a16="http://schemas.microsoft.com/office/drawing/2014/main" val="629749169"/>
                  </a:ext>
                </a:extLst>
              </a:tr>
              <a:tr h="1888709">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860"/>
                        </a:spcBef>
                      </a:pPr>
                      <a:endParaRPr sz="1600" b="1" dirty="0">
                        <a:latin typeface="Times New Roman"/>
                        <a:cs typeface="Times New Roman"/>
                      </a:endParaRPr>
                    </a:p>
                    <a:p>
                      <a:pPr marL="91440">
                        <a:lnSpc>
                          <a:spcPct val="100000"/>
                        </a:lnSpc>
                      </a:pPr>
                      <a:r>
                        <a:rPr lang="en-US" sz="1600" b="1" spc="-25" dirty="0">
                          <a:solidFill>
                            <a:srgbClr val="1F1F1F"/>
                          </a:solidFill>
                          <a:latin typeface="Calibri"/>
                          <a:cs typeface="Calibri"/>
                        </a:rPr>
                        <a:t>[1]</a:t>
                      </a:r>
                      <a:endParaRPr sz="1600" b="1" dirty="0">
                        <a:latin typeface="Calibri"/>
                        <a:cs typeface="Calibri"/>
                      </a:endParaRPr>
                    </a:p>
                  </a:txBody>
                  <a:tcPr marL="0" marR="0" marT="0" marB="0"/>
                </a:tc>
                <a:tc>
                  <a:txBody>
                    <a:bodyPr/>
                    <a:lstStyle/>
                    <a:p>
                      <a:pPr>
                        <a:lnSpc>
                          <a:spcPct val="100000"/>
                        </a:lnSpc>
                        <a:spcBef>
                          <a:spcPts val="1660"/>
                        </a:spcBef>
                      </a:pPr>
                      <a:endParaRPr sz="1600" b="1" dirty="0">
                        <a:latin typeface="Times New Roman"/>
                        <a:cs typeface="Times New Roman"/>
                      </a:endParaRPr>
                    </a:p>
                    <a:p>
                      <a:r>
                        <a:rPr lang="en-US" sz="1600" b="1" i="0" dirty="0">
                          <a:solidFill>
                            <a:schemeClr val="tx1"/>
                          </a:solidFill>
                          <a:effectLst/>
                          <a:latin typeface="+mn-lt"/>
                          <a:ea typeface="+mn-ea"/>
                          <a:cs typeface="+mn-cs"/>
                        </a:rPr>
                        <a:t>Dual-band textile AMC integrated       monopole antenna for SAR reduction</a:t>
                      </a:r>
                    </a:p>
                  </a:txBody>
                  <a:tcPr marL="72000" marR="0" marT="108000" marB="0"/>
                </a:tc>
                <a:tc>
                  <a:txBody>
                    <a:bodyPr/>
                    <a:lstStyle/>
                    <a:p>
                      <a:pPr>
                        <a:lnSpc>
                          <a:spcPct val="100000"/>
                        </a:lnSpc>
                        <a:spcBef>
                          <a:spcPts val="1739"/>
                        </a:spcBef>
                      </a:pPr>
                      <a:endParaRPr sz="1600" dirty="0">
                        <a:latin typeface="Times New Roman"/>
                        <a:cs typeface="Times New Roman"/>
                      </a:endParaRPr>
                    </a:p>
                    <a:p>
                      <a:pPr marL="92075">
                        <a:lnSpc>
                          <a:spcPct val="100000"/>
                        </a:lnSpc>
                      </a:pPr>
                      <a:r>
                        <a:rPr lang="en-IN" sz="1600" dirty="0" err="1"/>
                        <a:t>Yotrawee</a:t>
                      </a:r>
                      <a:r>
                        <a:rPr lang="en-IN" sz="1600" dirty="0"/>
                        <a:t> </a:t>
                      </a:r>
                      <a:r>
                        <a:rPr lang="en-IN" sz="1600" dirty="0" err="1"/>
                        <a:t>Hengroemyat</a:t>
                      </a:r>
                      <a:r>
                        <a:rPr lang="en-IN" sz="1600" dirty="0"/>
                        <a:t>, Wanwisa </a:t>
                      </a:r>
                      <a:r>
                        <a:rPr lang="en-IN" sz="1600" dirty="0" err="1"/>
                        <a:t>Thaiwirot</a:t>
                      </a:r>
                      <a:r>
                        <a:rPr lang="en-IN" sz="1600" dirty="0"/>
                        <a:t>, </a:t>
                      </a:r>
                      <a:r>
                        <a:rPr lang="en-IN" sz="1600" dirty="0" err="1"/>
                        <a:t>Prayoot</a:t>
                      </a:r>
                      <a:r>
                        <a:rPr lang="en-IN" sz="1600" dirty="0"/>
                        <a:t> </a:t>
                      </a:r>
                      <a:r>
                        <a:rPr lang="en-IN" sz="1600" dirty="0" err="1"/>
                        <a:t>Akkaraekthalin</a:t>
                      </a:r>
                      <a:r>
                        <a:rPr lang="en-IN" sz="1600" dirty="0"/>
                        <a:t>, </a:t>
                      </a:r>
                      <a:r>
                        <a:rPr lang="en-IN" sz="1600" dirty="0" err="1"/>
                        <a:t>Akkarat</a:t>
                      </a:r>
                      <a:r>
                        <a:rPr lang="en-IN" sz="1600" dirty="0"/>
                        <a:t> </a:t>
                      </a:r>
                      <a:r>
                        <a:rPr lang="en-IN" sz="1600" dirty="0" err="1"/>
                        <a:t>Boonpoonga</a:t>
                      </a:r>
                      <a:r>
                        <a:rPr lang="en-IN" sz="1600" dirty="0"/>
                        <a:t> and </a:t>
                      </a:r>
                      <a:r>
                        <a:rPr lang="en-IN" sz="1600" dirty="0" err="1"/>
                        <a:t>Nonchanutt</a:t>
                      </a:r>
                      <a:r>
                        <a:rPr lang="en-IN" sz="1600" dirty="0"/>
                        <a:t> </a:t>
                      </a:r>
                      <a:r>
                        <a:rPr lang="en-IN" sz="1600" dirty="0" err="1"/>
                        <a:t>Chudpooti</a:t>
                      </a:r>
                      <a:endParaRPr sz="1600" dirty="0">
                        <a:latin typeface="Calibri"/>
                        <a:cs typeface="Calibri"/>
                      </a:endParaRPr>
                    </a:p>
                  </a:txBody>
                  <a:tcPr marL="0" marR="0" marT="108000" marB="0"/>
                </a:tc>
                <a:tc>
                  <a:txBody>
                    <a:bodyPr/>
                    <a:lstStyle/>
                    <a:p>
                      <a:pPr>
                        <a:lnSpc>
                          <a:spcPct val="100000"/>
                        </a:lnSpc>
                        <a:spcBef>
                          <a:spcPts val="700"/>
                        </a:spcBef>
                      </a:pPr>
                      <a:endParaRPr sz="1600" dirty="0">
                        <a:latin typeface="Times New Roman"/>
                        <a:cs typeface="Times New Roman"/>
                      </a:endParaRPr>
                    </a:p>
                    <a:p>
                      <a:pPr marL="92075" marR="247650">
                        <a:lnSpc>
                          <a:spcPct val="100000"/>
                        </a:lnSpc>
                      </a:pPr>
                      <a:r>
                        <a:rPr lang="en-US" sz="1600" dirty="0"/>
                        <a:t>Flexible dual-band textile antenna (2.4/5.2 GHz) with AMC reflector improves gain, bandwidth, and lowers SAR; suitable for wearable health systems.</a:t>
                      </a:r>
                      <a:endParaRPr sz="1600" dirty="0">
                        <a:latin typeface="Calibri"/>
                        <a:cs typeface="Calibri"/>
                      </a:endParaRPr>
                    </a:p>
                  </a:txBody>
                  <a:tcPr marL="0" marR="0" marT="108000" marB="0"/>
                </a:tc>
                <a:extLst>
                  <a:ext uri="{0D108BD9-81ED-4DB2-BD59-A6C34878D82A}">
                    <a16:rowId xmlns:a16="http://schemas.microsoft.com/office/drawing/2014/main" val="784855209"/>
                  </a:ext>
                </a:extLst>
              </a:tr>
              <a:tr h="2176121">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155"/>
                        </a:spcBef>
                      </a:pPr>
                      <a:endParaRPr sz="1600" b="1" dirty="0">
                        <a:latin typeface="Times New Roman"/>
                        <a:cs typeface="Times New Roman"/>
                      </a:endParaRPr>
                    </a:p>
                    <a:p>
                      <a:pPr marL="91440">
                        <a:lnSpc>
                          <a:spcPct val="100000"/>
                        </a:lnSpc>
                      </a:pPr>
                      <a:r>
                        <a:rPr lang="en-US" sz="1600" b="1" spc="-25" dirty="0">
                          <a:solidFill>
                            <a:srgbClr val="1F1F1F"/>
                          </a:solidFill>
                          <a:latin typeface="Calibri"/>
                          <a:cs typeface="Calibri"/>
                        </a:rPr>
                        <a:t>[</a:t>
                      </a:r>
                      <a:r>
                        <a:rPr sz="1600" b="1" spc="-25" dirty="0">
                          <a:solidFill>
                            <a:srgbClr val="1F1F1F"/>
                          </a:solidFill>
                          <a:latin typeface="Calibri"/>
                          <a:cs typeface="Calibri"/>
                        </a:rPr>
                        <a:t>2</a:t>
                      </a:r>
                      <a:r>
                        <a:rPr lang="en-US" sz="1600" b="1" spc="-25" dirty="0">
                          <a:solidFill>
                            <a:srgbClr val="1F1F1F"/>
                          </a:solidFill>
                          <a:latin typeface="Calibri"/>
                          <a:cs typeface="Calibri"/>
                        </a:rPr>
                        <a:t>]</a:t>
                      </a:r>
                      <a:endParaRPr sz="1600" b="1" dirty="0">
                        <a:latin typeface="Calibri"/>
                        <a:cs typeface="Calibri"/>
                      </a:endParaRPr>
                    </a:p>
                  </a:txBody>
                  <a:tcPr marL="0" marR="0" marT="0" marB="0"/>
                </a:tc>
                <a:tc>
                  <a:txBody>
                    <a:bodyPr/>
                    <a:lstStyle/>
                    <a:p>
                      <a:pPr>
                        <a:lnSpc>
                          <a:spcPct val="100000"/>
                        </a:lnSpc>
                      </a:pPr>
                      <a:endParaRPr sz="1600" b="1" dirty="0">
                        <a:latin typeface="Times New Roman"/>
                        <a:cs typeface="Times New Roman"/>
                      </a:endParaRPr>
                    </a:p>
                    <a:p>
                      <a:pPr marL="91440" marR="390525">
                        <a:lnSpc>
                          <a:spcPct val="100000"/>
                        </a:lnSpc>
                        <a:spcBef>
                          <a:spcPts val="5"/>
                        </a:spcBef>
                      </a:pPr>
                      <a:r>
                        <a:rPr lang="en-US" sz="1600" b="1" dirty="0"/>
                        <a:t>Compact wideband implantable antenna for wireless capsule endoscopy application in the 2.45 GHz ISM band</a:t>
                      </a:r>
                      <a:endParaRPr sz="1600" b="1" dirty="0">
                        <a:latin typeface="Calibri"/>
                        <a:cs typeface="Calibri"/>
                      </a:endParaRPr>
                    </a:p>
                  </a:txBody>
                  <a:tcPr marL="0" marR="0" marT="108000" marB="0"/>
                </a:tc>
                <a:tc>
                  <a:txBody>
                    <a:bodyPr/>
                    <a:lstStyle/>
                    <a:p>
                      <a:pPr>
                        <a:lnSpc>
                          <a:spcPct val="100000"/>
                        </a:lnSpc>
                        <a:spcBef>
                          <a:spcPts val="1035"/>
                        </a:spcBef>
                      </a:pPr>
                      <a:endParaRPr sz="1600" dirty="0">
                        <a:latin typeface="Times New Roman"/>
                        <a:cs typeface="Times New Roman"/>
                      </a:endParaRPr>
                    </a:p>
                    <a:p>
                      <a:pPr marL="92075" marR="788035">
                        <a:lnSpc>
                          <a:spcPct val="100000"/>
                        </a:lnSpc>
                      </a:pPr>
                      <a:r>
                        <a:rPr lang="en-US" sz="1600" dirty="0"/>
                        <a:t>Archana Mohan and Niraj Kumar</a:t>
                      </a:r>
                      <a:endParaRPr sz="1600" dirty="0">
                        <a:latin typeface="Calibri"/>
                        <a:cs typeface="Calibri"/>
                      </a:endParaRPr>
                    </a:p>
                  </a:txBody>
                  <a:tcPr marL="0" marR="0" marT="108000" marB="0"/>
                </a:tc>
                <a:tc>
                  <a:txBody>
                    <a:bodyPr/>
                    <a:lstStyle/>
                    <a:p>
                      <a:pPr>
                        <a:lnSpc>
                          <a:spcPct val="100000"/>
                        </a:lnSpc>
                        <a:spcBef>
                          <a:spcPts val="869"/>
                        </a:spcBef>
                      </a:pPr>
                      <a:endParaRPr sz="1600" dirty="0">
                        <a:latin typeface="Times New Roman"/>
                        <a:cs typeface="Times New Roman"/>
                      </a:endParaRPr>
                    </a:p>
                    <a:p>
                      <a:pPr marL="92075" marR="212725">
                        <a:lnSpc>
                          <a:spcPct val="100000"/>
                        </a:lnSpc>
                        <a:spcBef>
                          <a:spcPts val="5"/>
                        </a:spcBef>
                      </a:pPr>
                      <a:r>
                        <a:rPr lang="en-US" sz="1600" dirty="0"/>
                        <a:t>Compact implantable antenna for 2.45 GHz uses slots, shorting pin, and DGS to improve bandwidth, gain, and SAR safety for capsule endoscopy and WBAN use.</a:t>
                      </a:r>
                      <a:endParaRPr sz="1600" dirty="0">
                        <a:latin typeface="Calibri"/>
                        <a:cs typeface="Calibri"/>
                      </a:endParaRPr>
                    </a:p>
                  </a:txBody>
                  <a:tcPr marL="0" marR="0" marT="108000" marB="0"/>
                </a:tc>
                <a:extLst>
                  <a:ext uri="{0D108BD9-81ED-4DB2-BD59-A6C34878D82A}">
                    <a16:rowId xmlns:a16="http://schemas.microsoft.com/office/drawing/2014/main" val="1493661448"/>
                  </a:ext>
                </a:extLst>
              </a:tr>
            </a:tbl>
          </a:graphicData>
        </a:graphic>
      </p:graphicFrame>
    </p:spTree>
    <p:extLst>
      <p:ext uri="{BB962C8B-B14F-4D97-AF65-F5344CB8AC3E}">
        <p14:creationId xmlns:p14="http://schemas.microsoft.com/office/powerpoint/2010/main" val="2878818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71F67-7603-1D1B-C3B4-D6028D379B9B}"/>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02FF6DD-AC73-E160-42EA-A39778B4B2B6}"/>
              </a:ext>
            </a:extLst>
          </p:cNvPr>
          <p:cNvGraphicFramePr>
            <a:graphicFrameLocks noGrp="1"/>
          </p:cNvGraphicFramePr>
          <p:nvPr>
            <p:ph idx="1"/>
            <p:extLst>
              <p:ext uri="{D42A27DB-BD31-4B8C-83A1-F6EECF244321}">
                <p14:modId xmlns:p14="http://schemas.microsoft.com/office/powerpoint/2010/main" val="1171155939"/>
              </p:ext>
            </p:extLst>
          </p:nvPr>
        </p:nvGraphicFramePr>
        <p:xfrm>
          <a:off x="552646" y="344848"/>
          <a:ext cx="10660313" cy="6168304"/>
        </p:xfrm>
        <a:graphic>
          <a:graphicData uri="http://schemas.openxmlformats.org/drawingml/2006/table">
            <a:tbl>
              <a:tblPr firstRow="1" bandRow="1">
                <a:tableStyleId>{E8B1032C-EA38-4F05-BA0D-38AFFFC7BED3}</a:tableStyleId>
              </a:tblPr>
              <a:tblGrid>
                <a:gridCol w="382905">
                  <a:extLst>
                    <a:ext uri="{9D8B030D-6E8A-4147-A177-3AD203B41FA5}">
                      <a16:colId xmlns:a16="http://schemas.microsoft.com/office/drawing/2014/main" val="743592034"/>
                    </a:ext>
                  </a:extLst>
                </a:gridCol>
                <a:gridCol w="3476193">
                  <a:extLst>
                    <a:ext uri="{9D8B030D-6E8A-4147-A177-3AD203B41FA5}">
                      <a16:colId xmlns:a16="http://schemas.microsoft.com/office/drawing/2014/main" val="810700651"/>
                    </a:ext>
                  </a:extLst>
                </a:gridCol>
                <a:gridCol w="3091992">
                  <a:extLst>
                    <a:ext uri="{9D8B030D-6E8A-4147-A177-3AD203B41FA5}">
                      <a16:colId xmlns:a16="http://schemas.microsoft.com/office/drawing/2014/main" val="3384285512"/>
                    </a:ext>
                  </a:extLst>
                </a:gridCol>
                <a:gridCol w="3709223">
                  <a:extLst>
                    <a:ext uri="{9D8B030D-6E8A-4147-A177-3AD203B41FA5}">
                      <a16:colId xmlns:a16="http://schemas.microsoft.com/office/drawing/2014/main" val="2403543386"/>
                    </a:ext>
                  </a:extLst>
                </a:gridCol>
              </a:tblGrid>
              <a:tr h="2082294">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1620"/>
                        </a:spcBef>
                      </a:pPr>
                      <a:endParaRPr sz="1600" b="1" dirty="0">
                        <a:latin typeface="Times New Roman"/>
                        <a:cs typeface="Times New Roman"/>
                      </a:endParaRPr>
                    </a:p>
                    <a:p>
                      <a:pPr marR="39370" algn="ctr">
                        <a:lnSpc>
                          <a:spcPct val="100000"/>
                        </a:lnSpc>
                      </a:pPr>
                      <a:r>
                        <a:rPr lang="en-US" sz="1600" b="1" spc="-25" dirty="0">
                          <a:solidFill>
                            <a:srgbClr val="1F1F1F"/>
                          </a:solidFill>
                          <a:latin typeface="Calibri"/>
                          <a:cs typeface="Calibri"/>
                        </a:rPr>
                        <a:t>[</a:t>
                      </a:r>
                      <a:r>
                        <a:rPr sz="1600" b="1" spc="-25" dirty="0">
                          <a:solidFill>
                            <a:srgbClr val="1F1F1F"/>
                          </a:solidFill>
                          <a:latin typeface="Calibri"/>
                          <a:cs typeface="Calibri"/>
                        </a:rPr>
                        <a:t>3</a:t>
                      </a:r>
                      <a:r>
                        <a:rPr lang="en-US" sz="1600" b="1" spc="-25" dirty="0">
                          <a:solidFill>
                            <a:srgbClr val="1F1F1F"/>
                          </a:solidFill>
                          <a:latin typeface="Calibri"/>
                          <a:cs typeface="Calibri"/>
                        </a:rPr>
                        <a:t>]</a:t>
                      </a:r>
                      <a:endParaRPr sz="1600" b="1" dirty="0">
                        <a:latin typeface="Calibri"/>
                        <a:cs typeface="Calibri"/>
                      </a:endParaRPr>
                    </a:p>
                  </a:txBody>
                  <a:tcPr marL="0" marR="0" marT="0" marB="0"/>
                </a:tc>
                <a:tc>
                  <a:txBody>
                    <a:bodyPr/>
                    <a:lstStyle/>
                    <a:p>
                      <a:pPr>
                        <a:lnSpc>
                          <a:spcPct val="100000"/>
                        </a:lnSpc>
                      </a:pPr>
                      <a:endParaRPr sz="1600" b="1" dirty="0">
                        <a:latin typeface="Times New Roman"/>
                        <a:cs typeface="Times New Roman"/>
                      </a:endParaRPr>
                    </a:p>
                    <a:p>
                      <a:pPr>
                        <a:lnSpc>
                          <a:spcPct val="100000"/>
                        </a:lnSpc>
                        <a:spcBef>
                          <a:spcPts val="580"/>
                        </a:spcBef>
                      </a:pPr>
                      <a:r>
                        <a:rPr lang="en-US" sz="1600" b="1" dirty="0"/>
                        <a:t>A Comprehensive Review and Analysis of the Design Aspects, Structure, and Applications of Flexible Wearable Antennas</a:t>
                      </a:r>
                      <a:endParaRPr sz="1600" b="1" dirty="0">
                        <a:latin typeface="Times New Roman"/>
                        <a:cs typeface="Times New Roman"/>
                      </a:endParaRPr>
                    </a:p>
                  </a:txBody>
                  <a:tcPr marL="108000" marR="0" marT="0" marB="0"/>
                </a:tc>
                <a:tc>
                  <a:txBody>
                    <a:bodyPr/>
                    <a:lstStyle/>
                    <a:p>
                      <a:pPr>
                        <a:lnSpc>
                          <a:spcPct val="100000"/>
                        </a:lnSpc>
                      </a:pPr>
                      <a:endParaRPr sz="1600" b="0" dirty="0">
                        <a:latin typeface="Times New Roman"/>
                        <a:cs typeface="Times New Roman"/>
                      </a:endParaRPr>
                    </a:p>
                    <a:p>
                      <a:pPr lvl="0" algn="l">
                        <a:lnSpc>
                          <a:spcPct val="100000"/>
                        </a:lnSpc>
                      </a:pPr>
                      <a:r>
                        <a:rPr lang="en-IN" sz="1600" b="0" dirty="0"/>
                        <a:t>Sunaina Singh, Ranjan Mishra, Ankush Kapoor and Soni Singh</a:t>
                      </a:r>
                      <a:endParaRPr sz="1600" b="0" dirty="0">
                        <a:latin typeface="Times New Roman"/>
                        <a:cs typeface="Times New Roman"/>
                      </a:endParaRPr>
                    </a:p>
                  </a:txBody>
                  <a:tcPr marL="108000" marR="0" marT="108000" marB="0"/>
                </a:tc>
                <a:tc>
                  <a:txBody>
                    <a:bodyPr/>
                    <a:lstStyle/>
                    <a:p>
                      <a:pPr marL="0" marR="0" lvl="0" indent="0" defTabSz="914400" eaLnBrk="1" fontAlgn="auto" latinLnBrk="0" hangingPunct="1">
                        <a:lnSpc>
                          <a:spcPct val="100000"/>
                        </a:lnSpc>
                        <a:spcBef>
                          <a:spcPts val="500"/>
                        </a:spcBef>
                        <a:spcAft>
                          <a:spcPts val="0"/>
                        </a:spcAft>
                        <a:buClrTx/>
                        <a:buSzTx/>
                        <a:buFontTx/>
                        <a:buNone/>
                        <a:tabLst/>
                        <a:defRPr/>
                      </a:pPr>
                      <a:r>
                        <a:rPr lang="en-US" sz="1600" b="0" dirty="0"/>
                        <a:t>Review of wearable antennas covers materials, feeding, SAR reduction, and performance under bending/on-body, aiding IoT healthcare communication systems.</a:t>
                      </a:r>
                    </a:p>
                  </a:txBody>
                  <a:tcPr marL="108000" marR="0" marT="288000" marB="0"/>
                </a:tc>
                <a:extLst>
                  <a:ext uri="{0D108BD9-81ED-4DB2-BD59-A6C34878D82A}">
                    <a16:rowId xmlns:a16="http://schemas.microsoft.com/office/drawing/2014/main" val="629749169"/>
                  </a:ext>
                </a:extLst>
              </a:tr>
              <a:tr h="2043005">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1470"/>
                        </a:spcBef>
                      </a:pPr>
                      <a:endParaRPr sz="1600" b="1" dirty="0">
                        <a:latin typeface="Times New Roman"/>
                        <a:cs typeface="Times New Roman"/>
                      </a:endParaRPr>
                    </a:p>
                    <a:p>
                      <a:pPr marR="39370" algn="ctr">
                        <a:lnSpc>
                          <a:spcPct val="100000"/>
                        </a:lnSpc>
                      </a:pPr>
                      <a:r>
                        <a:rPr lang="en-US" sz="1600" b="1" spc="-25" dirty="0">
                          <a:latin typeface="Calibri"/>
                          <a:cs typeface="Calibri"/>
                        </a:rPr>
                        <a:t>[</a:t>
                      </a:r>
                      <a:r>
                        <a:rPr sz="1600" b="1" spc="-25" dirty="0">
                          <a:latin typeface="Calibri"/>
                          <a:cs typeface="Calibri"/>
                        </a:rPr>
                        <a:t>4</a:t>
                      </a:r>
                      <a:r>
                        <a:rPr lang="en-US" sz="1600" b="1" spc="-25" dirty="0">
                          <a:latin typeface="Calibri"/>
                          <a:cs typeface="Calibri"/>
                        </a:rPr>
                        <a:t>]</a:t>
                      </a:r>
                      <a:endParaRPr sz="1600" b="1" dirty="0">
                        <a:latin typeface="Calibri"/>
                        <a:cs typeface="Calibri"/>
                      </a:endParaRPr>
                    </a:p>
                  </a:txBody>
                  <a:tcPr marL="0" marR="0" marT="0" marB="0"/>
                </a:tc>
                <a:tc>
                  <a:txBody>
                    <a:bodyPr/>
                    <a:lstStyle/>
                    <a:p>
                      <a:pPr>
                        <a:lnSpc>
                          <a:spcPct val="100000"/>
                        </a:lnSpc>
                      </a:pPr>
                      <a:endParaRPr sz="1600" b="1" dirty="0">
                        <a:latin typeface="Times New Roman"/>
                        <a:cs typeface="Times New Roman"/>
                      </a:endParaRPr>
                    </a:p>
                    <a:p>
                      <a:pPr>
                        <a:lnSpc>
                          <a:spcPct val="100000"/>
                        </a:lnSpc>
                        <a:spcBef>
                          <a:spcPts val="1390"/>
                        </a:spcBef>
                      </a:pPr>
                      <a:r>
                        <a:rPr lang="en-US" sz="1600" b="1" dirty="0"/>
                        <a:t>Terahertz dual-band antenna design with improved performances using FSS-based </a:t>
                      </a:r>
                      <a:r>
                        <a:rPr lang="en-US" sz="1600" b="1" dirty="0" err="1"/>
                        <a:t>metasurface</a:t>
                      </a:r>
                      <a:r>
                        <a:rPr lang="en-US" sz="1600" b="1" dirty="0"/>
                        <a:t> concept for wireless applications</a:t>
                      </a:r>
                      <a:endParaRPr sz="1600" b="1" dirty="0">
                        <a:latin typeface="Times New Roman"/>
                        <a:cs typeface="Times New Roman"/>
                      </a:endParaRPr>
                    </a:p>
                  </a:txBody>
                  <a:tcPr marL="108000" marR="0" marT="0" marB="0"/>
                </a:tc>
                <a:tc>
                  <a:txBody>
                    <a:bodyPr/>
                    <a:lstStyle/>
                    <a:p>
                      <a:pPr>
                        <a:lnSpc>
                          <a:spcPct val="100000"/>
                        </a:lnSpc>
                      </a:pPr>
                      <a:endParaRPr sz="1600" dirty="0">
                        <a:latin typeface="Times New Roman"/>
                        <a:cs typeface="Times New Roman"/>
                      </a:endParaRPr>
                    </a:p>
                    <a:p>
                      <a:pPr>
                        <a:lnSpc>
                          <a:spcPct val="100000"/>
                        </a:lnSpc>
                      </a:pPr>
                      <a:r>
                        <a:rPr lang="en-IN" sz="1600" dirty="0"/>
                        <a:t>Youssef Amraoui, Imane </a:t>
                      </a:r>
                      <a:r>
                        <a:rPr lang="en-IN" sz="1600" dirty="0" err="1"/>
                        <a:t>Halkhams</a:t>
                      </a:r>
                      <a:r>
                        <a:rPr lang="en-IN" sz="1600" dirty="0"/>
                        <a:t>, Rachid El Alami, Mohammed Ouazzani Jamil and Hassan </a:t>
                      </a:r>
                      <a:r>
                        <a:rPr lang="en-IN" sz="1600" dirty="0" err="1"/>
                        <a:t>Qjidaa</a:t>
                      </a:r>
                      <a:endParaRPr sz="1600" dirty="0">
                        <a:latin typeface="Times New Roman"/>
                        <a:cs typeface="Times New Roman"/>
                      </a:endParaRPr>
                    </a:p>
                  </a:txBody>
                  <a:tcPr marL="108000" marR="0" marT="144000" marB="0"/>
                </a:tc>
                <a:tc>
                  <a:txBody>
                    <a:bodyPr/>
                    <a:lstStyle/>
                    <a:p>
                      <a:pPr>
                        <a:lnSpc>
                          <a:spcPct val="100000"/>
                        </a:lnSpc>
                        <a:spcBef>
                          <a:spcPts val="345"/>
                        </a:spcBef>
                      </a:pPr>
                      <a:endParaRPr lang="en-US" sz="1600" dirty="0">
                        <a:latin typeface="Times New Roman"/>
                        <a:cs typeface="Times New Roman"/>
                      </a:endParaRPr>
                    </a:p>
                    <a:p>
                      <a:pPr>
                        <a:lnSpc>
                          <a:spcPct val="100000"/>
                        </a:lnSpc>
                        <a:spcBef>
                          <a:spcPts val="345"/>
                        </a:spcBef>
                      </a:pPr>
                      <a:r>
                        <a:rPr lang="en-US" sz="1600" dirty="0"/>
                        <a:t>Dual-band THz patch antenna with FSS </a:t>
                      </a:r>
                      <a:r>
                        <a:rPr lang="en-US" sz="1600" dirty="0" err="1"/>
                        <a:t>metasurface</a:t>
                      </a:r>
                      <a:r>
                        <a:rPr lang="en-US" sz="1600" dirty="0"/>
                        <a:t> improves bandwidth, gain, and matching, enabling stable high-speed 6G communication and sensing systems.</a:t>
                      </a:r>
                      <a:endParaRPr sz="1600" dirty="0">
                        <a:latin typeface="Times New Roman"/>
                        <a:cs typeface="Times New Roman"/>
                      </a:endParaRPr>
                    </a:p>
                  </a:txBody>
                  <a:tcPr marL="108000" marR="0" marT="43815" marB="0"/>
                </a:tc>
                <a:extLst>
                  <a:ext uri="{0D108BD9-81ED-4DB2-BD59-A6C34878D82A}">
                    <a16:rowId xmlns:a16="http://schemas.microsoft.com/office/drawing/2014/main" val="3594013042"/>
                  </a:ext>
                </a:extLst>
              </a:tr>
              <a:tr h="2043005">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1470"/>
                        </a:spcBef>
                      </a:pPr>
                      <a:endParaRPr sz="1600" b="1" dirty="0">
                        <a:latin typeface="Times New Roman"/>
                        <a:cs typeface="Times New Roman"/>
                      </a:endParaRPr>
                    </a:p>
                    <a:p>
                      <a:pPr marR="39370" algn="ctr">
                        <a:lnSpc>
                          <a:spcPct val="100000"/>
                        </a:lnSpc>
                      </a:pPr>
                      <a:r>
                        <a:rPr lang="en-US" sz="1600" b="1" spc="-25" dirty="0">
                          <a:latin typeface="Calibri"/>
                          <a:cs typeface="Calibri"/>
                        </a:rPr>
                        <a:t>[</a:t>
                      </a:r>
                      <a:r>
                        <a:rPr sz="1600" b="1" spc="-25" dirty="0">
                          <a:latin typeface="Calibri"/>
                          <a:cs typeface="Calibri"/>
                        </a:rPr>
                        <a:t>5</a:t>
                      </a:r>
                      <a:r>
                        <a:rPr lang="en-US" sz="1600" b="1" spc="-25" dirty="0">
                          <a:latin typeface="Calibri"/>
                          <a:cs typeface="Calibri"/>
                        </a:rPr>
                        <a:t>]</a:t>
                      </a:r>
                      <a:endParaRPr sz="1600" b="1" dirty="0">
                        <a:latin typeface="Calibri"/>
                        <a:cs typeface="Calibri"/>
                      </a:endParaRPr>
                    </a:p>
                  </a:txBody>
                  <a:tcPr marL="0" marR="0" marT="0" marB="0"/>
                </a:tc>
                <a:tc>
                  <a:txBody>
                    <a:bodyPr/>
                    <a:lstStyle/>
                    <a:p>
                      <a:pPr>
                        <a:lnSpc>
                          <a:spcPct val="100000"/>
                        </a:lnSpc>
                      </a:pPr>
                      <a:endParaRPr sz="1600" b="1" dirty="0">
                        <a:latin typeface="Times New Roman"/>
                        <a:cs typeface="Times New Roman"/>
                      </a:endParaRPr>
                    </a:p>
                    <a:p>
                      <a:pPr>
                        <a:lnSpc>
                          <a:spcPct val="100000"/>
                        </a:lnSpc>
                        <a:spcBef>
                          <a:spcPts val="430"/>
                        </a:spcBef>
                      </a:pPr>
                      <a:r>
                        <a:rPr lang="en-US" sz="1600" b="1" dirty="0"/>
                        <a:t>Development of flexible durable multi-slotted antenna for wearable applications</a:t>
                      </a:r>
                      <a:endParaRPr sz="1600" b="1" dirty="0">
                        <a:latin typeface="Times New Roman"/>
                        <a:cs typeface="Times New Roman"/>
                      </a:endParaRPr>
                    </a:p>
                  </a:txBody>
                  <a:tcPr marL="108000" marR="0" marT="144000" marB="0"/>
                </a:tc>
                <a:tc>
                  <a:txBody>
                    <a:bodyPr/>
                    <a:lstStyle/>
                    <a:p>
                      <a:pPr>
                        <a:lnSpc>
                          <a:spcPct val="100000"/>
                        </a:lnSpc>
                      </a:pPr>
                      <a:r>
                        <a:rPr lang="en-IN" sz="1600" dirty="0" err="1"/>
                        <a:t>Kummaramsetty</a:t>
                      </a:r>
                      <a:r>
                        <a:rPr lang="en-IN" sz="1600" dirty="0"/>
                        <a:t> Sainath, Shine Let </a:t>
                      </a:r>
                      <a:r>
                        <a:rPr lang="en-IN" sz="1600" dirty="0" err="1"/>
                        <a:t>Gunamony</a:t>
                      </a:r>
                      <a:r>
                        <a:rPr lang="en-IN" sz="1600" dirty="0"/>
                        <a:t>, Wahaj Abbas Awan, Navin M. George, </a:t>
                      </a:r>
                      <a:r>
                        <a:rPr lang="en-IN" sz="1600" dirty="0" err="1"/>
                        <a:t>Majjiga</a:t>
                      </a:r>
                      <a:r>
                        <a:rPr lang="en-IN" sz="1600" dirty="0"/>
                        <a:t> Deva Sindhu, Fahad N. </a:t>
                      </a:r>
                      <a:r>
                        <a:rPr lang="en-IN" sz="1600" dirty="0" err="1"/>
                        <a:t>Alsunaydih</a:t>
                      </a:r>
                      <a:r>
                        <a:rPr lang="en-IN" sz="1600" dirty="0"/>
                        <a:t> and Khaled </a:t>
                      </a:r>
                      <a:r>
                        <a:rPr lang="en-IN" sz="1600" dirty="0" err="1"/>
                        <a:t>Alhassoon</a:t>
                      </a:r>
                      <a:endParaRPr sz="1600" dirty="0">
                        <a:latin typeface="Times New Roman"/>
                        <a:cs typeface="Times New Roman"/>
                      </a:endParaRPr>
                    </a:p>
                  </a:txBody>
                  <a:tcPr marL="108000" marR="0" marT="360000" marB="0"/>
                </a:tc>
                <a:tc>
                  <a:txBody>
                    <a:bodyPr/>
                    <a:lstStyle/>
                    <a:p>
                      <a:pPr>
                        <a:lnSpc>
                          <a:spcPct val="100000"/>
                        </a:lnSpc>
                        <a:spcBef>
                          <a:spcPts val="350"/>
                        </a:spcBef>
                      </a:pPr>
                      <a:endParaRPr lang="en-US" sz="1600" dirty="0">
                        <a:latin typeface="Times New Roman"/>
                        <a:cs typeface="Times New Roman"/>
                      </a:endParaRPr>
                    </a:p>
                    <a:p>
                      <a:pPr marL="0" marR="0" lvl="0" indent="0" algn="l" defTabSz="914400" eaLnBrk="1" fontAlgn="auto" latinLnBrk="0" hangingPunct="1">
                        <a:lnSpc>
                          <a:spcPct val="100000"/>
                        </a:lnSpc>
                        <a:spcBef>
                          <a:spcPts val="350"/>
                        </a:spcBef>
                        <a:spcAft>
                          <a:spcPts val="0"/>
                        </a:spcAft>
                        <a:buClrTx/>
                        <a:buSzTx/>
                        <a:buFontTx/>
                        <a:buNone/>
                        <a:tabLst/>
                        <a:defRPr/>
                      </a:pPr>
                      <a:r>
                        <a:rPr lang="en-US" sz="1600" dirty="0"/>
                        <a:t>Flexible multi-slotted wearable antenna using CPW improves bandwidth, gain, and SAR safety, maintaining stable performance under bending for WBAN use.</a:t>
                      </a:r>
                    </a:p>
                  </a:txBody>
                  <a:tcPr marL="108000" marR="0" marT="44450" marB="0"/>
                </a:tc>
                <a:extLst>
                  <a:ext uri="{0D108BD9-81ED-4DB2-BD59-A6C34878D82A}">
                    <a16:rowId xmlns:a16="http://schemas.microsoft.com/office/drawing/2014/main" val="3754366100"/>
                  </a:ext>
                </a:extLst>
              </a:tr>
            </a:tbl>
          </a:graphicData>
        </a:graphic>
      </p:graphicFrame>
    </p:spTree>
    <p:extLst>
      <p:ext uri="{BB962C8B-B14F-4D97-AF65-F5344CB8AC3E}">
        <p14:creationId xmlns:p14="http://schemas.microsoft.com/office/powerpoint/2010/main" val="4061078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3760E-1561-F52C-089F-1AB38D952F5E}"/>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7A52287-79E3-1FFE-99CD-874FBE4A50DB}"/>
              </a:ext>
            </a:extLst>
          </p:cNvPr>
          <p:cNvGraphicFramePr>
            <a:graphicFrameLocks noGrp="1"/>
          </p:cNvGraphicFramePr>
          <p:nvPr>
            <p:ph idx="1"/>
            <p:extLst>
              <p:ext uri="{D42A27DB-BD31-4B8C-83A1-F6EECF244321}">
                <p14:modId xmlns:p14="http://schemas.microsoft.com/office/powerpoint/2010/main" val="877792048"/>
              </p:ext>
            </p:extLst>
          </p:nvPr>
        </p:nvGraphicFramePr>
        <p:xfrm>
          <a:off x="670481" y="512817"/>
          <a:ext cx="11020719" cy="5697734"/>
        </p:xfrm>
        <a:graphic>
          <a:graphicData uri="http://schemas.openxmlformats.org/drawingml/2006/table">
            <a:tbl>
              <a:tblPr firstRow="1" bandRow="1">
                <a:tableStyleId>{E8B1032C-EA38-4F05-BA0D-38AFFFC7BED3}</a:tableStyleId>
              </a:tblPr>
              <a:tblGrid>
                <a:gridCol w="413601">
                  <a:extLst>
                    <a:ext uri="{9D8B030D-6E8A-4147-A177-3AD203B41FA5}">
                      <a16:colId xmlns:a16="http://schemas.microsoft.com/office/drawing/2014/main" val="743592034"/>
                    </a:ext>
                  </a:extLst>
                </a:gridCol>
                <a:gridCol w="3836710">
                  <a:extLst>
                    <a:ext uri="{9D8B030D-6E8A-4147-A177-3AD203B41FA5}">
                      <a16:colId xmlns:a16="http://schemas.microsoft.com/office/drawing/2014/main" val="810700651"/>
                    </a:ext>
                  </a:extLst>
                </a:gridCol>
                <a:gridCol w="2969443">
                  <a:extLst>
                    <a:ext uri="{9D8B030D-6E8A-4147-A177-3AD203B41FA5}">
                      <a16:colId xmlns:a16="http://schemas.microsoft.com/office/drawing/2014/main" val="3384285512"/>
                    </a:ext>
                  </a:extLst>
                </a:gridCol>
                <a:gridCol w="3800965">
                  <a:extLst>
                    <a:ext uri="{9D8B030D-6E8A-4147-A177-3AD203B41FA5}">
                      <a16:colId xmlns:a16="http://schemas.microsoft.com/office/drawing/2014/main" val="2403543386"/>
                    </a:ext>
                  </a:extLst>
                </a:gridCol>
              </a:tblGrid>
              <a:tr h="1769159">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385"/>
                        </a:spcBef>
                      </a:pPr>
                      <a:endParaRPr sz="1600" b="1" dirty="0">
                        <a:latin typeface="Times New Roman"/>
                        <a:cs typeface="Times New Roman"/>
                      </a:endParaRPr>
                    </a:p>
                    <a:p>
                      <a:pPr marR="70485" algn="ctr">
                        <a:lnSpc>
                          <a:spcPct val="100000"/>
                        </a:lnSpc>
                      </a:pPr>
                      <a:r>
                        <a:rPr lang="en-US" sz="1600" b="1" spc="-25" dirty="0">
                          <a:solidFill>
                            <a:srgbClr val="1F1F1F"/>
                          </a:solidFill>
                          <a:latin typeface="Calibri"/>
                          <a:cs typeface="Calibri"/>
                        </a:rPr>
                        <a:t>[</a:t>
                      </a:r>
                      <a:r>
                        <a:rPr sz="1600" b="1" spc="-25" dirty="0">
                          <a:solidFill>
                            <a:srgbClr val="1F1F1F"/>
                          </a:solidFill>
                          <a:latin typeface="Calibri"/>
                          <a:cs typeface="Calibri"/>
                        </a:rPr>
                        <a:t>6</a:t>
                      </a:r>
                      <a:r>
                        <a:rPr lang="en-US" sz="1600" b="1" spc="-25" dirty="0">
                          <a:solidFill>
                            <a:srgbClr val="1F1F1F"/>
                          </a:solidFill>
                          <a:latin typeface="Calibri"/>
                          <a:cs typeface="Calibri"/>
                        </a:rPr>
                        <a:t>]</a:t>
                      </a:r>
                      <a:endParaRPr sz="1600" b="1" dirty="0">
                        <a:latin typeface="Calibri"/>
                        <a:cs typeface="Calibri"/>
                      </a:endParaRPr>
                    </a:p>
                  </a:txBody>
                  <a:tcPr marL="0" marR="0" marT="0" marB="0"/>
                </a:tc>
                <a:tc>
                  <a:txBody>
                    <a:bodyPr/>
                    <a:lstStyle/>
                    <a:p>
                      <a:pPr>
                        <a:lnSpc>
                          <a:spcPct val="100000"/>
                        </a:lnSpc>
                        <a:spcBef>
                          <a:spcPts val="1185"/>
                        </a:spcBef>
                      </a:pPr>
                      <a:r>
                        <a:rPr lang="en-US" sz="1600" b="1" dirty="0"/>
                        <a:t>On-Body Reduced Size AMC Design for Lowering Specific Absorption Rate in Wearable Antenna Application</a:t>
                      </a:r>
                      <a:endParaRPr sz="1600" b="1" dirty="0">
                        <a:latin typeface="Times New Roman"/>
                        <a:cs typeface="Times New Roman"/>
                      </a:endParaRPr>
                    </a:p>
                  </a:txBody>
                  <a:tcPr marL="108000" marR="0" marT="396000" marB="0"/>
                </a:tc>
                <a:tc>
                  <a:txBody>
                    <a:bodyPr/>
                    <a:lstStyle/>
                    <a:p>
                      <a:pPr>
                        <a:lnSpc>
                          <a:spcPct val="100000"/>
                        </a:lnSpc>
                      </a:pPr>
                      <a:r>
                        <a:rPr lang="en-US" sz="1600" b="0" dirty="0">
                          <a:latin typeface="Times New Roman"/>
                          <a:cs typeface="Times New Roman"/>
                        </a:rPr>
                        <a:t> </a:t>
                      </a:r>
                      <a:r>
                        <a:rPr lang="en-IN" sz="1600" b="0" dirty="0" err="1"/>
                        <a:t>Biragathis</a:t>
                      </a:r>
                      <a:r>
                        <a:rPr lang="en-IN" sz="1600" b="0" dirty="0"/>
                        <a:t> Babu, </a:t>
                      </a:r>
                      <a:r>
                        <a:rPr lang="en-IN" sz="1600" b="0" dirty="0" err="1"/>
                        <a:t>DiviyaDevi</a:t>
                      </a:r>
                      <a:r>
                        <a:rPr lang="en-IN" sz="1600" b="0" dirty="0"/>
                        <a:t> Paramasivam, Raimi Dewan, Noor </a:t>
                      </a:r>
                      <a:r>
                        <a:rPr lang="en-IN" sz="1600" b="0" dirty="0" err="1"/>
                        <a:t>Asmawati</a:t>
                      </a:r>
                      <a:r>
                        <a:rPr lang="en-IN" sz="1600" b="0" dirty="0"/>
                        <a:t> Samsuri and Nazirah Othman</a:t>
                      </a:r>
                      <a:endParaRPr sz="1600" b="0" dirty="0">
                        <a:latin typeface="Times New Roman"/>
                        <a:cs typeface="Times New Roman"/>
                      </a:endParaRPr>
                    </a:p>
                  </a:txBody>
                  <a:tcPr marL="108000" marR="0" marT="288000" marB="0"/>
                </a:tc>
                <a:tc>
                  <a:txBody>
                    <a:bodyPr/>
                    <a:lstStyle/>
                    <a:p>
                      <a:pPr marL="0" marR="0" lvl="0" indent="0" defTabSz="914400" eaLnBrk="1" fontAlgn="auto" latinLnBrk="0" hangingPunct="1">
                        <a:lnSpc>
                          <a:spcPct val="100000"/>
                        </a:lnSpc>
                        <a:spcBef>
                          <a:spcPts val="225"/>
                        </a:spcBef>
                        <a:spcAft>
                          <a:spcPts val="0"/>
                        </a:spcAft>
                        <a:buClrTx/>
                        <a:buSzTx/>
                        <a:buFontTx/>
                        <a:buNone/>
                        <a:tabLst/>
                        <a:defRPr/>
                      </a:pPr>
                      <a:r>
                        <a:rPr lang="en-US" sz="1600" b="0" dirty="0">
                          <a:latin typeface="Times New Roman"/>
                          <a:cs typeface="Times New Roman"/>
                        </a:rPr>
                        <a:t> </a:t>
                      </a:r>
                      <a:r>
                        <a:rPr lang="en-US" sz="1600" b="0" dirty="0"/>
                        <a:t>Compact AMC-backed wearable antenna reduces SAR, improves gain and matching, and ensures stable performance under bending for safe WBAN use.</a:t>
                      </a:r>
                    </a:p>
                  </a:txBody>
                  <a:tcPr marL="108000" marR="0" marT="216000" marB="0"/>
                </a:tc>
                <a:extLst>
                  <a:ext uri="{0D108BD9-81ED-4DB2-BD59-A6C34878D82A}">
                    <a16:rowId xmlns:a16="http://schemas.microsoft.com/office/drawing/2014/main" val="629749169"/>
                  </a:ext>
                </a:extLst>
              </a:tr>
              <a:tr h="1977296">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1210"/>
                        </a:spcBef>
                      </a:pPr>
                      <a:endParaRPr sz="1600" b="1" dirty="0">
                        <a:latin typeface="Times New Roman"/>
                        <a:cs typeface="Times New Roman"/>
                      </a:endParaRPr>
                    </a:p>
                    <a:p>
                      <a:pPr marR="70485" algn="ctr">
                        <a:lnSpc>
                          <a:spcPct val="100000"/>
                        </a:lnSpc>
                      </a:pPr>
                      <a:r>
                        <a:rPr lang="en-US" sz="1600" b="1" spc="-25" dirty="0">
                          <a:latin typeface="Calibri"/>
                          <a:cs typeface="Calibri"/>
                        </a:rPr>
                        <a:t>[</a:t>
                      </a:r>
                      <a:r>
                        <a:rPr sz="1600" b="1" spc="-25" dirty="0">
                          <a:latin typeface="Calibri"/>
                          <a:cs typeface="Calibri"/>
                        </a:rPr>
                        <a:t>7</a:t>
                      </a:r>
                      <a:r>
                        <a:rPr lang="en-US" sz="1600" b="1" spc="-25" dirty="0">
                          <a:latin typeface="Calibri"/>
                          <a:cs typeface="Calibri"/>
                        </a:rPr>
                        <a:t>]</a:t>
                      </a:r>
                      <a:endParaRPr sz="1600" b="1" dirty="0">
                        <a:latin typeface="Calibri"/>
                        <a:cs typeface="Calibri"/>
                      </a:endParaRPr>
                    </a:p>
                  </a:txBody>
                  <a:tcPr marL="0" marR="0" marT="0" marB="0"/>
                </a:tc>
                <a:tc>
                  <a:txBody>
                    <a:bodyPr/>
                    <a:lstStyle/>
                    <a:p>
                      <a:pPr>
                        <a:lnSpc>
                          <a:spcPct val="100000"/>
                        </a:lnSpc>
                      </a:pPr>
                      <a:endParaRPr sz="1600" b="1" dirty="0">
                        <a:latin typeface="Times New Roman"/>
                        <a:cs typeface="Times New Roman"/>
                      </a:endParaRPr>
                    </a:p>
                    <a:p>
                      <a:pPr>
                        <a:lnSpc>
                          <a:spcPct val="100000"/>
                        </a:lnSpc>
                        <a:spcBef>
                          <a:spcPts val="165"/>
                        </a:spcBef>
                      </a:pPr>
                      <a:r>
                        <a:rPr lang="en-US" sz="1600" b="1" dirty="0"/>
                        <a:t>Textile Antenna with Dual Bands and SAR Measurements for Wearable Communication</a:t>
                      </a:r>
                      <a:endParaRPr sz="1600" b="1" dirty="0">
                        <a:latin typeface="Times New Roman"/>
                        <a:cs typeface="Times New Roman"/>
                      </a:endParaRPr>
                    </a:p>
                  </a:txBody>
                  <a:tcPr marL="108000" marR="0" marT="108000" marB="0"/>
                </a:tc>
                <a:tc>
                  <a:txBody>
                    <a:bodyPr/>
                    <a:lstStyle/>
                    <a:p>
                      <a:pPr>
                        <a:lnSpc>
                          <a:spcPct val="100000"/>
                        </a:lnSpc>
                      </a:pPr>
                      <a:r>
                        <a:rPr lang="en-IN" sz="1600" dirty="0"/>
                        <a:t>Mahmoud A. </a:t>
                      </a:r>
                      <a:r>
                        <a:rPr lang="en-IN" sz="1600" dirty="0" err="1"/>
                        <a:t>Abdelghany</a:t>
                      </a:r>
                      <a:r>
                        <a:rPr lang="en-IN" sz="1600" dirty="0"/>
                        <a:t>, Mohamed I. Ahmed, Ahmed A. Ibrahim, Arpan Desai and Mai F. Ahmed</a:t>
                      </a:r>
                      <a:endParaRPr sz="1600" dirty="0">
                        <a:latin typeface="Times New Roman"/>
                        <a:cs typeface="Times New Roman"/>
                      </a:endParaRPr>
                    </a:p>
                  </a:txBody>
                  <a:tcPr marL="108000" marR="0" marT="360000" marB="0"/>
                </a:tc>
                <a:tc>
                  <a:txBody>
                    <a:bodyPr/>
                    <a:lstStyle/>
                    <a:p>
                      <a:pPr marL="0" marR="0" lvl="0" indent="0" defTabSz="914400" eaLnBrk="1" fontAlgn="auto" latinLnBrk="0" hangingPunct="1">
                        <a:lnSpc>
                          <a:spcPct val="100000"/>
                        </a:lnSpc>
                        <a:spcBef>
                          <a:spcPts val="85"/>
                        </a:spcBef>
                        <a:spcAft>
                          <a:spcPts val="0"/>
                        </a:spcAft>
                        <a:buClrTx/>
                        <a:buSzTx/>
                        <a:buFontTx/>
                        <a:buNone/>
                        <a:tabLst/>
                        <a:defRPr/>
                      </a:pPr>
                      <a:r>
                        <a:rPr lang="en-US" sz="1600" dirty="0"/>
                        <a:t>Dual-band textile antenna with CPW feed ensures stable gain, bandwidth, and SAR safety, maintaining performance under bending for WBAN healthcare use.</a:t>
                      </a:r>
                    </a:p>
                  </a:txBody>
                  <a:tcPr marL="108000" marR="0" marT="360000" marB="0"/>
                </a:tc>
                <a:extLst>
                  <a:ext uri="{0D108BD9-81ED-4DB2-BD59-A6C34878D82A}">
                    <a16:rowId xmlns:a16="http://schemas.microsoft.com/office/drawing/2014/main" val="3594013042"/>
                  </a:ext>
                </a:extLst>
              </a:tr>
              <a:tr h="1951279">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1105"/>
                        </a:spcBef>
                      </a:pPr>
                      <a:endParaRPr sz="1600" b="1" dirty="0">
                        <a:latin typeface="Times New Roman"/>
                        <a:cs typeface="Times New Roman"/>
                      </a:endParaRPr>
                    </a:p>
                    <a:p>
                      <a:pPr marR="70485" algn="ctr">
                        <a:lnSpc>
                          <a:spcPct val="100000"/>
                        </a:lnSpc>
                        <a:spcBef>
                          <a:spcPts val="5"/>
                        </a:spcBef>
                      </a:pPr>
                      <a:r>
                        <a:rPr lang="en-US" sz="1600" b="1" spc="-25" dirty="0">
                          <a:latin typeface="Calibri"/>
                          <a:cs typeface="Calibri"/>
                        </a:rPr>
                        <a:t>[</a:t>
                      </a:r>
                      <a:r>
                        <a:rPr sz="1600" b="1" spc="-25" dirty="0">
                          <a:latin typeface="Calibri"/>
                          <a:cs typeface="Calibri"/>
                        </a:rPr>
                        <a:t>8</a:t>
                      </a:r>
                      <a:r>
                        <a:rPr lang="en-US" sz="1600" b="1" spc="-25" dirty="0">
                          <a:latin typeface="Calibri"/>
                          <a:cs typeface="Calibri"/>
                        </a:rPr>
                        <a:t>]</a:t>
                      </a:r>
                      <a:endParaRPr sz="1600" b="1" dirty="0">
                        <a:latin typeface="Calibri"/>
                        <a:cs typeface="Calibri"/>
                      </a:endParaRPr>
                    </a:p>
                  </a:txBody>
                  <a:tcPr marL="0" marR="0" marT="0" marB="0"/>
                </a:tc>
                <a:tc>
                  <a:txBody>
                    <a:bodyPr/>
                    <a:lstStyle/>
                    <a:p>
                      <a:pPr>
                        <a:lnSpc>
                          <a:spcPct val="100000"/>
                        </a:lnSpc>
                      </a:pPr>
                      <a:endParaRPr sz="1600" b="1" dirty="0">
                        <a:latin typeface="Times New Roman"/>
                        <a:cs typeface="Times New Roman"/>
                      </a:endParaRPr>
                    </a:p>
                    <a:p>
                      <a:pPr>
                        <a:lnSpc>
                          <a:spcPct val="100000"/>
                        </a:lnSpc>
                        <a:spcBef>
                          <a:spcPts val="65"/>
                        </a:spcBef>
                      </a:pPr>
                      <a:r>
                        <a:rPr lang="en-IN" sz="1600" b="1" dirty="0"/>
                        <a:t>Wearable Textile Antenna on Jean Substrate for On-Body Wireless Communication Applications</a:t>
                      </a:r>
                      <a:endParaRPr sz="1600" b="1" dirty="0">
                        <a:latin typeface="Times New Roman"/>
                        <a:cs typeface="Times New Roman"/>
                      </a:endParaRPr>
                    </a:p>
                  </a:txBody>
                  <a:tcPr marL="108000" marR="0" marT="252000" marB="0"/>
                </a:tc>
                <a:tc>
                  <a:txBody>
                    <a:bodyPr/>
                    <a:lstStyle/>
                    <a:p>
                      <a:pPr>
                        <a:lnSpc>
                          <a:spcPct val="100000"/>
                        </a:lnSpc>
                      </a:pPr>
                      <a:endParaRPr lang="en-US" sz="1600" dirty="0">
                        <a:latin typeface="Times New Roman"/>
                        <a:cs typeface="Times New Roman"/>
                      </a:endParaRPr>
                    </a:p>
                    <a:p>
                      <a:pPr>
                        <a:lnSpc>
                          <a:spcPct val="100000"/>
                        </a:lnSpc>
                      </a:pPr>
                      <a:r>
                        <a:rPr lang="fi-FI" sz="1600" dirty="0"/>
                        <a:t>Meena Kumari Mulaparti and U.V. Ratna Kumari</a:t>
                      </a:r>
                      <a:endParaRPr sz="1600" dirty="0">
                        <a:latin typeface="Times New Roman"/>
                        <a:cs typeface="Times New Roman"/>
                      </a:endParaRPr>
                    </a:p>
                  </a:txBody>
                  <a:tcPr marL="108000" marR="0" marT="288000" marB="0"/>
                </a:tc>
                <a:tc>
                  <a:txBody>
                    <a:bodyPr/>
                    <a:lstStyle/>
                    <a:p>
                      <a:pPr marL="92075" marR="133985" lvl="0" indent="0" defTabSz="914400" eaLnBrk="1" fontAlgn="auto" latinLnBrk="0" hangingPunct="1">
                        <a:lnSpc>
                          <a:spcPct val="100000"/>
                        </a:lnSpc>
                        <a:spcBef>
                          <a:spcPts val="1825"/>
                        </a:spcBef>
                        <a:spcAft>
                          <a:spcPts val="0"/>
                        </a:spcAft>
                        <a:buClrTx/>
                        <a:buSzTx/>
                        <a:buFontTx/>
                        <a:buNone/>
                        <a:tabLst/>
                        <a:defRPr/>
                      </a:pPr>
                      <a:r>
                        <a:rPr lang="en-US" sz="1600" dirty="0"/>
                        <a:t>Jean-based textile antenna with CPW feed offers stable gain, matching, and low SAR, maintaining performance under bending for WBAN and healthcare use.</a:t>
                      </a:r>
                    </a:p>
                  </a:txBody>
                  <a:tcPr marL="0" marR="0" marT="360000" marB="0"/>
                </a:tc>
                <a:extLst>
                  <a:ext uri="{0D108BD9-81ED-4DB2-BD59-A6C34878D82A}">
                    <a16:rowId xmlns:a16="http://schemas.microsoft.com/office/drawing/2014/main" val="3754366100"/>
                  </a:ext>
                </a:extLst>
              </a:tr>
            </a:tbl>
          </a:graphicData>
        </a:graphic>
      </p:graphicFrame>
    </p:spTree>
    <p:extLst>
      <p:ext uri="{BB962C8B-B14F-4D97-AF65-F5344CB8AC3E}">
        <p14:creationId xmlns:p14="http://schemas.microsoft.com/office/powerpoint/2010/main" val="4166556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57B65-A52C-8C3D-F2D4-C7CE4B079858}"/>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AEDC767-3007-333F-BEE2-CEAFF1DF0A19}"/>
              </a:ext>
            </a:extLst>
          </p:cNvPr>
          <p:cNvGraphicFramePr>
            <a:graphicFrameLocks noGrp="1"/>
          </p:cNvGraphicFramePr>
          <p:nvPr>
            <p:ph idx="1"/>
            <p:extLst>
              <p:ext uri="{D42A27DB-BD31-4B8C-83A1-F6EECF244321}">
                <p14:modId xmlns:p14="http://schemas.microsoft.com/office/powerpoint/2010/main" val="290624893"/>
              </p:ext>
            </p:extLst>
          </p:nvPr>
        </p:nvGraphicFramePr>
        <p:xfrm>
          <a:off x="838200" y="213640"/>
          <a:ext cx="10412668" cy="5215953"/>
        </p:xfrm>
        <a:graphic>
          <a:graphicData uri="http://schemas.openxmlformats.org/drawingml/2006/table">
            <a:tbl>
              <a:tblPr firstRow="1" bandRow="1">
                <a:tableStyleId>{E8B1032C-EA38-4F05-BA0D-38AFFFC7BED3}</a:tableStyleId>
              </a:tblPr>
              <a:tblGrid>
                <a:gridCol w="464503">
                  <a:extLst>
                    <a:ext uri="{9D8B030D-6E8A-4147-A177-3AD203B41FA5}">
                      <a16:colId xmlns:a16="http://schemas.microsoft.com/office/drawing/2014/main" val="743592034"/>
                    </a:ext>
                  </a:extLst>
                </a:gridCol>
                <a:gridCol w="3581311">
                  <a:extLst>
                    <a:ext uri="{9D8B030D-6E8A-4147-A177-3AD203B41FA5}">
                      <a16:colId xmlns:a16="http://schemas.microsoft.com/office/drawing/2014/main" val="810700651"/>
                    </a:ext>
                  </a:extLst>
                </a:gridCol>
                <a:gridCol w="2931736">
                  <a:extLst>
                    <a:ext uri="{9D8B030D-6E8A-4147-A177-3AD203B41FA5}">
                      <a16:colId xmlns:a16="http://schemas.microsoft.com/office/drawing/2014/main" val="3384285512"/>
                    </a:ext>
                  </a:extLst>
                </a:gridCol>
                <a:gridCol w="3435118">
                  <a:extLst>
                    <a:ext uri="{9D8B030D-6E8A-4147-A177-3AD203B41FA5}">
                      <a16:colId xmlns:a16="http://schemas.microsoft.com/office/drawing/2014/main" val="2403543386"/>
                    </a:ext>
                  </a:extLst>
                </a:gridCol>
              </a:tblGrid>
              <a:tr h="1709961">
                <a:tc>
                  <a:txBody>
                    <a:bodyPr/>
                    <a:lstStyle/>
                    <a:p>
                      <a:pPr>
                        <a:lnSpc>
                          <a:spcPct val="100000"/>
                        </a:lnSpc>
                      </a:pPr>
                      <a:endParaRPr sz="1600" dirty="0">
                        <a:latin typeface="Times New Roman"/>
                        <a:cs typeface="Times New Roman"/>
                      </a:endParaRPr>
                    </a:p>
                    <a:p>
                      <a:pPr>
                        <a:lnSpc>
                          <a:spcPct val="100000"/>
                        </a:lnSpc>
                        <a:spcBef>
                          <a:spcPts val="1380"/>
                        </a:spcBef>
                      </a:pPr>
                      <a:endParaRPr sz="1600" dirty="0">
                        <a:latin typeface="Times New Roman"/>
                        <a:cs typeface="Times New Roman"/>
                      </a:endParaRPr>
                    </a:p>
                    <a:p>
                      <a:pPr marL="91440">
                        <a:lnSpc>
                          <a:spcPct val="100000"/>
                        </a:lnSpc>
                      </a:pPr>
                      <a:r>
                        <a:rPr lang="en-US" sz="1600" spc="-50" dirty="0">
                          <a:latin typeface="Calibri"/>
                          <a:cs typeface="Calibri"/>
                        </a:rPr>
                        <a:t>[</a:t>
                      </a:r>
                      <a:r>
                        <a:rPr sz="1600" spc="-50" dirty="0">
                          <a:latin typeface="Calibri"/>
                          <a:cs typeface="Calibri"/>
                        </a:rPr>
                        <a:t>9</a:t>
                      </a:r>
                      <a:r>
                        <a:rPr lang="en-US" sz="1600" spc="-50" dirty="0">
                          <a:latin typeface="Calibri"/>
                          <a:cs typeface="Calibri"/>
                        </a:rPr>
                        <a:t>]</a:t>
                      </a:r>
                      <a:endParaRPr sz="1600" dirty="0">
                        <a:latin typeface="Calibri"/>
                        <a:cs typeface="Calibri"/>
                      </a:endParaRPr>
                    </a:p>
                  </a:txBody>
                  <a:tcPr marL="0" marR="0" marT="0" marB="0"/>
                </a:tc>
                <a:tc>
                  <a:txBody>
                    <a:bodyPr/>
                    <a:lstStyle/>
                    <a:p>
                      <a:pPr>
                        <a:lnSpc>
                          <a:spcPct val="100000"/>
                        </a:lnSpc>
                        <a:spcBef>
                          <a:spcPts val="340"/>
                        </a:spcBef>
                      </a:pPr>
                      <a:r>
                        <a:rPr lang="en-US" sz="1600" dirty="0"/>
                        <a:t>Engineering planar antenna using geometry arrangements for wireless communications and satellite applications</a:t>
                      </a:r>
                      <a:endParaRPr sz="1600" dirty="0">
                        <a:latin typeface="Times New Roman"/>
                        <a:cs typeface="Times New Roman"/>
                      </a:endParaRPr>
                    </a:p>
                  </a:txBody>
                  <a:tcPr marL="108000" marR="0" marT="324000" marB="0"/>
                </a:tc>
                <a:tc>
                  <a:txBody>
                    <a:bodyPr/>
                    <a:lstStyle/>
                    <a:p>
                      <a:pPr>
                        <a:lnSpc>
                          <a:spcPct val="100000"/>
                        </a:lnSpc>
                      </a:pPr>
                      <a:r>
                        <a:rPr lang="en-US" sz="1600" b="0" dirty="0">
                          <a:latin typeface="Times New Roman"/>
                          <a:cs typeface="Times New Roman"/>
                        </a:rPr>
                        <a:t> </a:t>
                      </a:r>
                    </a:p>
                    <a:p>
                      <a:pPr>
                        <a:lnSpc>
                          <a:spcPct val="100000"/>
                        </a:lnSpc>
                      </a:pPr>
                      <a:r>
                        <a:rPr lang="en-IN" sz="1600" b="0" dirty="0"/>
                        <a:t>Hesham A. El-Hakim and Hesham A. Mohamed</a:t>
                      </a:r>
                      <a:endParaRPr sz="1600" b="0" dirty="0">
                        <a:latin typeface="Times New Roman"/>
                        <a:cs typeface="Times New Roman"/>
                      </a:endParaRPr>
                    </a:p>
                  </a:txBody>
                  <a:tcPr marL="108000" marR="0" marT="180000" marB="0"/>
                </a:tc>
                <a:tc>
                  <a:txBody>
                    <a:bodyPr/>
                    <a:lstStyle/>
                    <a:p>
                      <a:pPr marL="92075" marR="114935" lvl="0" indent="0" defTabSz="914400" eaLnBrk="1" fontAlgn="auto" latinLnBrk="0" hangingPunct="1">
                        <a:lnSpc>
                          <a:spcPct val="100000"/>
                        </a:lnSpc>
                        <a:spcBef>
                          <a:spcPts val="260"/>
                        </a:spcBef>
                        <a:spcAft>
                          <a:spcPts val="0"/>
                        </a:spcAft>
                        <a:buClrTx/>
                        <a:buSzTx/>
                        <a:buFontTx/>
                        <a:buNone/>
                        <a:tabLst/>
                        <a:defRPr/>
                      </a:pPr>
                      <a:r>
                        <a:rPr lang="en-US" sz="1600" b="0" dirty="0"/>
                        <a:t>Triple-band microstrip antenna (2.45, 6, 14 GHz) offers stable gain, improved bandwidth, and return loss, supporting WiMAX, WLAN, and radar systems.</a:t>
                      </a:r>
                    </a:p>
                  </a:txBody>
                  <a:tcPr marL="36000" marR="0" marT="216000" marB="0"/>
                </a:tc>
                <a:extLst>
                  <a:ext uri="{0D108BD9-81ED-4DB2-BD59-A6C34878D82A}">
                    <a16:rowId xmlns:a16="http://schemas.microsoft.com/office/drawing/2014/main" val="629749169"/>
                  </a:ext>
                </a:extLst>
              </a:tr>
              <a:tr h="1752852">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505"/>
                        </a:spcBef>
                      </a:pPr>
                      <a:endParaRPr sz="1600" b="1" dirty="0">
                        <a:latin typeface="Times New Roman"/>
                        <a:cs typeface="Times New Roman"/>
                      </a:endParaRPr>
                    </a:p>
                    <a:p>
                      <a:pPr marL="91440">
                        <a:lnSpc>
                          <a:spcPct val="100000"/>
                        </a:lnSpc>
                      </a:pPr>
                      <a:r>
                        <a:rPr lang="en-US" sz="1600" b="1" spc="-25" dirty="0">
                          <a:latin typeface="Calibri"/>
                          <a:cs typeface="Calibri"/>
                        </a:rPr>
                        <a:t>[</a:t>
                      </a:r>
                      <a:r>
                        <a:rPr sz="1600" b="1" spc="-25" dirty="0">
                          <a:latin typeface="Calibri"/>
                          <a:cs typeface="Calibri"/>
                        </a:rPr>
                        <a:t>10</a:t>
                      </a:r>
                      <a:r>
                        <a:rPr lang="en-US" sz="1600" b="1" spc="-25" dirty="0">
                          <a:latin typeface="Calibri"/>
                          <a:cs typeface="Calibri"/>
                        </a:rPr>
                        <a:t>]</a:t>
                      </a:r>
                      <a:endParaRPr sz="1600" b="1" dirty="0">
                        <a:latin typeface="Calibri"/>
                        <a:cs typeface="Calibri"/>
                      </a:endParaRPr>
                    </a:p>
                  </a:txBody>
                  <a:tcPr marL="0" marR="0" marT="0" marB="0"/>
                </a:tc>
                <a:tc>
                  <a:txBody>
                    <a:bodyPr/>
                    <a:lstStyle/>
                    <a:p>
                      <a:pPr>
                        <a:lnSpc>
                          <a:spcPct val="100000"/>
                        </a:lnSpc>
                        <a:spcBef>
                          <a:spcPts val="1300"/>
                        </a:spcBef>
                      </a:pPr>
                      <a:r>
                        <a:rPr lang="en-US" sz="1600" b="1" dirty="0"/>
                        <a:t>Multiband and Low-Specific Absorption-Rate Wearable Antenna With Low Profile Based on Highly Conductive Graphene Assembled Film</a:t>
                      </a:r>
                      <a:endParaRPr sz="1600" b="1" dirty="0">
                        <a:latin typeface="Times New Roman"/>
                        <a:cs typeface="Times New Roman"/>
                      </a:endParaRPr>
                    </a:p>
                  </a:txBody>
                  <a:tcPr marL="108000" marR="0" marT="288000" marB="0"/>
                </a:tc>
                <a:tc>
                  <a:txBody>
                    <a:bodyPr/>
                    <a:lstStyle/>
                    <a:p>
                      <a:pPr lvl="0" algn="l">
                        <a:lnSpc>
                          <a:spcPct val="100000"/>
                        </a:lnSpc>
                      </a:pPr>
                      <a:r>
                        <a:rPr lang="en-IN" sz="1600" dirty="0"/>
                        <a:t>Yang Xiao, Haoran Zu, </a:t>
                      </a:r>
                      <a:r>
                        <a:rPr lang="en-IN" sz="1600" dirty="0" err="1"/>
                        <a:t>Rongguo</a:t>
                      </a:r>
                      <a:r>
                        <a:rPr lang="en-IN" sz="1600" dirty="0"/>
                        <a:t> Song, Yitong Xin, </a:t>
                      </a:r>
                      <a:r>
                        <a:rPr lang="en-IN" sz="1600" dirty="0" err="1"/>
                        <a:t>Yueyue</a:t>
                      </a:r>
                      <a:r>
                        <a:rPr lang="en-IN" sz="1600" dirty="0"/>
                        <a:t> Xi, Guan Long Huang, Bian Wu and </a:t>
                      </a:r>
                      <a:r>
                        <a:rPr lang="en-IN" sz="1600" dirty="0" err="1"/>
                        <a:t>Daping</a:t>
                      </a:r>
                      <a:r>
                        <a:rPr lang="en-IN" sz="1600" dirty="0"/>
                        <a:t> He</a:t>
                      </a:r>
                      <a:endParaRPr sz="1600" dirty="0">
                        <a:latin typeface="Times New Roman"/>
                        <a:cs typeface="Times New Roman"/>
                      </a:endParaRPr>
                    </a:p>
                  </a:txBody>
                  <a:tcPr marL="108000" marR="0" marT="288000" marB="0"/>
                </a:tc>
                <a:tc>
                  <a:txBody>
                    <a:bodyPr/>
                    <a:lstStyle/>
                    <a:p>
                      <a:pPr marL="92075" marR="231775" lvl="0" indent="0" defTabSz="914400" eaLnBrk="1" fontAlgn="auto" latinLnBrk="0" hangingPunct="1">
                        <a:lnSpc>
                          <a:spcPct val="100000"/>
                        </a:lnSpc>
                        <a:spcBef>
                          <a:spcPts val="260"/>
                        </a:spcBef>
                        <a:spcAft>
                          <a:spcPts val="0"/>
                        </a:spcAft>
                        <a:buClrTx/>
                        <a:buSzTx/>
                        <a:buFontTx/>
                        <a:buNone/>
                        <a:tabLst/>
                        <a:defRPr/>
                      </a:pPr>
                      <a:r>
                        <a:rPr lang="en-US" sz="1600" dirty="0"/>
                        <a:t>Low-profile graphene wearable antenna on PDMS offers multiband operation, stable gain, flexibility, and reduced SAR for safe WBAN biomedical use.</a:t>
                      </a:r>
                    </a:p>
                  </a:txBody>
                  <a:tcPr marL="36000" marR="0" marT="252000" marB="0"/>
                </a:tc>
                <a:extLst>
                  <a:ext uri="{0D108BD9-81ED-4DB2-BD59-A6C34878D82A}">
                    <a16:rowId xmlns:a16="http://schemas.microsoft.com/office/drawing/2014/main" val="3594013042"/>
                  </a:ext>
                </a:extLst>
              </a:tr>
              <a:tr h="1752852">
                <a:tc>
                  <a:txBody>
                    <a:bodyPr/>
                    <a:lstStyle/>
                    <a:p>
                      <a:pPr marL="91440">
                        <a:lnSpc>
                          <a:spcPct val="100000"/>
                        </a:lnSpc>
                      </a:pPr>
                      <a:endParaRPr lang="en-US" sz="1600" b="1" dirty="0">
                        <a:latin typeface="Calibri"/>
                        <a:cs typeface="Calibri"/>
                      </a:endParaRPr>
                    </a:p>
                    <a:p>
                      <a:pPr marL="91440">
                        <a:lnSpc>
                          <a:spcPct val="100000"/>
                        </a:lnSpc>
                      </a:pPr>
                      <a:endParaRPr lang="en-US" sz="1600" b="1" dirty="0">
                        <a:latin typeface="Calibri"/>
                        <a:cs typeface="Calibri"/>
                      </a:endParaRPr>
                    </a:p>
                    <a:p>
                      <a:pPr marL="91440">
                        <a:lnSpc>
                          <a:spcPct val="100000"/>
                        </a:lnSpc>
                      </a:pPr>
                      <a:endParaRPr lang="en-US" sz="1600" b="1" dirty="0">
                        <a:latin typeface="Calibri"/>
                        <a:cs typeface="Calibri"/>
                      </a:endParaRPr>
                    </a:p>
                    <a:p>
                      <a:pPr marL="91440">
                        <a:lnSpc>
                          <a:spcPct val="100000"/>
                        </a:lnSpc>
                      </a:pPr>
                      <a:r>
                        <a:rPr lang="en-US" sz="1600" b="1" dirty="0">
                          <a:latin typeface="Calibri"/>
                          <a:cs typeface="Calibri"/>
                        </a:rPr>
                        <a:t>[11]</a:t>
                      </a:r>
                      <a:endParaRPr sz="1600" b="1" dirty="0">
                        <a:latin typeface="Calibri"/>
                        <a:cs typeface="Calibri"/>
                      </a:endParaRPr>
                    </a:p>
                  </a:txBody>
                  <a:tcPr marL="0" marR="0" marT="0" marB="0"/>
                </a:tc>
                <a:tc>
                  <a:txBody>
                    <a:bodyPr/>
                    <a:lstStyle/>
                    <a:p>
                      <a:pPr>
                        <a:lnSpc>
                          <a:spcPct val="100000"/>
                        </a:lnSpc>
                        <a:spcBef>
                          <a:spcPts val="1300"/>
                        </a:spcBef>
                      </a:pPr>
                      <a:r>
                        <a:rPr lang="en-US" sz="1600" b="1" dirty="0"/>
                        <a:t>Compact conformal tattoo-polymer antenna for on-body wireless power transfer</a:t>
                      </a:r>
                      <a:endParaRPr sz="1600" b="1" dirty="0">
                        <a:latin typeface="Times New Roman"/>
                        <a:cs typeface="Times New Roman"/>
                      </a:endParaRPr>
                    </a:p>
                  </a:txBody>
                  <a:tcPr marL="108000" marR="0" marT="288000" marB="0"/>
                </a:tc>
                <a:tc>
                  <a:txBody>
                    <a:bodyPr/>
                    <a:lstStyle/>
                    <a:p>
                      <a:pPr lvl="0" algn="l">
                        <a:lnSpc>
                          <a:spcPct val="100000"/>
                        </a:lnSpc>
                      </a:pPr>
                      <a:r>
                        <a:rPr lang="en-IN" sz="1600" dirty="0"/>
                        <a:t>Xi Liang Chang, Pei Song Chee, Eng Hock Lim</a:t>
                      </a:r>
                      <a:endParaRPr sz="1600" dirty="0">
                        <a:latin typeface="Times New Roman"/>
                        <a:cs typeface="Times New Roman"/>
                      </a:endParaRPr>
                    </a:p>
                  </a:txBody>
                  <a:tcPr marL="108000" marR="0" marT="288000" marB="0"/>
                </a:tc>
                <a:tc>
                  <a:txBody>
                    <a:bodyPr/>
                    <a:lstStyle/>
                    <a:p>
                      <a:pPr marL="92075" marR="231775" lvl="0" indent="0" algn="l" defTabSz="914400" rtl="0" eaLnBrk="1" fontAlgn="auto" latinLnBrk="0" hangingPunct="1">
                        <a:lnSpc>
                          <a:spcPct val="100000"/>
                        </a:lnSpc>
                        <a:spcBef>
                          <a:spcPts val="260"/>
                        </a:spcBef>
                        <a:spcAft>
                          <a:spcPts val="0"/>
                        </a:spcAft>
                        <a:buClrTx/>
                        <a:buSzTx/>
                        <a:buFontTx/>
                        <a:buNone/>
                        <a:tabLst/>
                        <a:defRPr/>
                      </a:pPr>
                      <a:r>
                        <a:rPr lang="en-US" sz="1600" dirty="0"/>
                        <a:t>Compact tattoo-polymer antenna on PDMS enables flexible, low-SAR wireless power transfer with stable performance for wearable WBAN devices.</a:t>
                      </a:r>
                    </a:p>
                    <a:p>
                      <a:pPr marL="92075" marR="231775" lvl="0" indent="0" defTabSz="914400" eaLnBrk="1" fontAlgn="auto" latinLnBrk="0" hangingPunct="1">
                        <a:lnSpc>
                          <a:spcPct val="100000"/>
                        </a:lnSpc>
                        <a:spcBef>
                          <a:spcPts val="260"/>
                        </a:spcBef>
                        <a:spcAft>
                          <a:spcPts val="0"/>
                        </a:spcAft>
                        <a:buClrTx/>
                        <a:buSzTx/>
                        <a:buFontTx/>
                        <a:buNone/>
                        <a:tabLst/>
                        <a:defRPr/>
                      </a:pPr>
                      <a:endParaRPr lang="en-US" sz="1600" dirty="0"/>
                    </a:p>
                  </a:txBody>
                  <a:tcPr marL="36000" marR="0" marT="252000" marB="0"/>
                </a:tc>
                <a:extLst>
                  <a:ext uri="{0D108BD9-81ED-4DB2-BD59-A6C34878D82A}">
                    <a16:rowId xmlns:a16="http://schemas.microsoft.com/office/drawing/2014/main" val="4084587870"/>
                  </a:ext>
                </a:extLst>
              </a:tr>
            </a:tbl>
          </a:graphicData>
        </a:graphic>
      </p:graphicFrame>
    </p:spTree>
    <p:extLst>
      <p:ext uri="{BB962C8B-B14F-4D97-AF65-F5344CB8AC3E}">
        <p14:creationId xmlns:p14="http://schemas.microsoft.com/office/powerpoint/2010/main" val="967460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E0444-8127-D3AC-D563-3C8D7811B748}"/>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4F65D8A-AA32-3E62-3258-A94FB53D262B}"/>
              </a:ext>
            </a:extLst>
          </p:cNvPr>
          <p:cNvGraphicFramePr>
            <a:graphicFrameLocks noGrp="1"/>
          </p:cNvGraphicFramePr>
          <p:nvPr>
            <p:ph idx="1"/>
            <p:extLst>
              <p:ext uri="{D42A27DB-BD31-4B8C-83A1-F6EECF244321}">
                <p14:modId xmlns:p14="http://schemas.microsoft.com/office/powerpoint/2010/main" val="2975776612"/>
              </p:ext>
            </p:extLst>
          </p:nvPr>
        </p:nvGraphicFramePr>
        <p:xfrm>
          <a:off x="838200" y="213640"/>
          <a:ext cx="10425368" cy="5215953"/>
        </p:xfrm>
        <a:graphic>
          <a:graphicData uri="http://schemas.openxmlformats.org/drawingml/2006/table">
            <a:tbl>
              <a:tblPr firstRow="1" bandRow="1">
                <a:tableStyleId>{E8B1032C-EA38-4F05-BA0D-38AFFFC7BED3}</a:tableStyleId>
              </a:tblPr>
              <a:tblGrid>
                <a:gridCol w="477203">
                  <a:extLst>
                    <a:ext uri="{9D8B030D-6E8A-4147-A177-3AD203B41FA5}">
                      <a16:colId xmlns:a16="http://schemas.microsoft.com/office/drawing/2014/main" val="743592034"/>
                    </a:ext>
                  </a:extLst>
                </a:gridCol>
                <a:gridCol w="3581311">
                  <a:extLst>
                    <a:ext uri="{9D8B030D-6E8A-4147-A177-3AD203B41FA5}">
                      <a16:colId xmlns:a16="http://schemas.microsoft.com/office/drawing/2014/main" val="810700651"/>
                    </a:ext>
                  </a:extLst>
                </a:gridCol>
                <a:gridCol w="2931736">
                  <a:extLst>
                    <a:ext uri="{9D8B030D-6E8A-4147-A177-3AD203B41FA5}">
                      <a16:colId xmlns:a16="http://schemas.microsoft.com/office/drawing/2014/main" val="3384285512"/>
                    </a:ext>
                  </a:extLst>
                </a:gridCol>
                <a:gridCol w="3435118">
                  <a:extLst>
                    <a:ext uri="{9D8B030D-6E8A-4147-A177-3AD203B41FA5}">
                      <a16:colId xmlns:a16="http://schemas.microsoft.com/office/drawing/2014/main" val="2403543386"/>
                    </a:ext>
                  </a:extLst>
                </a:gridCol>
              </a:tblGrid>
              <a:tr h="1709961">
                <a:tc>
                  <a:txBody>
                    <a:bodyPr/>
                    <a:lstStyle/>
                    <a:p>
                      <a:pPr>
                        <a:lnSpc>
                          <a:spcPct val="100000"/>
                        </a:lnSpc>
                      </a:pPr>
                      <a:endParaRPr sz="1600" dirty="0">
                        <a:latin typeface="Times New Roman"/>
                        <a:cs typeface="Times New Roman"/>
                      </a:endParaRPr>
                    </a:p>
                    <a:p>
                      <a:pPr>
                        <a:lnSpc>
                          <a:spcPct val="100000"/>
                        </a:lnSpc>
                        <a:spcBef>
                          <a:spcPts val="1380"/>
                        </a:spcBef>
                      </a:pPr>
                      <a:endParaRPr sz="1600" dirty="0">
                        <a:latin typeface="Times New Roman"/>
                        <a:cs typeface="Times New Roman"/>
                      </a:endParaRPr>
                    </a:p>
                    <a:p>
                      <a:pPr marL="91440">
                        <a:lnSpc>
                          <a:spcPct val="100000"/>
                        </a:lnSpc>
                      </a:pPr>
                      <a:r>
                        <a:rPr lang="en-US" sz="1600" spc="-50" dirty="0">
                          <a:latin typeface="Calibri"/>
                          <a:cs typeface="Calibri"/>
                        </a:rPr>
                        <a:t>[12]</a:t>
                      </a:r>
                      <a:endParaRPr sz="1600" dirty="0">
                        <a:latin typeface="Calibri"/>
                        <a:cs typeface="Calibri"/>
                      </a:endParaRPr>
                    </a:p>
                  </a:txBody>
                  <a:tcPr marL="0" marR="0" marT="0" marB="0"/>
                </a:tc>
                <a:tc>
                  <a:txBody>
                    <a:bodyPr/>
                    <a:lstStyle/>
                    <a:p>
                      <a:pPr>
                        <a:lnSpc>
                          <a:spcPct val="100000"/>
                        </a:lnSpc>
                        <a:spcBef>
                          <a:spcPts val="340"/>
                        </a:spcBef>
                      </a:pPr>
                      <a:r>
                        <a:rPr lang="en-US" sz="1600" dirty="0"/>
                        <a:t>Flexible and frequency reconfigurable CPW-fed monopole antenna with frequency selective surface for IoT applications</a:t>
                      </a:r>
                      <a:endParaRPr sz="1600" dirty="0">
                        <a:latin typeface="Times New Roman"/>
                        <a:cs typeface="Times New Roman"/>
                      </a:endParaRPr>
                    </a:p>
                  </a:txBody>
                  <a:tcPr marL="108000" marR="0" marT="324000" marB="0"/>
                </a:tc>
                <a:tc>
                  <a:txBody>
                    <a:bodyPr/>
                    <a:lstStyle/>
                    <a:p>
                      <a:pPr>
                        <a:lnSpc>
                          <a:spcPct val="100000"/>
                        </a:lnSpc>
                      </a:pPr>
                      <a:r>
                        <a:rPr lang="en-US" sz="1600" b="0" dirty="0">
                          <a:latin typeface="Times New Roman"/>
                          <a:cs typeface="Times New Roman"/>
                        </a:rPr>
                        <a:t> </a:t>
                      </a:r>
                      <a:endParaRPr lang="en-US" sz="1600" b="1" dirty="0">
                        <a:latin typeface="Times New Roman"/>
                        <a:cs typeface="Times New Roman"/>
                      </a:endParaRPr>
                    </a:p>
                    <a:p>
                      <a:pPr>
                        <a:lnSpc>
                          <a:spcPct val="100000"/>
                        </a:lnSpc>
                      </a:pPr>
                      <a:r>
                        <a:rPr lang="en-US" sz="1600" b="0" dirty="0"/>
                        <a:t>Ahmed A. Ibrahim, Hesham A. Mohamed, Mahmoud A. </a:t>
                      </a:r>
                      <a:r>
                        <a:rPr lang="en-US" sz="1600" b="0" dirty="0" err="1"/>
                        <a:t>Abdelghany</a:t>
                      </a:r>
                      <a:r>
                        <a:rPr lang="en-US" sz="1600" b="0" dirty="0"/>
                        <a:t>, Emad </a:t>
                      </a:r>
                      <a:r>
                        <a:rPr lang="en-US" sz="1600" b="0" dirty="0" err="1"/>
                        <a:t>Tammam</a:t>
                      </a:r>
                      <a:endParaRPr sz="1600" b="0" dirty="0">
                        <a:latin typeface="Times New Roman"/>
                        <a:cs typeface="Times New Roman"/>
                      </a:endParaRPr>
                    </a:p>
                  </a:txBody>
                  <a:tcPr marL="108000" marR="0" marT="180000" marB="0"/>
                </a:tc>
                <a:tc>
                  <a:txBody>
                    <a:bodyPr/>
                    <a:lstStyle/>
                    <a:p>
                      <a:r>
                        <a:rPr lang="en-US" sz="1600" b="0" dirty="0"/>
                        <a:t>Flexible CPW-fed monopole with FSS offers multiband IoT operation, improved bandwidth, gain, and low SAR, maintaining stable performance under bending.</a:t>
                      </a:r>
                    </a:p>
                  </a:txBody>
                  <a:tcPr marL="36000" marR="0" marT="216000" marB="0"/>
                </a:tc>
                <a:extLst>
                  <a:ext uri="{0D108BD9-81ED-4DB2-BD59-A6C34878D82A}">
                    <a16:rowId xmlns:a16="http://schemas.microsoft.com/office/drawing/2014/main" val="629749169"/>
                  </a:ext>
                </a:extLst>
              </a:tr>
              <a:tr h="1752852">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505"/>
                        </a:spcBef>
                      </a:pPr>
                      <a:endParaRPr sz="1600" b="1" dirty="0">
                        <a:latin typeface="Times New Roman"/>
                        <a:cs typeface="Times New Roman"/>
                      </a:endParaRPr>
                    </a:p>
                    <a:p>
                      <a:pPr marL="91440">
                        <a:lnSpc>
                          <a:spcPct val="100000"/>
                        </a:lnSpc>
                      </a:pPr>
                      <a:r>
                        <a:rPr lang="en-US" sz="1600" b="1" spc="-25" dirty="0">
                          <a:latin typeface="Calibri"/>
                          <a:cs typeface="Calibri"/>
                        </a:rPr>
                        <a:t>[</a:t>
                      </a:r>
                      <a:r>
                        <a:rPr sz="1600" b="1" spc="-25" dirty="0">
                          <a:latin typeface="Calibri"/>
                          <a:cs typeface="Calibri"/>
                        </a:rPr>
                        <a:t>1</a:t>
                      </a:r>
                      <a:r>
                        <a:rPr lang="en-US" sz="1600" b="1" spc="-25" dirty="0">
                          <a:latin typeface="Calibri"/>
                          <a:cs typeface="Calibri"/>
                        </a:rPr>
                        <a:t>3]</a:t>
                      </a:r>
                      <a:endParaRPr sz="1600" b="1" dirty="0">
                        <a:latin typeface="Calibri"/>
                        <a:cs typeface="Calibri"/>
                      </a:endParaRPr>
                    </a:p>
                  </a:txBody>
                  <a:tcPr marL="0" marR="0" marT="0" marB="0"/>
                </a:tc>
                <a:tc>
                  <a:txBody>
                    <a:bodyPr/>
                    <a:lstStyle/>
                    <a:p>
                      <a:pPr>
                        <a:lnSpc>
                          <a:spcPct val="100000"/>
                        </a:lnSpc>
                        <a:spcBef>
                          <a:spcPts val="1300"/>
                        </a:spcBef>
                      </a:pPr>
                      <a:r>
                        <a:rPr lang="en-US" sz="1600" b="1" dirty="0"/>
                        <a:t>A monopole antenna with cotton fabric material for wearable applications</a:t>
                      </a:r>
                      <a:endParaRPr sz="1600" b="1" dirty="0">
                        <a:latin typeface="Times New Roman"/>
                        <a:cs typeface="Times New Roman"/>
                      </a:endParaRPr>
                    </a:p>
                  </a:txBody>
                  <a:tcPr marL="108000" marR="0" marT="288000" marB="0"/>
                </a:tc>
                <a:tc>
                  <a:txBody>
                    <a:bodyPr/>
                    <a:lstStyle/>
                    <a:p>
                      <a:pPr lvl="0" algn="l">
                        <a:lnSpc>
                          <a:spcPct val="100000"/>
                        </a:lnSpc>
                      </a:pPr>
                      <a:r>
                        <a:rPr lang="en-IN" sz="1600" dirty="0"/>
                        <a:t>Ayman Ayd R. Saad, Walaa M. Hassan, Ahmed A. Ibrahim</a:t>
                      </a:r>
                      <a:endParaRPr sz="1600" dirty="0">
                        <a:latin typeface="Times New Roman"/>
                        <a:cs typeface="Times New Roman"/>
                      </a:endParaRPr>
                    </a:p>
                  </a:txBody>
                  <a:tcPr marL="108000" marR="0" marT="288000" marB="0"/>
                </a:tc>
                <a:tc>
                  <a:txBody>
                    <a:bodyPr/>
                    <a:lstStyle/>
                    <a:p>
                      <a:r>
                        <a:rPr lang="en-US" sz="1600" dirty="0"/>
                        <a:t>Cotton-based wearable monopole with AMC reduces SAR, improves matching and gain, and ensures stable performance under bending for WBAN healthcare use.</a:t>
                      </a:r>
                    </a:p>
                  </a:txBody>
                  <a:tcPr marL="36000" marR="0" marT="252000" marB="0"/>
                </a:tc>
                <a:extLst>
                  <a:ext uri="{0D108BD9-81ED-4DB2-BD59-A6C34878D82A}">
                    <a16:rowId xmlns:a16="http://schemas.microsoft.com/office/drawing/2014/main" val="3594013042"/>
                  </a:ext>
                </a:extLst>
              </a:tr>
              <a:tr h="1752852">
                <a:tc>
                  <a:txBody>
                    <a:bodyPr/>
                    <a:lstStyle/>
                    <a:p>
                      <a:pPr marL="91440">
                        <a:lnSpc>
                          <a:spcPct val="100000"/>
                        </a:lnSpc>
                      </a:pPr>
                      <a:endParaRPr lang="en-US" sz="1600" b="1" dirty="0">
                        <a:latin typeface="Calibri"/>
                        <a:cs typeface="Calibri"/>
                      </a:endParaRPr>
                    </a:p>
                    <a:p>
                      <a:pPr marL="91440">
                        <a:lnSpc>
                          <a:spcPct val="100000"/>
                        </a:lnSpc>
                      </a:pPr>
                      <a:endParaRPr lang="en-US" sz="1600" b="1" dirty="0">
                        <a:latin typeface="Calibri"/>
                        <a:cs typeface="Calibri"/>
                      </a:endParaRPr>
                    </a:p>
                    <a:p>
                      <a:pPr marL="91440">
                        <a:lnSpc>
                          <a:spcPct val="100000"/>
                        </a:lnSpc>
                      </a:pPr>
                      <a:endParaRPr lang="en-US" sz="1600" b="1" dirty="0">
                        <a:latin typeface="Calibri"/>
                        <a:cs typeface="Calibri"/>
                      </a:endParaRPr>
                    </a:p>
                    <a:p>
                      <a:pPr marL="91440">
                        <a:lnSpc>
                          <a:spcPct val="100000"/>
                        </a:lnSpc>
                      </a:pPr>
                      <a:r>
                        <a:rPr lang="en-US" sz="1600" b="1" dirty="0">
                          <a:latin typeface="Calibri"/>
                          <a:cs typeface="Calibri"/>
                        </a:rPr>
                        <a:t>[14]</a:t>
                      </a:r>
                      <a:endParaRPr sz="1600" b="1" dirty="0">
                        <a:latin typeface="Calibri"/>
                        <a:cs typeface="Calibri"/>
                      </a:endParaRPr>
                    </a:p>
                  </a:txBody>
                  <a:tcPr marL="0" marR="0" marT="0" marB="0"/>
                </a:tc>
                <a:tc>
                  <a:txBody>
                    <a:bodyPr/>
                    <a:lstStyle/>
                    <a:p>
                      <a:pPr>
                        <a:lnSpc>
                          <a:spcPct val="100000"/>
                        </a:lnSpc>
                        <a:spcBef>
                          <a:spcPts val="1300"/>
                        </a:spcBef>
                      </a:pPr>
                      <a:r>
                        <a:rPr lang="en-US" sz="1600" b="1" dirty="0"/>
                        <a:t>Design and Analysis of a Compact Dual-Band Wearable Antenna for WBAN Applications</a:t>
                      </a:r>
                      <a:endParaRPr sz="1600" b="1" dirty="0">
                        <a:latin typeface="Times New Roman"/>
                        <a:cs typeface="Times New Roman"/>
                      </a:endParaRPr>
                    </a:p>
                  </a:txBody>
                  <a:tcPr marL="108000" marR="0" marT="288000" marB="0"/>
                </a:tc>
                <a:tc>
                  <a:txBody>
                    <a:bodyPr/>
                    <a:lstStyle/>
                    <a:p>
                      <a:pPr lvl="0" algn="l">
                        <a:lnSpc>
                          <a:spcPct val="100000"/>
                        </a:lnSpc>
                      </a:pPr>
                      <a:r>
                        <a:rPr lang="en-IN" sz="1600" dirty="0"/>
                        <a:t>Umar Musa, </a:t>
                      </a:r>
                      <a:r>
                        <a:rPr lang="en-IN" sz="1600" dirty="0" err="1"/>
                        <a:t>Shahraf</a:t>
                      </a:r>
                      <a:r>
                        <a:rPr lang="en-IN" sz="1600" dirty="0"/>
                        <a:t> Mhd Shah, Huda A. Majid, Ismail Ahmed Mahadi, Mohamad Kamal A. Rahim, Muhammad Saad Yahya</a:t>
                      </a:r>
                      <a:endParaRPr sz="1600" dirty="0">
                        <a:latin typeface="Times New Roman"/>
                        <a:cs typeface="Times New Roman"/>
                      </a:endParaRPr>
                    </a:p>
                  </a:txBody>
                  <a:tcPr marL="108000" marR="0" marT="288000" marB="0"/>
                </a:tc>
                <a:tc>
                  <a:txBody>
                    <a:bodyPr/>
                    <a:lstStyle/>
                    <a:p>
                      <a:r>
                        <a:rPr lang="en-US" sz="1600" dirty="0"/>
                        <a:t>Compact dual-band wearable antenna ensures stable gain, matching, and low SAR, maintaining reliable performance under bending for WBAN biomedical use.</a:t>
                      </a:r>
                    </a:p>
                    <a:p>
                      <a:pPr marL="92075" marR="231775" lvl="0" indent="0" defTabSz="914400" eaLnBrk="1" fontAlgn="auto" latinLnBrk="0" hangingPunct="1">
                        <a:lnSpc>
                          <a:spcPct val="100000"/>
                        </a:lnSpc>
                        <a:spcBef>
                          <a:spcPts val="260"/>
                        </a:spcBef>
                        <a:spcAft>
                          <a:spcPts val="0"/>
                        </a:spcAft>
                        <a:buClrTx/>
                        <a:buSzTx/>
                        <a:buFontTx/>
                        <a:buNone/>
                        <a:tabLst/>
                        <a:defRPr/>
                      </a:pPr>
                      <a:endParaRPr lang="en-US" sz="1600" dirty="0"/>
                    </a:p>
                  </a:txBody>
                  <a:tcPr marL="36000" marR="0" marT="252000" marB="0"/>
                </a:tc>
                <a:extLst>
                  <a:ext uri="{0D108BD9-81ED-4DB2-BD59-A6C34878D82A}">
                    <a16:rowId xmlns:a16="http://schemas.microsoft.com/office/drawing/2014/main" val="4084587870"/>
                  </a:ext>
                </a:extLst>
              </a:tr>
            </a:tbl>
          </a:graphicData>
        </a:graphic>
      </p:graphicFrame>
    </p:spTree>
    <p:extLst>
      <p:ext uri="{BB962C8B-B14F-4D97-AF65-F5344CB8AC3E}">
        <p14:creationId xmlns:p14="http://schemas.microsoft.com/office/powerpoint/2010/main" val="1465512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401BA-1CC1-1479-091E-22B58A258F1C}"/>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21A3941-70B1-CC2C-1EBE-A35907F983CA}"/>
              </a:ext>
            </a:extLst>
          </p:cNvPr>
          <p:cNvGraphicFramePr>
            <a:graphicFrameLocks noGrp="1"/>
          </p:cNvGraphicFramePr>
          <p:nvPr>
            <p:ph idx="1"/>
            <p:extLst>
              <p:ext uri="{D42A27DB-BD31-4B8C-83A1-F6EECF244321}">
                <p14:modId xmlns:p14="http://schemas.microsoft.com/office/powerpoint/2010/main" val="658680692"/>
              </p:ext>
            </p:extLst>
          </p:nvPr>
        </p:nvGraphicFramePr>
        <p:xfrm>
          <a:off x="838200" y="213640"/>
          <a:ext cx="10412668" cy="5215953"/>
        </p:xfrm>
        <a:graphic>
          <a:graphicData uri="http://schemas.openxmlformats.org/drawingml/2006/table">
            <a:tbl>
              <a:tblPr firstRow="1" bandRow="1">
                <a:tableStyleId>{E8B1032C-EA38-4F05-BA0D-38AFFFC7BED3}</a:tableStyleId>
              </a:tblPr>
              <a:tblGrid>
                <a:gridCol w="464503">
                  <a:extLst>
                    <a:ext uri="{9D8B030D-6E8A-4147-A177-3AD203B41FA5}">
                      <a16:colId xmlns:a16="http://schemas.microsoft.com/office/drawing/2014/main" val="743592034"/>
                    </a:ext>
                  </a:extLst>
                </a:gridCol>
                <a:gridCol w="3581311">
                  <a:extLst>
                    <a:ext uri="{9D8B030D-6E8A-4147-A177-3AD203B41FA5}">
                      <a16:colId xmlns:a16="http://schemas.microsoft.com/office/drawing/2014/main" val="810700651"/>
                    </a:ext>
                  </a:extLst>
                </a:gridCol>
                <a:gridCol w="2931736">
                  <a:extLst>
                    <a:ext uri="{9D8B030D-6E8A-4147-A177-3AD203B41FA5}">
                      <a16:colId xmlns:a16="http://schemas.microsoft.com/office/drawing/2014/main" val="3384285512"/>
                    </a:ext>
                  </a:extLst>
                </a:gridCol>
                <a:gridCol w="3435118">
                  <a:extLst>
                    <a:ext uri="{9D8B030D-6E8A-4147-A177-3AD203B41FA5}">
                      <a16:colId xmlns:a16="http://schemas.microsoft.com/office/drawing/2014/main" val="2403543386"/>
                    </a:ext>
                  </a:extLst>
                </a:gridCol>
              </a:tblGrid>
              <a:tr h="1709961">
                <a:tc>
                  <a:txBody>
                    <a:bodyPr/>
                    <a:lstStyle/>
                    <a:p>
                      <a:pPr>
                        <a:lnSpc>
                          <a:spcPct val="100000"/>
                        </a:lnSpc>
                      </a:pPr>
                      <a:endParaRPr sz="1600" dirty="0">
                        <a:latin typeface="Times New Roman"/>
                        <a:cs typeface="Times New Roman"/>
                      </a:endParaRPr>
                    </a:p>
                    <a:p>
                      <a:pPr>
                        <a:lnSpc>
                          <a:spcPct val="100000"/>
                        </a:lnSpc>
                        <a:spcBef>
                          <a:spcPts val="1380"/>
                        </a:spcBef>
                      </a:pPr>
                      <a:endParaRPr sz="1600" dirty="0">
                        <a:latin typeface="Times New Roman"/>
                        <a:cs typeface="Times New Roman"/>
                      </a:endParaRPr>
                    </a:p>
                    <a:p>
                      <a:pPr marL="91440">
                        <a:lnSpc>
                          <a:spcPct val="100000"/>
                        </a:lnSpc>
                      </a:pPr>
                      <a:r>
                        <a:rPr lang="en-US" sz="1600" spc="-50" dirty="0">
                          <a:latin typeface="Calibri"/>
                          <a:cs typeface="Calibri"/>
                        </a:rPr>
                        <a:t>[15]</a:t>
                      </a:r>
                      <a:endParaRPr sz="1600" dirty="0">
                        <a:latin typeface="Calibri"/>
                        <a:cs typeface="Calibri"/>
                      </a:endParaRPr>
                    </a:p>
                  </a:txBody>
                  <a:tcPr marL="0" marR="0" marT="0" marB="0"/>
                </a:tc>
                <a:tc>
                  <a:txBody>
                    <a:bodyPr/>
                    <a:lstStyle/>
                    <a:p>
                      <a:pPr>
                        <a:lnSpc>
                          <a:spcPct val="100000"/>
                        </a:lnSpc>
                        <a:spcBef>
                          <a:spcPts val="340"/>
                        </a:spcBef>
                      </a:pPr>
                      <a:r>
                        <a:rPr lang="en-US" sz="1600" dirty="0"/>
                        <a:t>Bandwidth and Gain Enhancement of a CPW Antenna Using Frequency Selective Surface for UWB Applications</a:t>
                      </a:r>
                      <a:endParaRPr sz="1600" dirty="0">
                        <a:latin typeface="Times New Roman"/>
                        <a:cs typeface="Times New Roman"/>
                      </a:endParaRPr>
                    </a:p>
                  </a:txBody>
                  <a:tcPr marL="108000" marR="0" marT="324000" marB="0"/>
                </a:tc>
                <a:tc>
                  <a:txBody>
                    <a:bodyPr/>
                    <a:lstStyle/>
                    <a:p>
                      <a:pPr>
                        <a:lnSpc>
                          <a:spcPct val="100000"/>
                        </a:lnSpc>
                      </a:pPr>
                      <a:r>
                        <a:rPr lang="en-US" sz="1600" b="0" dirty="0">
                          <a:latin typeface="Times New Roman"/>
                          <a:cs typeface="Times New Roman"/>
                        </a:rPr>
                        <a:t> </a:t>
                      </a:r>
                    </a:p>
                    <a:p>
                      <a:pPr>
                        <a:lnSpc>
                          <a:spcPct val="100000"/>
                        </a:lnSpc>
                      </a:pPr>
                      <a:r>
                        <a:rPr lang="en-IN" sz="1600" b="0" dirty="0"/>
                        <a:t>Musa Hussain, Md. Abu Sufian, Mohammed S. </a:t>
                      </a:r>
                      <a:r>
                        <a:rPr lang="en-IN" sz="1600" b="0" dirty="0" err="1"/>
                        <a:t>Alzaidi</a:t>
                      </a:r>
                      <a:r>
                        <a:rPr lang="en-IN" sz="1600" b="0" dirty="0"/>
                        <a:t>, Syeda Iffat Naqvi, Niamat Hussain, Dalia H. </a:t>
                      </a:r>
                      <a:r>
                        <a:rPr lang="en-IN" sz="1600" b="0" dirty="0" err="1"/>
                        <a:t>Elkamchouchi</a:t>
                      </a:r>
                      <a:r>
                        <a:rPr lang="en-IN" sz="1600" b="0" dirty="0"/>
                        <a:t>, Mohamed Fathy Abo Sree, Sara Yehia Abdel Fatah</a:t>
                      </a:r>
                      <a:endParaRPr sz="1600" b="0" dirty="0">
                        <a:latin typeface="Times New Roman"/>
                        <a:cs typeface="Times New Roman"/>
                      </a:endParaRPr>
                    </a:p>
                  </a:txBody>
                  <a:tcPr marL="108000" marR="0" marT="180000" marB="0"/>
                </a:tc>
                <a:tc>
                  <a:txBody>
                    <a:bodyPr/>
                    <a:lstStyle/>
                    <a:p>
                      <a:r>
                        <a:rPr lang="en-US" sz="1600" b="0" dirty="0"/>
                        <a:t>CPW-fed UWB antenna with FSS improves bandwidth, gain, and efficiency, ensuring low SAR and stable performance for WBAN and imaging systems.</a:t>
                      </a:r>
                    </a:p>
                  </a:txBody>
                  <a:tcPr marL="36000" marR="0" marT="216000" marB="0"/>
                </a:tc>
                <a:extLst>
                  <a:ext uri="{0D108BD9-81ED-4DB2-BD59-A6C34878D82A}">
                    <a16:rowId xmlns:a16="http://schemas.microsoft.com/office/drawing/2014/main" val="629749169"/>
                  </a:ext>
                </a:extLst>
              </a:tr>
              <a:tr h="1752852">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505"/>
                        </a:spcBef>
                      </a:pPr>
                      <a:endParaRPr sz="1600" b="1" dirty="0">
                        <a:latin typeface="Times New Roman"/>
                        <a:cs typeface="Times New Roman"/>
                      </a:endParaRPr>
                    </a:p>
                    <a:p>
                      <a:pPr marL="91440">
                        <a:lnSpc>
                          <a:spcPct val="100000"/>
                        </a:lnSpc>
                      </a:pPr>
                      <a:r>
                        <a:rPr lang="en-US" sz="1600" b="1" spc="-25" dirty="0">
                          <a:latin typeface="Calibri"/>
                          <a:cs typeface="Calibri"/>
                        </a:rPr>
                        <a:t>[</a:t>
                      </a:r>
                      <a:r>
                        <a:rPr sz="1600" b="1" spc="-25" dirty="0">
                          <a:latin typeface="Calibri"/>
                          <a:cs typeface="Calibri"/>
                        </a:rPr>
                        <a:t>1</a:t>
                      </a:r>
                      <a:r>
                        <a:rPr lang="en-US" sz="1600" b="1" spc="-25" dirty="0">
                          <a:latin typeface="Calibri"/>
                          <a:cs typeface="Calibri"/>
                        </a:rPr>
                        <a:t>6]</a:t>
                      </a:r>
                      <a:endParaRPr sz="1600" b="1" dirty="0">
                        <a:latin typeface="Calibri"/>
                        <a:cs typeface="Calibri"/>
                      </a:endParaRPr>
                    </a:p>
                  </a:txBody>
                  <a:tcPr marL="0" marR="0" marT="0" marB="0"/>
                </a:tc>
                <a:tc>
                  <a:txBody>
                    <a:bodyPr/>
                    <a:lstStyle/>
                    <a:p>
                      <a:pPr>
                        <a:lnSpc>
                          <a:spcPct val="100000"/>
                        </a:lnSpc>
                        <a:spcBef>
                          <a:spcPts val="1300"/>
                        </a:spcBef>
                      </a:pPr>
                      <a:r>
                        <a:rPr lang="en-US" sz="1600" b="1" dirty="0"/>
                        <a:t>A Novel Compact Ultra-Wideband Frequency-Selective Surface-Based Antenna for Gain Enhancement Applications</a:t>
                      </a:r>
                      <a:endParaRPr sz="1600" b="1" dirty="0">
                        <a:latin typeface="Times New Roman"/>
                        <a:cs typeface="Times New Roman"/>
                      </a:endParaRPr>
                    </a:p>
                  </a:txBody>
                  <a:tcPr marL="108000" marR="0" marT="288000" marB="0"/>
                </a:tc>
                <a:tc>
                  <a:txBody>
                    <a:bodyPr/>
                    <a:lstStyle/>
                    <a:p>
                      <a:pPr lvl="0" algn="l">
                        <a:lnSpc>
                          <a:spcPct val="100000"/>
                        </a:lnSpc>
                      </a:pPr>
                      <a:r>
                        <a:rPr lang="en-IN" sz="1600" dirty="0"/>
                        <a:t>Iftikhar Ud Din, Waheed Ullah, Nisar Ahmad Abbasi, Sadiq Ullah, Waleed </a:t>
                      </a:r>
                      <a:r>
                        <a:rPr lang="en-IN" sz="1600" dirty="0" err="1"/>
                        <a:t>Shihzad</a:t>
                      </a:r>
                      <a:r>
                        <a:rPr lang="en-IN" sz="1600" dirty="0"/>
                        <a:t>, Bilawal Khan, Dushantha Nalin K. Jayakody</a:t>
                      </a:r>
                      <a:endParaRPr sz="1600" dirty="0">
                        <a:latin typeface="Times New Roman"/>
                        <a:cs typeface="Times New Roman"/>
                      </a:endParaRPr>
                    </a:p>
                  </a:txBody>
                  <a:tcPr marL="108000" marR="0" marT="288000" marB="0"/>
                </a:tc>
                <a:tc>
                  <a:txBody>
                    <a:bodyPr/>
                    <a:lstStyle/>
                    <a:p>
                      <a:r>
                        <a:rPr lang="en-US" sz="1600" dirty="0"/>
                        <a:t>Compact UWB monopole (3–12 GHz) with 6×6 FSS boosts gain from 3 to 8.1 dB, improving efficiency and directivity for wireless applications.</a:t>
                      </a:r>
                    </a:p>
                  </a:txBody>
                  <a:tcPr marL="36000" marR="0" marT="252000" marB="0"/>
                </a:tc>
                <a:extLst>
                  <a:ext uri="{0D108BD9-81ED-4DB2-BD59-A6C34878D82A}">
                    <a16:rowId xmlns:a16="http://schemas.microsoft.com/office/drawing/2014/main" val="3594013042"/>
                  </a:ext>
                </a:extLst>
              </a:tr>
              <a:tr h="1752852">
                <a:tc>
                  <a:txBody>
                    <a:bodyPr/>
                    <a:lstStyle/>
                    <a:p>
                      <a:pPr marL="91440">
                        <a:lnSpc>
                          <a:spcPct val="100000"/>
                        </a:lnSpc>
                      </a:pPr>
                      <a:endParaRPr lang="en-US" sz="1600" b="1" dirty="0">
                        <a:latin typeface="Calibri"/>
                        <a:cs typeface="Calibri"/>
                      </a:endParaRPr>
                    </a:p>
                    <a:p>
                      <a:pPr marL="91440">
                        <a:lnSpc>
                          <a:spcPct val="100000"/>
                        </a:lnSpc>
                      </a:pPr>
                      <a:endParaRPr lang="en-US" sz="1600" b="1" dirty="0">
                        <a:latin typeface="Calibri"/>
                        <a:cs typeface="Calibri"/>
                      </a:endParaRPr>
                    </a:p>
                    <a:p>
                      <a:pPr marL="91440">
                        <a:lnSpc>
                          <a:spcPct val="100000"/>
                        </a:lnSpc>
                      </a:pPr>
                      <a:endParaRPr lang="en-US" sz="1600" b="1" dirty="0">
                        <a:latin typeface="Calibri"/>
                        <a:cs typeface="Calibri"/>
                      </a:endParaRPr>
                    </a:p>
                    <a:p>
                      <a:pPr marL="91440">
                        <a:lnSpc>
                          <a:spcPct val="100000"/>
                        </a:lnSpc>
                      </a:pPr>
                      <a:r>
                        <a:rPr lang="en-US" sz="1600" b="1" dirty="0">
                          <a:latin typeface="Calibri"/>
                          <a:cs typeface="Calibri"/>
                        </a:rPr>
                        <a:t>[17]</a:t>
                      </a:r>
                      <a:endParaRPr sz="1600" b="1" dirty="0">
                        <a:latin typeface="Calibri"/>
                        <a:cs typeface="Calibri"/>
                      </a:endParaRPr>
                    </a:p>
                  </a:txBody>
                  <a:tcPr marL="0" marR="0" marT="0" marB="0"/>
                </a:tc>
                <a:tc>
                  <a:txBody>
                    <a:bodyPr/>
                    <a:lstStyle/>
                    <a:p>
                      <a:pPr>
                        <a:lnSpc>
                          <a:spcPct val="100000"/>
                        </a:lnSpc>
                        <a:spcBef>
                          <a:spcPts val="1300"/>
                        </a:spcBef>
                      </a:pPr>
                      <a:r>
                        <a:rPr lang="en-US" sz="1600" b="1" dirty="0"/>
                        <a:t>FDTD-based SAR calculation of a wearable antenna for wireless body area network devices</a:t>
                      </a:r>
                      <a:endParaRPr sz="1600" b="1" dirty="0">
                        <a:latin typeface="Times New Roman"/>
                        <a:cs typeface="Times New Roman"/>
                      </a:endParaRPr>
                    </a:p>
                  </a:txBody>
                  <a:tcPr marL="108000" marR="0" marT="288000" marB="0"/>
                </a:tc>
                <a:tc>
                  <a:txBody>
                    <a:bodyPr/>
                    <a:lstStyle/>
                    <a:p>
                      <a:pPr lvl="0" algn="l">
                        <a:lnSpc>
                          <a:spcPct val="100000"/>
                        </a:lnSpc>
                      </a:pPr>
                      <a:r>
                        <a:rPr lang="en-IN" sz="1600" dirty="0"/>
                        <a:t>Hüseyin </a:t>
                      </a:r>
                      <a:r>
                        <a:rPr lang="en-IN" sz="1600" dirty="0" err="1"/>
                        <a:t>Şerif</a:t>
                      </a:r>
                      <a:r>
                        <a:rPr lang="en-IN" sz="1600" dirty="0"/>
                        <a:t> </a:t>
                      </a:r>
                      <a:r>
                        <a:rPr lang="en-IN" sz="1600" dirty="0" err="1"/>
                        <a:t>Savcı</a:t>
                      </a:r>
                      <a:r>
                        <a:rPr lang="en-IN" sz="1600" dirty="0"/>
                        <a:t>, Fatih </a:t>
                      </a:r>
                      <a:r>
                        <a:rPr lang="en-IN" sz="1600" dirty="0" err="1"/>
                        <a:t>Kaburcuk</a:t>
                      </a:r>
                      <a:endParaRPr sz="1600" dirty="0">
                        <a:latin typeface="Times New Roman"/>
                        <a:cs typeface="Times New Roman"/>
                      </a:endParaRPr>
                    </a:p>
                  </a:txBody>
                  <a:tcPr marL="108000" marR="0" marT="288000" marB="0"/>
                </a:tc>
                <a:tc>
                  <a:txBody>
                    <a:bodyPr/>
                    <a:lstStyle/>
                    <a:p>
                      <a:r>
                        <a:rPr lang="en-US" sz="1600" dirty="0"/>
                        <a:t>FDTD-based SAR method accurately evaluates wearable antennas near tissues, improving safety, matching, and WBAN performance through validated modeling.</a:t>
                      </a:r>
                    </a:p>
                    <a:p>
                      <a:pPr marL="92075" marR="231775" lvl="0" indent="0" defTabSz="914400" eaLnBrk="1" fontAlgn="auto" latinLnBrk="0" hangingPunct="1">
                        <a:lnSpc>
                          <a:spcPct val="100000"/>
                        </a:lnSpc>
                        <a:spcBef>
                          <a:spcPts val="260"/>
                        </a:spcBef>
                        <a:spcAft>
                          <a:spcPts val="0"/>
                        </a:spcAft>
                        <a:buClrTx/>
                        <a:buSzTx/>
                        <a:buFontTx/>
                        <a:buNone/>
                        <a:tabLst/>
                        <a:defRPr/>
                      </a:pPr>
                      <a:endParaRPr lang="en-US" sz="1600" dirty="0"/>
                    </a:p>
                  </a:txBody>
                  <a:tcPr marL="36000" marR="0" marT="252000" marB="0"/>
                </a:tc>
                <a:extLst>
                  <a:ext uri="{0D108BD9-81ED-4DB2-BD59-A6C34878D82A}">
                    <a16:rowId xmlns:a16="http://schemas.microsoft.com/office/drawing/2014/main" val="4084587870"/>
                  </a:ext>
                </a:extLst>
              </a:tr>
            </a:tbl>
          </a:graphicData>
        </a:graphic>
      </p:graphicFrame>
    </p:spTree>
    <p:extLst>
      <p:ext uri="{BB962C8B-B14F-4D97-AF65-F5344CB8AC3E}">
        <p14:creationId xmlns:p14="http://schemas.microsoft.com/office/powerpoint/2010/main" val="953478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1252-8575-95CB-72D5-9C73DDEBA8DA}"/>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400D92E-40E6-613B-A760-A906C4833586}"/>
              </a:ext>
            </a:extLst>
          </p:cNvPr>
          <p:cNvGraphicFramePr>
            <a:graphicFrameLocks noGrp="1"/>
          </p:cNvGraphicFramePr>
          <p:nvPr>
            <p:ph idx="1"/>
            <p:extLst>
              <p:ext uri="{D42A27DB-BD31-4B8C-83A1-F6EECF244321}">
                <p14:modId xmlns:p14="http://schemas.microsoft.com/office/powerpoint/2010/main" val="4134851955"/>
              </p:ext>
            </p:extLst>
          </p:nvPr>
        </p:nvGraphicFramePr>
        <p:xfrm>
          <a:off x="838200" y="213640"/>
          <a:ext cx="10412668" cy="5215665"/>
        </p:xfrm>
        <a:graphic>
          <a:graphicData uri="http://schemas.openxmlformats.org/drawingml/2006/table">
            <a:tbl>
              <a:tblPr firstRow="1" bandRow="1">
                <a:tableStyleId>{E8B1032C-EA38-4F05-BA0D-38AFFFC7BED3}</a:tableStyleId>
              </a:tblPr>
              <a:tblGrid>
                <a:gridCol w="464503">
                  <a:extLst>
                    <a:ext uri="{9D8B030D-6E8A-4147-A177-3AD203B41FA5}">
                      <a16:colId xmlns:a16="http://schemas.microsoft.com/office/drawing/2014/main" val="743592034"/>
                    </a:ext>
                  </a:extLst>
                </a:gridCol>
                <a:gridCol w="3581311">
                  <a:extLst>
                    <a:ext uri="{9D8B030D-6E8A-4147-A177-3AD203B41FA5}">
                      <a16:colId xmlns:a16="http://schemas.microsoft.com/office/drawing/2014/main" val="810700651"/>
                    </a:ext>
                  </a:extLst>
                </a:gridCol>
                <a:gridCol w="2931736">
                  <a:extLst>
                    <a:ext uri="{9D8B030D-6E8A-4147-A177-3AD203B41FA5}">
                      <a16:colId xmlns:a16="http://schemas.microsoft.com/office/drawing/2014/main" val="3384285512"/>
                    </a:ext>
                  </a:extLst>
                </a:gridCol>
                <a:gridCol w="3435118">
                  <a:extLst>
                    <a:ext uri="{9D8B030D-6E8A-4147-A177-3AD203B41FA5}">
                      <a16:colId xmlns:a16="http://schemas.microsoft.com/office/drawing/2014/main" val="2403543386"/>
                    </a:ext>
                  </a:extLst>
                </a:gridCol>
              </a:tblGrid>
              <a:tr h="1709961">
                <a:tc>
                  <a:txBody>
                    <a:bodyPr/>
                    <a:lstStyle/>
                    <a:p>
                      <a:pPr>
                        <a:lnSpc>
                          <a:spcPct val="100000"/>
                        </a:lnSpc>
                      </a:pPr>
                      <a:endParaRPr sz="1600" dirty="0">
                        <a:latin typeface="Times New Roman"/>
                        <a:cs typeface="Times New Roman"/>
                      </a:endParaRPr>
                    </a:p>
                    <a:p>
                      <a:pPr>
                        <a:lnSpc>
                          <a:spcPct val="100000"/>
                        </a:lnSpc>
                        <a:spcBef>
                          <a:spcPts val="1380"/>
                        </a:spcBef>
                      </a:pPr>
                      <a:endParaRPr sz="1600" dirty="0">
                        <a:latin typeface="Times New Roman"/>
                        <a:cs typeface="Times New Roman"/>
                      </a:endParaRPr>
                    </a:p>
                    <a:p>
                      <a:pPr marL="91440">
                        <a:lnSpc>
                          <a:spcPct val="100000"/>
                        </a:lnSpc>
                      </a:pPr>
                      <a:r>
                        <a:rPr lang="en-US" sz="1600" spc="-50" dirty="0">
                          <a:latin typeface="Calibri"/>
                          <a:cs typeface="Calibri"/>
                        </a:rPr>
                        <a:t>[18]</a:t>
                      </a:r>
                      <a:endParaRPr sz="1600" dirty="0">
                        <a:latin typeface="Calibri"/>
                        <a:cs typeface="Calibri"/>
                      </a:endParaRPr>
                    </a:p>
                  </a:txBody>
                  <a:tcPr marL="0" marR="0" marT="0" marB="0"/>
                </a:tc>
                <a:tc>
                  <a:txBody>
                    <a:bodyPr/>
                    <a:lstStyle/>
                    <a:p>
                      <a:pPr>
                        <a:lnSpc>
                          <a:spcPct val="100000"/>
                        </a:lnSpc>
                        <a:spcBef>
                          <a:spcPts val="340"/>
                        </a:spcBef>
                      </a:pPr>
                      <a:r>
                        <a:rPr lang="en-US" sz="1600" dirty="0"/>
                        <a:t>A Soft Surface Based Low Profile Wearable Antenna for Biomedical Telemetry</a:t>
                      </a:r>
                      <a:endParaRPr sz="1600" dirty="0">
                        <a:latin typeface="Times New Roman"/>
                        <a:cs typeface="Times New Roman"/>
                      </a:endParaRPr>
                    </a:p>
                  </a:txBody>
                  <a:tcPr marL="108000" marR="0" marT="324000" marB="0"/>
                </a:tc>
                <a:tc>
                  <a:txBody>
                    <a:bodyPr/>
                    <a:lstStyle/>
                    <a:p>
                      <a:pPr>
                        <a:lnSpc>
                          <a:spcPct val="100000"/>
                        </a:lnSpc>
                      </a:pPr>
                      <a:r>
                        <a:rPr lang="en-US" sz="1600" b="0" dirty="0">
                          <a:latin typeface="Times New Roman"/>
                          <a:cs typeface="Times New Roman"/>
                        </a:rPr>
                        <a:t> </a:t>
                      </a:r>
                    </a:p>
                    <a:p>
                      <a:pPr>
                        <a:lnSpc>
                          <a:spcPct val="100000"/>
                        </a:lnSpc>
                      </a:pPr>
                      <a:r>
                        <a:rPr lang="en-IN" sz="1600" b="0" dirty="0"/>
                        <a:t>Devendra Kumar, Dhirendra Mathur</a:t>
                      </a:r>
                      <a:endParaRPr sz="1600" b="0" dirty="0">
                        <a:latin typeface="Times New Roman"/>
                        <a:cs typeface="Times New Roman"/>
                      </a:endParaRPr>
                    </a:p>
                  </a:txBody>
                  <a:tcPr marL="108000" marR="0" marT="180000" marB="0"/>
                </a:tc>
                <a:tc>
                  <a:txBody>
                    <a:bodyPr/>
                    <a:lstStyle/>
                    <a:p>
                      <a:r>
                        <a:rPr lang="en-US" sz="1600" b="0" dirty="0"/>
                        <a:t>Low-profile 5.8 GHz wearable antenna offers flexible design, stable gain, good matching, and low SAR, ideal for biomedical telemetry and monitoring systems.</a:t>
                      </a:r>
                    </a:p>
                  </a:txBody>
                  <a:tcPr marL="36000" marR="0" marT="216000" marB="0"/>
                </a:tc>
                <a:extLst>
                  <a:ext uri="{0D108BD9-81ED-4DB2-BD59-A6C34878D82A}">
                    <a16:rowId xmlns:a16="http://schemas.microsoft.com/office/drawing/2014/main" val="629749169"/>
                  </a:ext>
                </a:extLst>
              </a:tr>
              <a:tr h="1752852">
                <a:tc>
                  <a:txBody>
                    <a:bodyPr/>
                    <a:lstStyle/>
                    <a:p>
                      <a:pPr>
                        <a:lnSpc>
                          <a:spcPct val="100000"/>
                        </a:lnSpc>
                      </a:pPr>
                      <a:endParaRPr sz="1600" b="1" dirty="0">
                        <a:latin typeface="Times New Roman"/>
                        <a:cs typeface="Times New Roman"/>
                      </a:endParaRPr>
                    </a:p>
                    <a:p>
                      <a:pPr>
                        <a:lnSpc>
                          <a:spcPct val="100000"/>
                        </a:lnSpc>
                      </a:pPr>
                      <a:endParaRPr sz="1600" b="1" dirty="0">
                        <a:latin typeface="Times New Roman"/>
                        <a:cs typeface="Times New Roman"/>
                      </a:endParaRPr>
                    </a:p>
                    <a:p>
                      <a:pPr>
                        <a:lnSpc>
                          <a:spcPct val="100000"/>
                        </a:lnSpc>
                        <a:spcBef>
                          <a:spcPts val="505"/>
                        </a:spcBef>
                      </a:pPr>
                      <a:endParaRPr sz="1600" b="1" dirty="0">
                        <a:latin typeface="Times New Roman"/>
                        <a:cs typeface="Times New Roman"/>
                      </a:endParaRPr>
                    </a:p>
                    <a:p>
                      <a:pPr marL="91440">
                        <a:lnSpc>
                          <a:spcPct val="100000"/>
                        </a:lnSpc>
                      </a:pPr>
                      <a:r>
                        <a:rPr lang="en-US" sz="1600" b="1" spc="-25" dirty="0">
                          <a:latin typeface="Calibri"/>
                          <a:cs typeface="Calibri"/>
                        </a:rPr>
                        <a:t>[</a:t>
                      </a:r>
                      <a:r>
                        <a:rPr sz="1600" b="1" spc="-25" dirty="0">
                          <a:latin typeface="Calibri"/>
                          <a:cs typeface="Calibri"/>
                        </a:rPr>
                        <a:t>1</a:t>
                      </a:r>
                      <a:r>
                        <a:rPr lang="en-US" sz="1600" b="1" spc="-25" dirty="0">
                          <a:latin typeface="Calibri"/>
                          <a:cs typeface="Calibri"/>
                        </a:rPr>
                        <a:t>9]</a:t>
                      </a:r>
                      <a:endParaRPr sz="1600" b="1" dirty="0">
                        <a:latin typeface="Calibri"/>
                        <a:cs typeface="Calibri"/>
                      </a:endParaRPr>
                    </a:p>
                  </a:txBody>
                  <a:tcPr marL="0" marR="0" marT="0" marB="0"/>
                </a:tc>
                <a:tc>
                  <a:txBody>
                    <a:bodyPr/>
                    <a:lstStyle/>
                    <a:p>
                      <a:pPr>
                        <a:lnSpc>
                          <a:spcPct val="100000"/>
                        </a:lnSpc>
                        <a:spcBef>
                          <a:spcPts val="1300"/>
                        </a:spcBef>
                      </a:pPr>
                      <a:r>
                        <a:rPr lang="en-US" sz="1600" b="1" dirty="0"/>
                        <a:t>Triple Band Textile Array Antenna with Enhanced Gain and Low SAR for Off Body Communication Applications</a:t>
                      </a:r>
                      <a:endParaRPr sz="1600" b="1" dirty="0">
                        <a:latin typeface="Times New Roman"/>
                        <a:cs typeface="Times New Roman"/>
                      </a:endParaRPr>
                    </a:p>
                  </a:txBody>
                  <a:tcPr marL="108000" marR="0" marT="288000" marB="0"/>
                </a:tc>
                <a:tc>
                  <a:txBody>
                    <a:bodyPr/>
                    <a:lstStyle/>
                    <a:p>
                      <a:pPr lvl="0" algn="l">
                        <a:lnSpc>
                          <a:spcPct val="100000"/>
                        </a:lnSpc>
                      </a:pPr>
                      <a:r>
                        <a:rPr lang="en-IN" sz="1600" dirty="0"/>
                        <a:t>VSD Rekha, M. </a:t>
                      </a:r>
                      <a:r>
                        <a:rPr lang="en-IN" sz="1600" dirty="0" err="1"/>
                        <a:t>Padmanabharaju</a:t>
                      </a:r>
                      <a:r>
                        <a:rPr lang="en-IN" sz="1600" dirty="0"/>
                        <a:t>, B. T. P. Madhav, S. S. Mohan Reddy</a:t>
                      </a:r>
                      <a:endParaRPr sz="1600" dirty="0">
                        <a:latin typeface="Times New Roman"/>
                        <a:cs typeface="Times New Roman"/>
                      </a:endParaRPr>
                    </a:p>
                  </a:txBody>
                  <a:tcPr marL="108000" marR="0" marT="288000" marB="0"/>
                </a:tc>
                <a:tc>
                  <a:txBody>
                    <a:bodyPr/>
                    <a:lstStyle/>
                    <a:p>
                      <a:r>
                        <a:rPr lang="en-US" sz="1600" dirty="0"/>
                        <a:t>Triple-band wearable patch array (ISM, LAES, X-band) boosts gain and efficiency with low SAR, ensuring stable performance for healthcare sensing.</a:t>
                      </a:r>
                    </a:p>
                  </a:txBody>
                  <a:tcPr marL="36000" marR="0" marT="252000" marB="0"/>
                </a:tc>
                <a:extLst>
                  <a:ext uri="{0D108BD9-81ED-4DB2-BD59-A6C34878D82A}">
                    <a16:rowId xmlns:a16="http://schemas.microsoft.com/office/drawing/2014/main" val="3594013042"/>
                  </a:ext>
                </a:extLst>
              </a:tr>
              <a:tr h="1752852">
                <a:tc>
                  <a:txBody>
                    <a:bodyPr/>
                    <a:lstStyle/>
                    <a:p>
                      <a:pPr marL="91440">
                        <a:lnSpc>
                          <a:spcPct val="100000"/>
                        </a:lnSpc>
                      </a:pPr>
                      <a:endParaRPr lang="en-US" sz="1600" b="1" dirty="0">
                        <a:latin typeface="Calibri"/>
                        <a:cs typeface="Calibri"/>
                      </a:endParaRPr>
                    </a:p>
                    <a:p>
                      <a:pPr marL="91440">
                        <a:lnSpc>
                          <a:spcPct val="100000"/>
                        </a:lnSpc>
                      </a:pPr>
                      <a:endParaRPr lang="en-US" sz="1600" b="1" dirty="0">
                        <a:latin typeface="Calibri"/>
                        <a:cs typeface="Calibri"/>
                      </a:endParaRPr>
                    </a:p>
                    <a:p>
                      <a:pPr marL="91440">
                        <a:lnSpc>
                          <a:spcPct val="100000"/>
                        </a:lnSpc>
                      </a:pPr>
                      <a:endParaRPr lang="en-US" sz="1600" b="1" dirty="0">
                        <a:latin typeface="Calibri"/>
                        <a:cs typeface="Calibri"/>
                      </a:endParaRPr>
                    </a:p>
                    <a:p>
                      <a:pPr marL="91440">
                        <a:lnSpc>
                          <a:spcPct val="100000"/>
                        </a:lnSpc>
                      </a:pPr>
                      <a:r>
                        <a:rPr lang="en-US" sz="1600" b="1" dirty="0">
                          <a:latin typeface="Calibri"/>
                          <a:cs typeface="Calibri"/>
                        </a:rPr>
                        <a:t>[20]</a:t>
                      </a:r>
                      <a:endParaRPr sz="1600" b="1" dirty="0">
                        <a:latin typeface="Calibri"/>
                        <a:cs typeface="Calibri"/>
                      </a:endParaRPr>
                    </a:p>
                  </a:txBody>
                  <a:tcPr marL="0" marR="0" marT="0" marB="0"/>
                </a:tc>
                <a:tc>
                  <a:txBody>
                    <a:bodyPr/>
                    <a:lstStyle/>
                    <a:p>
                      <a:pPr>
                        <a:lnSpc>
                          <a:spcPct val="100000"/>
                        </a:lnSpc>
                        <a:spcBef>
                          <a:spcPts val="1300"/>
                        </a:spcBef>
                      </a:pPr>
                      <a:r>
                        <a:rPr lang="en-IN" sz="1600" b="1" dirty="0"/>
                        <a:t>M. M. Hasan Mahfuz, Md Rafiqul Islam, Chen-Wang Park, </a:t>
                      </a:r>
                      <a:r>
                        <a:rPr lang="en-IN" sz="1600" b="1" dirty="0" err="1"/>
                        <a:t>Eklas</a:t>
                      </a:r>
                      <a:r>
                        <a:rPr lang="en-IN" sz="1600" b="1" dirty="0"/>
                        <a:t> H. A. Elsheikh, F. M. </a:t>
                      </a:r>
                      <a:r>
                        <a:rPr lang="en-IN" sz="1600" b="1" dirty="0" err="1"/>
                        <a:t>Sadeque</a:t>
                      </a:r>
                      <a:r>
                        <a:rPr lang="en-IN" sz="1600" b="1" dirty="0"/>
                        <a:t>, Mohamed </a:t>
                      </a:r>
                      <a:r>
                        <a:rPr lang="en-IN" sz="1600" b="1" dirty="0" err="1"/>
                        <a:t>Hediati</a:t>
                      </a:r>
                      <a:endParaRPr sz="1600" b="1" dirty="0">
                        <a:latin typeface="Times New Roman"/>
                        <a:cs typeface="Times New Roman"/>
                      </a:endParaRPr>
                    </a:p>
                  </a:txBody>
                  <a:tcPr marL="108000" marR="0" marT="288000" marB="0"/>
                </a:tc>
                <a:tc>
                  <a:txBody>
                    <a:bodyPr/>
                    <a:lstStyle/>
                    <a:p>
                      <a:pPr lvl="0" algn="l">
                        <a:lnSpc>
                          <a:spcPct val="100000"/>
                        </a:lnSpc>
                      </a:pPr>
                      <a:r>
                        <a:rPr lang="en-IN" dirty="0"/>
                        <a:t>M. M. Hasan Mahfuz, Md Rafiqul Islam, Chen-Wang Park, </a:t>
                      </a:r>
                      <a:r>
                        <a:rPr lang="en-IN" dirty="0" err="1"/>
                        <a:t>Eklas</a:t>
                      </a:r>
                      <a:r>
                        <a:rPr lang="en-IN" dirty="0"/>
                        <a:t> H. A. Elsheikh, F. M. </a:t>
                      </a:r>
                      <a:r>
                        <a:rPr lang="en-IN" dirty="0" err="1"/>
                        <a:t>Sadeque</a:t>
                      </a:r>
                      <a:r>
                        <a:rPr lang="en-IN" dirty="0"/>
                        <a:t>, Mohamed </a:t>
                      </a:r>
                      <a:r>
                        <a:rPr lang="en-IN" dirty="0" err="1"/>
                        <a:t>Hediati</a:t>
                      </a:r>
                      <a:endParaRPr dirty="0"/>
                    </a:p>
                  </a:txBody>
                  <a:tcPr marL="108000" marR="0" marT="288000" marB="0"/>
                </a:tc>
                <a:tc>
                  <a:txBody>
                    <a:bodyPr/>
                    <a:lstStyle/>
                    <a:p>
                      <a:r>
                        <a:rPr lang="en-US" sz="1600" dirty="0"/>
                        <a:t>Review of textile wearable antennas covers materials, fabrication, bending effects, and SAR reduction (AMC/EBG), guiding robust WBAN medical designs.</a:t>
                      </a:r>
                    </a:p>
                    <a:p>
                      <a:pPr marL="92075" marR="231775" lvl="0" indent="0" defTabSz="914400" eaLnBrk="1" fontAlgn="auto" latinLnBrk="0" hangingPunct="1">
                        <a:lnSpc>
                          <a:spcPct val="100000"/>
                        </a:lnSpc>
                        <a:spcBef>
                          <a:spcPts val="260"/>
                        </a:spcBef>
                        <a:spcAft>
                          <a:spcPts val="0"/>
                        </a:spcAft>
                        <a:buClrTx/>
                        <a:buSzTx/>
                        <a:buFontTx/>
                        <a:buNone/>
                        <a:tabLst/>
                        <a:defRPr/>
                      </a:pPr>
                      <a:endParaRPr lang="en-US" sz="1600" dirty="0"/>
                    </a:p>
                  </a:txBody>
                  <a:tcPr marL="36000" marR="0" marT="252000" marB="0"/>
                </a:tc>
                <a:extLst>
                  <a:ext uri="{0D108BD9-81ED-4DB2-BD59-A6C34878D82A}">
                    <a16:rowId xmlns:a16="http://schemas.microsoft.com/office/drawing/2014/main" val="4084587870"/>
                  </a:ext>
                </a:extLst>
              </a:tr>
            </a:tbl>
          </a:graphicData>
        </a:graphic>
      </p:graphicFrame>
    </p:spTree>
    <p:extLst>
      <p:ext uri="{BB962C8B-B14F-4D97-AF65-F5344CB8AC3E}">
        <p14:creationId xmlns:p14="http://schemas.microsoft.com/office/powerpoint/2010/main" val="2416883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B88F-3C66-2001-BC00-D7000D1293F8}"/>
              </a:ext>
            </a:extLst>
          </p:cNvPr>
          <p:cNvSpPr>
            <a:spLocks noGrp="1"/>
          </p:cNvSpPr>
          <p:nvPr>
            <p:ph type="title"/>
          </p:nvPr>
        </p:nvSpPr>
        <p:spPr/>
        <p:txBody>
          <a:bodyPr/>
          <a:lstStyle/>
          <a:p>
            <a:r>
              <a:rPr lang="en-IN" b="1" u="sng" dirty="0">
                <a:solidFill>
                  <a:srgbClr val="FF0000"/>
                </a:solidFill>
              </a:rPr>
              <a:t>Software Used</a:t>
            </a:r>
          </a:p>
        </p:txBody>
      </p:sp>
      <p:sp>
        <p:nvSpPr>
          <p:cNvPr id="3" name="Content Placeholder 2">
            <a:extLst>
              <a:ext uri="{FF2B5EF4-FFF2-40B4-BE49-F238E27FC236}">
                <a16:creationId xmlns:a16="http://schemas.microsoft.com/office/drawing/2014/main" id="{581CE052-AF59-D76F-A083-49828829951F}"/>
              </a:ext>
            </a:extLst>
          </p:cNvPr>
          <p:cNvSpPr>
            <a:spLocks noGrp="1"/>
          </p:cNvSpPr>
          <p:nvPr>
            <p:ph idx="1"/>
          </p:nvPr>
        </p:nvSpPr>
        <p:spPr>
          <a:xfrm>
            <a:off x="838200" y="2262433"/>
            <a:ext cx="10515600" cy="2962423"/>
          </a:xfrm>
        </p:spPr>
        <p:txBody>
          <a:bodyPr>
            <a:normAutofit/>
          </a:bodyPr>
          <a:lstStyle/>
          <a:p>
            <a:pPr marL="0" indent="0" algn="just">
              <a:buNone/>
            </a:pPr>
            <a:r>
              <a:rPr lang="en-US" dirty="0"/>
              <a:t>Modern antenna design relies heavily on advanced electromagnetic simulation software to analyze and optimize performance before fabrication. Tools such as CST Studio Suite, ANSYS HFSS, and Altair FEKO are widely used to model antenna structures and solve Maxwell’s equations using numerical techniques like the Finite Element Method (FEM) and Method of Moments (MoM). </a:t>
            </a:r>
          </a:p>
        </p:txBody>
      </p:sp>
      <p:sp>
        <p:nvSpPr>
          <p:cNvPr id="5" name="Content Placeholder 2">
            <a:extLst>
              <a:ext uri="{FF2B5EF4-FFF2-40B4-BE49-F238E27FC236}">
                <a16:creationId xmlns:a16="http://schemas.microsoft.com/office/drawing/2014/main" id="{D60C388D-89E1-12C2-E5A5-F2C068910314}"/>
              </a:ext>
            </a:extLst>
          </p:cNvPr>
          <p:cNvSpPr txBox="1">
            <a:spLocks/>
          </p:cNvSpPr>
          <p:nvPr/>
        </p:nvSpPr>
        <p:spPr>
          <a:xfrm>
            <a:off x="838200" y="1690688"/>
            <a:ext cx="4855590" cy="5717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b="1" u="sng" dirty="0"/>
              <a:t>Softwares available</a:t>
            </a:r>
          </a:p>
        </p:txBody>
      </p:sp>
    </p:spTree>
    <p:extLst>
      <p:ext uri="{BB962C8B-B14F-4D97-AF65-F5344CB8AC3E}">
        <p14:creationId xmlns:p14="http://schemas.microsoft.com/office/powerpoint/2010/main" val="263882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AD248-118C-6758-BAA0-33BEBD910A1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4C9F12-4EF1-4E6B-3300-6CAD00E29639}"/>
              </a:ext>
            </a:extLst>
          </p:cNvPr>
          <p:cNvSpPr>
            <a:spLocks noGrp="1"/>
          </p:cNvSpPr>
          <p:nvPr>
            <p:ph idx="1"/>
          </p:nvPr>
        </p:nvSpPr>
        <p:spPr/>
        <p:txBody>
          <a:bodyPr/>
          <a:lstStyle/>
          <a:p>
            <a:pPr marL="0" indent="0" algn="just">
              <a:buNone/>
            </a:pPr>
            <a:r>
              <a:rPr lang="en-IN" b="1" dirty="0"/>
              <a:t>CST Studio Suite</a:t>
            </a:r>
            <a:r>
              <a:rPr lang="en-IN" dirty="0"/>
              <a:t> is a comprehensive electromagnetic (EM) simulation software used for designing, </a:t>
            </a:r>
            <a:r>
              <a:rPr lang="en-IN" dirty="0" err="1"/>
              <a:t>analyzing</a:t>
            </a:r>
            <a:r>
              <a:rPr lang="en-IN" dirty="0"/>
              <a:t>, and optimizing 3D EM systems across a wide range of frequencies (static to optical). It offers multiple numerical solvers (Time Domain, Frequency Domain, Integral Equation, Multilevel Fast Multipole Method, etc.) that enable accurate prediction of electromagnetic </a:t>
            </a:r>
            <a:r>
              <a:rPr lang="en-IN" dirty="0" err="1"/>
              <a:t>behavior</a:t>
            </a:r>
            <a:r>
              <a:rPr lang="en-IN" dirty="0"/>
              <a:t> in complex structures, including antennas, filters, PCBs, waveguides, and RF modules.</a:t>
            </a:r>
          </a:p>
        </p:txBody>
      </p:sp>
      <p:sp>
        <p:nvSpPr>
          <p:cNvPr id="6" name="Content Placeholder 2">
            <a:extLst>
              <a:ext uri="{FF2B5EF4-FFF2-40B4-BE49-F238E27FC236}">
                <a16:creationId xmlns:a16="http://schemas.microsoft.com/office/drawing/2014/main" id="{19BB46E7-FE8F-6783-3395-58E255C309EA}"/>
              </a:ext>
            </a:extLst>
          </p:cNvPr>
          <p:cNvSpPr txBox="1">
            <a:spLocks/>
          </p:cNvSpPr>
          <p:nvPr/>
        </p:nvSpPr>
        <p:spPr>
          <a:xfrm>
            <a:off x="838200" y="1253880"/>
            <a:ext cx="4855590" cy="5717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b="1" u="sng" dirty="0"/>
              <a:t>Software we’re using</a:t>
            </a:r>
          </a:p>
        </p:txBody>
      </p:sp>
    </p:spTree>
    <p:extLst>
      <p:ext uri="{BB962C8B-B14F-4D97-AF65-F5344CB8AC3E}">
        <p14:creationId xmlns:p14="http://schemas.microsoft.com/office/powerpoint/2010/main" val="1932675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C025F-E2A2-7B8B-E0BF-6A12E37682B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F59A9D2-657E-1A1F-293D-8C58AB58BCD9}"/>
              </a:ext>
            </a:extLst>
          </p:cNvPr>
          <p:cNvSpPr/>
          <p:nvPr/>
        </p:nvSpPr>
        <p:spPr>
          <a:xfrm>
            <a:off x="1018888" y="1378672"/>
            <a:ext cx="2994330" cy="49207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reeform: Shape 20">
            <a:extLst>
              <a:ext uri="{FF2B5EF4-FFF2-40B4-BE49-F238E27FC236}">
                <a16:creationId xmlns:a16="http://schemas.microsoft.com/office/drawing/2014/main" id="{B530EE8E-FA0B-B5F4-1075-59368279D15B}"/>
              </a:ext>
            </a:extLst>
          </p:cNvPr>
          <p:cNvSpPr/>
          <p:nvPr/>
        </p:nvSpPr>
        <p:spPr>
          <a:xfrm>
            <a:off x="1129148" y="1934854"/>
            <a:ext cx="2780252" cy="4364609"/>
          </a:xfrm>
          <a:custGeom>
            <a:avLst/>
            <a:gdLst>
              <a:gd name="csX0" fmla="*/ 2342120 w 2780252"/>
              <a:gd name="csY0" fmla="*/ 540195 h 4364609"/>
              <a:gd name="csX1" fmla="*/ 2342120 w 2780252"/>
              <a:gd name="csY1" fmla="*/ 721151 h 4364609"/>
              <a:gd name="csX2" fmla="*/ 2134048 w 2780252"/>
              <a:gd name="csY2" fmla="*/ 721151 h 4364609"/>
              <a:gd name="csX3" fmla="*/ 2134048 w 2780252"/>
              <a:gd name="csY3" fmla="*/ 868807 h 4364609"/>
              <a:gd name="csX4" fmla="*/ 1954011 w 2780252"/>
              <a:gd name="csY4" fmla="*/ 868807 h 4364609"/>
              <a:gd name="csX5" fmla="*/ 1954011 w 2780252"/>
              <a:gd name="csY5" fmla="*/ 1065022 h 4364609"/>
              <a:gd name="csX6" fmla="*/ 2134048 w 2780252"/>
              <a:gd name="csY6" fmla="*/ 1065022 h 4364609"/>
              <a:gd name="csX7" fmla="*/ 2134048 w 2780252"/>
              <a:gd name="csY7" fmla="*/ 1218413 h 4364609"/>
              <a:gd name="csX8" fmla="*/ 2342120 w 2780252"/>
              <a:gd name="csY8" fmla="*/ 1218413 h 4364609"/>
              <a:gd name="csX9" fmla="*/ 2342120 w 2780252"/>
              <a:gd name="csY9" fmla="*/ 1398521 h 4364609"/>
              <a:gd name="csX10" fmla="*/ 2538335 w 2780252"/>
              <a:gd name="csY10" fmla="*/ 1398521 h 4364609"/>
              <a:gd name="csX11" fmla="*/ 2538335 w 2780252"/>
              <a:gd name="csY11" fmla="*/ 1218413 h 4364609"/>
              <a:gd name="csX12" fmla="*/ 2658333 w 2780252"/>
              <a:gd name="csY12" fmla="*/ 1218413 h 4364609"/>
              <a:gd name="csX13" fmla="*/ 2658333 w 2780252"/>
              <a:gd name="csY13" fmla="*/ 721151 h 4364609"/>
              <a:gd name="csX14" fmla="*/ 2538335 w 2780252"/>
              <a:gd name="csY14" fmla="*/ 721151 h 4364609"/>
              <a:gd name="csX15" fmla="*/ 2538335 w 2780252"/>
              <a:gd name="csY15" fmla="*/ 540195 h 4364609"/>
              <a:gd name="csX16" fmla="*/ 260658 w 2780252"/>
              <a:gd name="csY16" fmla="*/ 540195 h 4364609"/>
              <a:gd name="csX17" fmla="*/ 260658 w 2780252"/>
              <a:gd name="csY17" fmla="*/ 721151 h 4364609"/>
              <a:gd name="csX18" fmla="*/ 121919 w 2780252"/>
              <a:gd name="csY18" fmla="*/ 721151 h 4364609"/>
              <a:gd name="csX19" fmla="*/ 121919 w 2780252"/>
              <a:gd name="csY19" fmla="*/ 1218413 h 4364609"/>
              <a:gd name="csX20" fmla="*/ 260659 w 2780252"/>
              <a:gd name="csY20" fmla="*/ 1218413 h 4364609"/>
              <a:gd name="csX21" fmla="*/ 260659 w 2780252"/>
              <a:gd name="csY21" fmla="*/ 1398574 h 4364609"/>
              <a:gd name="csX22" fmla="*/ 456874 w 2780252"/>
              <a:gd name="csY22" fmla="*/ 1398574 h 4364609"/>
              <a:gd name="csX23" fmla="*/ 456874 w 2780252"/>
              <a:gd name="csY23" fmla="*/ 1218413 h 4364609"/>
              <a:gd name="csX24" fmla="*/ 643884 w 2780252"/>
              <a:gd name="csY24" fmla="*/ 1218413 h 4364609"/>
              <a:gd name="csX25" fmla="*/ 643884 w 2780252"/>
              <a:gd name="csY25" fmla="*/ 1065022 h 4364609"/>
              <a:gd name="csX26" fmla="*/ 824538 w 2780252"/>
              <a:gd name="csY26" fmla="*/ 1065022 h 4364609"/>
              <a:gd name="csX27" fmla="*/ 824538 w 2780252"/>
              <a:gd name="csY27" fmla="*/ 868807 h 4364609"/>
              <a:gd name="csX28" fmla="*/ 643884 w 2780252"/>
              <a:gd name="csY28" fmla="*/ 868807 h 4364609"/>
              <a:gd name="csX29" fmla="*/ 643884 w 2780252"/>
              <a:gd name="csY29" fmla="*/ 721151 h 4364609"/>
              <a:gd name="csX30" fmla="*/ 456873 w 2780252"/>
              <a:gd name="csY30" fmla="*/ 721151 h 4364609"/>
              <a:gd name="csX31" fmla="*/ 456873 w 2780252"/>
              <a:gd name="csY31" fmla="*/ 540195 h 4364609"/>
              <a:gd name="csX32" fmla="*/ 60960 w 2780252"/>
              <a:gd name="csY32" fmla="*/ 0 h 4364609"/>
              <a:gd name="csX33" fmla="*/ 1096002 w 2780252"/>
              <a:gd name="csY33" fmla="*/ 0 h 4364609"/>
              <a:gd name="csX34" fmla="*/ 1096002 w 2780252"/>
              <a:gd name="csY34" fmla="*/ 135511 h 4364609"/>
              <a:gd name="csX35" fmla="*/ 900687 w 2780252"/>
              <a:gd name="csY35" fmla="*/ 135511 h 4364609"/>
              <a:gd name="csX36" fmla="*/ 900687 w 2780252"/>
              <a:gd name="csY36" fmla="*/ 316486 h 4364609"/>
              <a:gd name="csX37" fmla="*/ 1096002 w 2780252"/>
              <a:gd name="csY37" fmla="*/ 316486 h 4364609"/>
              <a:gd name="csX38" fmla="*/ 1096002 w 2780252"/>
              <a:gd name="csY38" fmla="*/ 468983 h 4364609"/>
              <a:gd name="csX39" fmla="*/ 1304124 w 2780252"/>
              <a:gd name="csY39" fmla="*/ 468983 h 4364609"/>
              <a:gd name="csX40" fmla="*/ 1304124 w 2780252"/>
              <a:gd name="csY40" fmla="*/ 646052 h 4364609"/>
              <a:gd name="csX41" fmla="*/ 1500339 w 2780252"/>
              <a:gd name="csY41" fmla="*/ 646052 h 4364609"/>
              <a:gd name="csX42" fmla="*/ 1500339 w 2780252"/>
              <a:gd name="csY42" fmla="*/ 468983 h 4364609"/>
              <a:gd name="csX43" fmla="*/ 1718172 w 2780252"/>
              <a:gd name="csY43" fmla="*/ 468983 h 4364609"/>
              <a:gd name="csX44" fmla="*/ 1718172 w 2780252"/>
              <a:gd name="csY44" fmla="*/ 316486 h 4364609"/>
              <a:gd name="csX45" fmla="*/ 1909673 w 2780252"/>
              <a:gd name="csY45" fmla="*/ 316486 h 4364609"/>
              <a:gd name="csX46" fmla="*/ 1909673 w 2780252"/>
              <a:gd name="csY46" fmla="*/ 135511 h 4364609"/>
              <a:gd name="csX47" fmla="*/ 1718172 w 2780252"/>
              <a:gd name="csY47" fmla="*/ 135511 h 4364609"/>
              <a:gd name="csX48" fmla="*/ 1718172 w 2780252"/>
              <a:gd name="csY48" fmla="*/ 0 h 4364609"/>
              <a:gd name="csX49" fmla="*/ 2719316 w 2780252"/>
              <a:gd name="csY49" fmla="*/ 0 h 4364609"/>
              <a:gd name="csX50" fmla="*/ 2719316 w 2780252"/>
              <a:gd name="csY50" fmla="*/ 581282 h 4364609"/>
              <a:gd name="csX51" fmla="*/ 2780252 w 2780252"/>
              <a:gd name="csY51" fmla="*/ 581282 h 4364609"/>
              <a:gd name="csX52" fmla="*/ 2780252 w 2780252"/>
              <a:gd name="csY52" fmla="*/ 1348738 h 4364609"/>
              <a:gd name="csX53" fmla="*/ 2719316 w 2780252"/>
              <a:gd name="csY53" fmla="*/ 1348738 h 4364609"/>
              <a:gd name="csX54" fmla="*/ 2719316 w 2780252"/>
              <a:gd name="csY54" fmla="*/ 1958418 h 4364609"/>
              <a:gd name="csX55" fmla="*/ 1765537 w 2780252"/>
              <a:gd name="csY55" fmla="*/ 1958418 h 4364609"/>
              <a:gd name="csX56" fmla="*/ 1765537 w 2780252"/>
              <a:gd name="csY56" fmla="*/ 1957513 h 4364609"/>
              <a:gd name="csX57" fmla="*/ 1580236 w 2780252"/>
              <a:gd name="csY57" fmla="*/ 1957513 h 4364609"/>
              <a:gd name="csX58" fmla="*/ 1580236 w 2780252"/>
              <a:gd name="csY58" fmla="*/ 4364606 h 4364609"/>
              <a:gd name="csX59" fmla="*/ 1614810 w 2780252"/>
              <a:gd name="csY59" fmla="*/ 4364606 h 4364609"/>
              <a:gd name="csX60" fmla="*/ 1614810 w 2780252"/>
              <a:gd name="csY60" fmla="*/ 4364609 h 4364609"/>
              <a:gd name="csX61" fmla="*/ 1165466 w 2780252"/>
              <a:gd name="csY61" fmla="*/ 4364609 h 4364609"/>
              <a:gd name="csX62" fmla="*/ 1165466 w 2780252"/>
              <a:gd name="csY62" fmla="*/ 4364607 h 4364609"/>
              <a:gd name="csX63" fmla="*/ 1243357 w 2780252"/>
              <a:gd name="csY63" fmla="*/ 4364607 h 4364609"/>
              <a:gd name="csX64" fmla="*/ 1243357 w 2780252"/>
              <a:gd name="csY64" fmla="*/ 1957514 h 4364609"/>
              <a:gd name="csX65" fmla="*/ 1058056 w 2780252"/>
              <a:gd name="csY65" fmla="*/ 1957514 h 4364609"/>
              <a:gd name="csX66" fmla="*/ 1058056 w 2780252"/>
              <a:gd name="csY66" fmla="*/ 1958418 h 4364609"/>
              <a:gd name="csX67" fmla="*/ 60960 w 2780252"/>
              <a:gd name="csY67" fmla="*/ 1958418 h 4364609"/>
              <a:gd name="csX68" fmla="*/ 60960 w 2780252"/>
              <a:gd name="csY68" fmla="*/ 1347915 h 4364609"/>
              <a:gd name="csX69" fmla="*/ 0 w 2780252"/>
              <a:gd name="csY69" fmla="*/ 1347915 h 4364609"/>
              <a:gd name="csX70" fmla="*/ 0 w 2780252"/>
              <a:gd name="csY70" fmla="*/ 580459 h 4364609"/>
              <a:gd name="csX71" fmla="*/ 60960 w 2780252"/>
              <a:gd name="csY71" fmla="*/ 580459 h 43646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2780252" h="4364609">
                <a:moveTo>
                  <a:pt x="2342120" y="540195"/>
                </a:moveTo>
                <a:lnTo>
                  <a:pt x="2342120" y="721151"/>
                </a:lnTo>
                <a:lnTo>
                  <a:pt x="2134048" y="721151"/>
                </a:lnTo>
                <a:lnTo>
                  <a:pt x="2134048" y="868807"/>
                </a:lnTo>
                <a:lnTo>
                  <a:pt x="1954011" y="868807"/>
                </a:lnTo>
                <a:lnTo>
                  <a:pt x="1954011" y="1065022"/>
                </a:lnTo>
                <a:lnTo>
                  <a:pt x="2134048" y="1065022"/>
                </a:lnTo>
                <a:lnTo>
                  <a:pt x="2134048" y="1218413"/>
                </a:lnTo>
                <a:lnTo>
                  <a:pt x="2342120" y="1218413"/>
                </a:lnTo>
                <a:lnTo>
                  <a:pt x="2342120" y="1398521"/>
                </a:lnTo>
                <a:lnTo>
                  <a:pt x="2538335" y="1398521"/>
                </a:lnTo>
                <a:lnTo>
                  <a:pt x="2538335" y="1218413"/>
                </a:lnTo>
                <a:lnTo>
                  <a:pt x="2658333" y="1218413"/>
                </a:lnTo>
                <a:lnTo>
                  <a:pt x="2658333" y="721151"/>
                </a:lnTo>
                <a:lnTo>
                  <a:pt x="2538335" y="721151"/>
                </a:lnTo>
                <a:lnTo>
                  <a:pt x="2538335" y="540195"/>
                </a:lnTo>
                <a:close/>
                <a:moveTo>
                  <a:pt x="260658" y="540195"/>
                </a:moveTo>
                <a:lnTo>
                  <a:pt x="260658" y="721151"/>
                </a:lnTo>
                <a:lnTo>
                  <a:pt x="121919" y="721151"/>
                </a:lnTo>
                <a:lnTo>
                  <a:pt x="121919" y="1218413"/>
                </a:lnTo>
                <a:lnTo>
                  <a:pt x="260659" y="1218413"/>
                </a:lnTo>
                <a:lnTo>
                  <a:pt x="260659" y="1398574"/>
                </a:lnTo>
                <a:lnTo>
                  <a:pt x="456874" y="1398574"/>
                </a:lnTo>
                <a:lnTo>
                  <a:pt x="456874" y="1218413"/>
                </a:lnTo>
                <a:lnTo>
                  <a:pt x="643884" y="1218413"/>
                </a:lnTo>
                <a:lnTo>
                  <a:pt x="643884" y="1065022"/>
                </a:lnTo>
                <a:lnTo>
                  <a:pt x="824538" y="1065022"/>
                </a:lnTo>
                <a:lnTo>
                  <a:pt x="824538" y="868807"/>
                </a:lnTo>
                <a:lnTo>
                  <a:pt x="643884" y="868807"/>
                </a:lnTo>
                <a:lnTo>
                  <a:pt x="643884" y="721151"/>
                </a:lnTo>
                <a:lnTo>
                  <a:pt x="456873" y="721151"/>
                </a:lnTo>
                <a:lnTo>
                  <a:pt x="456873" y="540195"/>
                </a:lnTo>
                <a:close/>
                <a:moveTo>
                  <a:pt x="60960" y="0"/>
                </a:moveTo>
                <a:lnTo>
                  <a:pt x="1096002" y="0"/>
                </a:lnTo>
                <a:lnTo>
                  <a:pt x="1096002" y="135511"/>
                </a:lnTo>
                <a:lnTo>
                  <a:pt x="900687" y="135511"/>
                </a:lnTo>
                <a:lnTo>
                  <a:pt x="900687" y="316486"/>
                </a:lnTo>
                <a:lnTo>
                  <a:pt x="1096002" y="316486"/>
                </a:lnTo>
                <a:lnTo>
                  <a:pt x="1096002" y="468983"/>
                </a:lnTo>
                <a:lnTo>
                  <a:pt x="1304124" y="468983"/>
                </a:lnTo>
                <a:lnTo>
                  <a:pt x="1304124" y="646052"/>
                </a:lnTo>
                <a:lnTo>
                  <a:pt x="1500339" y="646052"/>
                </a:lnTo>
                <a:lnTo>
                  <a:pt x="1500339" y="468983"/>
                </a:lnTo>
                <a:lnTo>
                  <a:pt x="1718172" y="468983"/>
                </a:lnTo>
                <a:lnTo>
                  <a:pt x="1718172" y="316486"/>
                </a:lnTo>
                <a:lnTo>
                  <a:pt x="1909673" y="316486"/>
                </a:lnTo>
                <a:lnTo>
                  <a:pt x="1909673" y="135511"/>
                </a:lnTo>
                <a:lnTo>
                  <a:pt x="1718172" y="135511"/>
                </a:lnTo>
                <a:lnTo>
                  <a:pt x="1718172" y="0"/>
                </a:lnTo>
                <a:lnTo>
                  <a:pt x="2719316" y="0"/>
                </a:lnTo>
                <a:lnTo>
                  <a:pt x="2719316" y="581282"/>
                </a:lnTo>
                <a:lnTo>
                  <a:pt x="2780252" y="581282"/>
                </a:lnTo>
                <a:lnTo>
                  <a:pt x="2780252" y="1348738"/>
                </a:lnTo>
                <a:lnTo>
                  <a:pt x="2719316" y="1348738"/>
                </a:lnTo>
                <a:lnTo>
                  <a:pt x="2719316" y="1958418"/>
                </a:lnTo>
                <a:lnTo>
                  <a:pt x="1765537" y="1958418"/>
                </a:lnTo>
                <a:lnTo>
                  <a:pt x="1765537" y="1957513"/>
                </a:lnTo>
                <a:lnTo>
                  <a:pt x="1580236" y="1957513"/>
                </a:lnTo>
                <a:lnTo>
                  <a:pt x="1580236" y="4364606"/>
                </a:lnTo>
                <a:lnTo>
                  <a:pt x="1614810" y="4364606"/>
                </a:lnTo>
                <a:lnTo>
                  <a:pt x="1614810" y="4364609"/>
                </a:lnTo>
                <a:lnTo>
                  <a:pt x="1165466" y="4364609"/>
                </a:lnTo>
                <a:lnTo>
                  <a:pt x="1165466" y="4364607"/>
                </a:lnTo>
                <a:lnTo>
                  <a:pt x="1243357" y="4364607"/>
                </a:lnTo>
                <a:lnTo>
                  <a:pt x="1243357" y="1957514"/>
                </a:lnTo>
                <a:lnTo>
                  <a:pt x="1058056" y="1957514"/>
                </a:lnTo>
                <a:lnTo>
                  <a:pt x="1058056" y="1958418"/>
                </a:lnTo>
                <a:lnTo>
                  <a:pt x="60960" y="1958418"/>
                </a:lnTo>
                <a:lnTo>
                  <a:pt x="60960" y="1347915"/>
                </a:lnTo>
                <a:lnTo>
                  <a:pt x="0" y="1347915"/>
                </a:lnTo>
                <a:lnTo>
                  <a:pt x="0" y="580459"/>
                </a:lnTo>
                <a:lnTo>
                  <a:pt x="60960" y="580459"/>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3" name="Rectangle 12">
            <a:extLst>
              <a:ext uri="{FF2B5EF4-FFF2-40B4-BE49-F238E27FC236}">
                <a16:creationId xmlns:a16="http://schemas.microsoft.com/office/drawing/2014/main" id="{71A76440-D1E9-363F-D114-27195A68AA7D}"/>
              </a:ext>
            </a:extLst>
          </p:cNvPr>
          <p:cNvSpPr/>
          <p:nvPr/>
        </p:nvSpPr>
        <p:spPr>
          <a:xfrm>
            <a:off x="7998312" y="1378671"/>
            <a:ext cx="2982676" cy="49207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reeform: Shape 23">
            <a:extLst>
              <a:ext uri="{FF2B5EF4-FFF2-40B4-BE49-F238E27FC236}">
                <a16:creationId xmlns:a16="http://schemas.microsoft.com/office/drawing/2014/main" id="{D72CF74B-BD1D-8971-EF21-C0FC633543CE}"/>
              </a:ext>
            </a:extLst>
          </p:cNvPr>
          <p:cNvSpPr/>
          <p:nvPr/>
        </p:nvSpPr>
        <p:spPr>
          <a:xfrm>
            <a:off x="8349600" y="3839066"/>
            <a:ext cx="2280100" cy="2460396"/>
          </a:xfrm>
          <a:custGeom>
            <a:avLst/>
            <a:gdLst>
              <a:gd name="csX0" fmla="*/ 0 w 2280100"/>
              <a:gd name="csY0" fmla="*/ 0 h 2460396"/>
              <a:gd name="csX1" fmla="*/ 945229 w 2280100"/>
              <a:gd name="csY1" fmla="*/ 0 h 2460396"/>
              <a:gd name="csX2" fmla="*/ 945229 w 2280100"/>
              <a:gd name="csY2" fmla="*/ 676375 h 2460396"/>
              <a:gd name="csX3" fmla="*/ 1331728 w 2280100"/>
              <a:gd name="csY3" fmla="*/ 676375 h 2460396"/>
              <a:gd name="csX4" fmla="*/ 1331728 w 2280100"/>
              <a:gd name="csY4" fmla="*/ 0 h 2460396"/>
              <a:gd name="csX5" fmla="*/ 2280100 w 2280100"/>
              <a:gd name="csY5" fmla="*/ 0 h 2460396"/>
              <a:gd name="csX6" fmla="*/ 2280100 w 2280100"/>
              <a:gd name="csY6" fmla="*/ 2460396 h 2460396"/>
              <a:gd name="csX7" fmla="*/ 0 w 2280100"/>
              <a:gd name="csY7" fmla="*/ 2460396 h 2460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80100" h="2460396">
                <a:moveTo>
                  <a:pt x="0" y="0"/>
                </a:moveTo>
                <a:lnTo>
                  <a:pt x="945229" y="0"/>
                </a:lnTo>
                <a:lnTo>
                  <a:pt x="945229" y="676375"/>
                </a:lnTo>
                <a:lnTo>
                  <a:pt x="1331728" y="676375"/>
                </a:lnTo>
                <a:lnTo>
                  <a:pt x="1331728" y="0"/>
                </a:lnTo>
                <a:lnTo>
                  <a:pt x="2280100" y="0"/>
                </a:lnTo>
                <a:lnTo>
                  <a:pt x="2280100" y="2460396"/>
                </a:lnTo>
                <a:lnTo>
                  <a:pt x="0" y="2460396"/>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cxnSp>
        <p:nvCxnSpPr>
          <p:cNvPr id="16" name="Straight Arrow Connector 15">
            <a:extLst>
              <a:ext uri="{FF2B5EF4-FFF2-40B4-BE49-F238E27FC236}">
                <a16:creationId xmlns:a16="http://schemas.microsoft.com/office/drawing/2014/main" id="{B90D24FC-D162-8EE4-4EDE-1B3F2A2CDE5F}"/>
              </a:ext>
            </a:extLst>
          </p:cNvPr>
          <p:cNvCxnSpPr/>
          <p:nvPr/>
        </p:nvCxnSpPr>
        <p:spPr>
          <a:xfrm>
            <a:off x="527901" y="1378671"/>
            <a:ext cx="0" cy="4920791"/>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37FB2823-4942-DEFA-A4BA-65B2FD580B1E}"/>
              </a:ext>
            </a:extLst>
          </p:cNvPr>
          <p:cNvCxnSpPr>
            <a:cxnSpLocks/>
          </p:cNvCxnSpPr>
          <p:nvPr/>
        </p:nvCxnSpPr>
        <p:spPr>
          <a:xfrm>
            <a:off x="1018888" y="1216060"/>
            <a:ext cx="2994330"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95D784FD-4ACB-F60F-DC9E-809BBCA4A6A3}"/>
              </a:ext>
            </a:extLst>
          </p:cNvPr>
          <p:cNvCxnSpPr/>
          <p:nvPr/>
        </p:nvCxnSpPr>
        <p:spPr>
          <a:xfrm>
            <a:off x="4293805" y="1934854"/>
            <a:ext cx="0" cy="1977272"/>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D8EF3575-973B-84E9-6A85-FFF22B982400}"/>
              </a:ext>
            </a:extLst>
          </p:cNvPr>
          <p:cNvCxnSpPr/>
          <p:nvPr/>
        </p:nvCxnSpPr>
        <p:spPr>
          <a:xfrm>
            <a:off x="1197205" y="1857083"/>
            <a:ext cx="2658356"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DF89AC22-1CFA-24C9-139C-B1F9B4BAADA6}"/>
              </a:ext>
            </a:extLst>
          </p:cNvPr>
          <p:cNvCxnSpPr/>
          <p:nvPr/>
        </p:nvCxnSpPr>
        <p:spPr>
          <a:xfrm>
            <a:off x="2328421" y="6447936"/>
            <a:ext cx="433633"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id="{2F86388A-A8D5-DD7A-BDAF-C4EFD1E953CC}"/>
              </a:ext>
            </a:extLst>
          </p:cNvPr>
          <p:cNvCxnSpPr/>
          <p:nvPr/>
        </p:nvCxnSpPr>
        <p:spPr>
          <a:xfrm>
            <a:off x="2856322" y="3959260"/>
            <a:ext cx="0" cy="2321348"/>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9CFDF0B0-B1A0-7312-C836-F83CD5A756E9}"/>
              </a:ext>
            </a:extLst>
          </p:cNvPr>
          <p:cNvCxnSpPr/>
          <p:nvPr/>
        </p:nvCxnSpPr>
        <p:spPr>
          <a:xfrm>
            <a:off x="7532016" y="3839066"/>
            <a:ext cx="0" cy="2441542"/>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524D6FF-2A6B-19F9-2E52-E4E44339A89A}"/>
                  </a:ext>
                </a:extLst>
              </p:cNvPr>
              <p:cNvSpPr txBox="1"/>
              <p:nvPr/>
            </p:nvSpPr>
            <p:spPr>
              <a:xfrm>
                <a:off x="2342561" y="945727"/>
                <a:ext cx="20460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𝑰</m:t>
                          </m:r>
                        </m:e>
                        <m:sub>
                          <m:r>
                            <a:rPr lang="en-US" sz="1400" b="1" i="1" smtClean="0">
                              <a:latin typeface="Cambria Math" panose="02040503050406030204" pitchFamily="18" charset="0"/>
                            </a:rPr>
                            <m:t>𝟏</m:t>
                          </m:r>
                        </m:sub>
                      </m:sSub>
                    </m:oMath>
                  </m:oMathPara>
                </a14:m>
                <a:endParaRPr lang="en-IN" sz="1400" b="1" dirty="0"/>
              </a:p>
            </p:txBody>
          </p:sp>
        </mc:Choice>
        <mc:Fallback xmlns="">
          <p:sp>
            <p:nvSpPr>
              <p:cNvPr id="34" name="TextBox 33">
                <a:extLst>
                  <a:ext uri="{FF2B5EF4-FFF2-40B4-BE49-F238E27FC236}">
                    <a16:creationId xmlns:a16="http://schemas.microsoft.com/office/drawing/2014/main" id="{7524D6FF-2A6B-19F9-2E52-E4E44339A89A}"/>
                  </a:ext>
                </a:extLst>
              </p:cNvPr>
              <p:cNvSpPr txBox="1">
                <a:spLocks noRot="1" noChangeAspect="1" noMove="1" noResize="1" noEditPoints="1" noAdjustHandles="1" noChangeArrowheads="1" noChangeShapeType="1" noTextEdit="1"/>
              </p:cNvSpPr>
              <p:nvPr/>
            </p:nvSpPr>
            <p:spPr>
              <a:xfrm>
                <a:off x="2342561" y="945727"/>
                <a:ext cx="204608" cy="215444"/>
              </a:xfrm>
              <a:prstGeom prst="rect">
                <a:avLst/>
              </a:prstGeom>
              <a:blipFill>
                <a:blip r:embed="rId2"/>
                <a:stretch>
                  <a:fillRect l="-20588" r="-8824" b="-171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E381902-8BC7-A23B-5B37-F70BDB293153}"/>
                  </a:ext>
                </a:extLst>
              </p:cNvPr>
              <p:cNvSpPr txBox="1"/>
              <p:nvPr/>
            </p:nvSpPr>
            <p:spPr>
              <a:xfrm>
                <a:off x="2356702" y="1608155"/>
                <a:ext cx="20460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𝑰</m:t>
                          </m:r>
                        </m:e>
                        <m:sub>
                          <m:r>
                            <a:rPr lang="en-US" sz="1400" b="1" i="1" smtClean="0">
                              <a:latin typeface="Cambria Math" panose="02040503050406030204" pitchFamily="18" charset="0"/>
                            </a:rPr>
                            <m:t>𝟐</m:t>
                          </m:r>
                        </m:sub>
                      </m:sSub>
                    </m:oMath>
                  </m:oMathPara>
                </a14:m>
                <a:endParaRPr lang="en-IN" sz="1400" b="1" dirty="0"/>
              </a:p>
            </p:txBody>
          </p:sp>
        </mc:Choice>
        <mc:Fallback xmlns="">
          <p:sp>
            <p:nvSpPr>
              <p:cNvPr id="35" name="TextBox 34">
                <a:extLst>
                  <a:ext uri="{FF2B5EF4-FFF2-40B4-BE49-F238E27FC236}">
                    <a16:creationId xmlns:a16="http://schemas.microsoft.com/office/drawing/2014/main" id="{2E381902-8BC7-A23B-5B37-F70BDB293153}"/>
                  </a:ext>
                </a:extLst>
              </p:cNvPr>
              <p:cNvSpPr txBox="1">
                <a:spLocks noRot="1" noChangeAspect="1" noMove="1" noResize="1" noEditPoints="1" noAdjustHandles="1" noChangeArrowheads="1" noChangeShapeType="1" noTextEdit="1"/>
              </p:cNvSpPr>
              <p:nvPr/>
            </p:nvSpPr>
            <p:spPr>
              <a:xfrm>
                <a:off x="2356702" y="1608155"/>
                <a:ext cx="204608" cy="215444"/>
              </a:xfrm>
              <a:prstGeom prst="rect">
                <a:avLst/>
              </a:prstGeom>
              <a:blipFill>
                <a:blip r:embed="rId3"/>
                <a:stretch>
                  <a:fillRect l="-21212" r="-9091" b="-142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5595695-05D2-B79C-0DB7-65BF6EA53ED3}"/>
                  </a:ext>
                </a:extLst>
              </p:cNvPr>
              <p:cNvSpPr txBox="1"/>
              <p:nvPr/>
            </p:nvSpPr>
            <p:spPr>
              <a:xfrm>
                <a:off x="4412295" y="2777295"/>
                <a:ext cx="20140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𝑱</m:t>
                          </m:r>
                        </m:e>
                        <m:sub>
                          <m:r>
                            <a:rPr lang="en-US" sz="1400" b="1" i="1" smtClean="0">
                              <a:latin typeface="Cambria Math" panose="02040503050406030204" pitchFamily="18" charset="0"/>
                            </a:rPr>
                            <m:t>𝟐</m:t>
                          </m:r>
                        </m:sub>
                      </m:sSub>
                    </m:oMath>
                  </m:oMathPara>
                </a14:m>
                <a:endParaRPr lang="en-IN" sz="1400" b="1" dirty="0"/>
              </a:p>
            </p:txBody>
          </p:sp>
        </mc:Choice>
        <mc:Fallback xmlns="">
          <p:sp>
            <p:nvSpPr>
              <p:cNvPr id="36" name="TextBox 35">
                <a:extLst>
                  <a:ext uri="{FF2B5EF4-FFF2-40B4-BE49-F238E27FC236}">
                    <a16:creationId xmlns:a16="http://schemas.microsoft.com/office/drawing/2014/main" id="{45595695-05D2-B79C-0DB7-65BF6EA53ED3}"/>
                  </a:ext>
                </a:extLst>
              </p:cNvPr>
              <p:cNvSpPr txBox="1">
                <a:spLocks noRot="1" noChangeAspect="1" noMove="1" noResize="1" noEditPoints="1" noAdjustHandles="1" noChangeArrowheads="1" noChangeShapeType="1" noTextEdit="1"/>
              </p:cNvSpPr>
              <p:nvPr/>
            </p:nvSpPr>
            <p:spPr>
              <a:xfrm>
                <a:off x="4412295" y="2777295"/>
                <a:ext cx="201401" cy="215444"/>
              </a:xfrm>
              <a:prstGeom prst="rect">
                <a:avLst/>
              </a:prstGeom>
              <a:blipFill>
                <a:blip r:embed="rId4"/>
                <a:stretch>
                  <a:fillRect l="-30303" r="-6061" b="-31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440022A-0D49-EACC-945D-44D8F7DFAA54}"/>
                  </a:ext>
                </a:extLst>
              </p:cNvPr>
              <p:cNvSpPr txBox="1"/>
              <p:nvPr/>
            </p:nvSpPr>
            <p:spPr>
              <a:xfrm>
                <a:off x="2971016" y="4961542"/>
                <a:ext cx="20140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𝑱</m:t>
                          </m:r>
                        </m:e>
                        <m:sub>
                          <m:r>
                            <a:rPr lang="en-US" sz="1400" b="1" i="1" smtClean="0">
                              <a:latin typeface="Cambria Math" panose="02040503050406030204" pitchFamily="18" charset="0"/>
                            </a:rPr>
                            <m:t>𝟑</m:t>
                          </m:r>
                        </m:sub>
                      </m:sSub>
                    </m:oMath>
                  </m:oMathPara>
                </a14:m>
                <a:endParaRPr lang="en-IN" sz="1400" b="1" dirty="0"/>
              </a:p>
            </p:txBody>
          </p:sp>
        </mc:Choice>
        <mc:Fallback xmlns="">
          <p:sp>
            <p:nvSpPr>
              <p:cNvPr id="37" name="TextBox 36">
                <a:extLst>
                  <a:ext uri="{FF2B5EF4-FFF2-40B4-BE49-F238E27FC236}">
                    <a16:creationId xmlns:a16="http://schemas.microsoft.com/office/drawing/2014/main" id="{D440022A-0D49-EACC-945D-44D8F7DFAA54}"/>
                  </a:ext>
                </a:extLst>
              </p:cNvPr>
              <p:cNvSpPr txBox="1">
                <a:spLocks noRot="1" noChangeAspect="1" noMove="1" noResize="1" noEditPoints="1" noAdjustHandles="1" noChangeArrowheads="1" noChangeShapeType="1" noTextEdit="1"/>
              </p:cNvSpPr>
              <p:nvPr/>
            </p:nvSpPr>
            <p:spPr>
              <a:xfrm>
                <a:off x="2971016" y="4961542"/>
                <a:ext cx="201401" cy="215444"/>
              </a:xfrm>
              <a:prstGeom prst="rect">
                <a:avLst/>
              </a:prstGeom>
              <a:blipFill>
                <a:blip r:embed="rId5"/>
                <a:stretch>
                  <a:fillRect l="-30303" r="-9091" b="-31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744A137-DD36-E433-CBC1-CCF88EB68C59}"/>
                  </a:ext>
                </a:extLst>
              </p:cNvPr>
              <p:cNvSpPr txBox="1"/>
              <p:nvPr/>
            </p:nvSpPr>
            <p:spPr>
              <a:xfrm>
                <a:off x="146850" y="3587588"/>
                <a:ext cx="20140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𝑱</m:t>
                          </m:r>
                        </m:e>
                        <m:sub>
                          <m:r>
                            <a:rPr lang="en-US" sz="1400" b="1" i="1" smtClean="0">
                              <a:latin typeface="Cambria Math" panose="02040503050406030204" pitchFamily="18" charset="0"/>
                            </a:rPr>
                            <m:t>𝟏</m:t>
                          </m:r>
                        </m:sub>
                      </m:sSub>
                    </m:oMath>
                  </m:oMathPara>
                </a14:m>
                <a:endParaRPr lang="en-IN" sz="1400" b="1" dirty="0"/>
              </a:p>
            </p:txBody>
          </p:sp>
        </mc:Choice>
        <mc:Fallback xmlns="">
          <p:sp>
            <p:nvSpPr>
              <p:cNvPr id="38" name="TextBox 37">
                <a:extLst>
                  <a:ext uri="{FF2B5EF4-FFF2-40B4-BE49-F238E27FC236}">
                    <a16:creationId xmlns:a16="http://schemas.microsoft.com/office/drawing/2014/main" id="{3744A137-DD36-E433-CBC1-CCF88EB68C59}"/>
                  </a:ext>
                </a:extLst>
              </p:cNvPr>
              <p:cNvSpPr txBox="1">
                <a:spLocks noRot="1" noChangeAspect="1" noMove="1" noResize="1" noEditPoints="1" noAdjustHandles="1" noChangeArrowheads="1" noChangeShapeType="1" noTextEdit="1"/>
              </p:cNvSpPr>
              <p:nvPr/>
            </p:nvSpPr>
            <p:spPr>
              <a:xfrm>
                <a:off x="146850" y="3587588"/>
                <a:ext cx="201401" cy="215444"/>
              </a:xfrm>
              <a:prstGeom prst="rect">
                <a:avLst/>
              </a:prstGeom>
              <a:blipFill>
                <a:blip r:embed="rId6"/>
                <a:stretch>
                  <a:fillRect l="-30303" r="-9091" b="-31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A3D1237-965A-C7BC-CFEC-00C2A52BD22E}"/>
                  </a:ext>
                </a:extLst>
              </p:cNvPr>
              <p:cNvSpPr txBox="1"/>
              <p:nvPr/>
            </p:nvSpPr>
            <p:spPr>
              <a:xfrm>
                <a:off x="7114933" y="4853820"/>
                <a:ext cx="20140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𝑱</m:t>
                          </m:r>
                        </m:e>
                        <m:sub>
                          <m:r>
                            <a:rPr lang="en-IN" sz="1400" b="1" i="1" smtClean="0">
                              <a:latin typeface="Cambria Math" panose="02040503050406030204" pitchFamily="18" charset="0"/>
                            </a:rPr>
                            <m:t>𝟒</m:t>
                          </m:r>
                        </m:sub>
                      </m:sSub>
                    </m:oMath>
                  </m:oMathPara>
                </a14:m>
                <a:endParaRPr lang="en-IN" sz="1400" b="1" dirty="0"/>
              </a:p>
            </p:txBody>
          </p:sp>
        </mc:Choice>
        <mc:Fallback xmlns="">
          <p:sp>
            <p:nvSpPr>
              <p:cNvPr id="39" name="TextBox 38">
                <a:extLst>
                  <a:ext uri="{FF2B5EF4-FFF2-40B4-BE49-F238E27FC236}">
                    <a16:creationId xmlns:a16="http://schemas.microsoft.com/office/drawing/2014/main" id="{1A3D1237-965A-C7BC-CFEC-00C2A52BD22E}"/>
                  </a:ext>
                </a:extLst>
              </p:cNvPr>
              <p:cNvSpPr txBox="1">
                <a:spLocks noRot="1" noChangeAspect="1" noMove="1" noResize="1" noEditPoints="1" noAdjustHandles="1" noChangeArrowheads="1" noChangeShapeType="1" noTextEdit="1"/>
              </p:cNvSpPr>
              <p:nvPr/>
            </p:nvSpPr>
            <p:spPr>
              <a:xfrm>
                <a:off x="7114933" y="4853820"/>
                <a:ext cx="201401" cy="215444"/>
              </a:xfrm>
              <a:prstGeom prst="rect">
                <a:avLst/>
              </a:prstGeom>
              <a:blipFill>
                <a:blip r:embed="rId7"/>
                <a:stretch>
                  <a:fillRect l="-30303" r="-9091" b="-277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BB6656B-B737-618F-FE60-831F7861358F}"/>
                  </a:ext>
                </a:extLst>
              </p:cNvPr>
              <p:cNvSpPr txBox="1"/>
              <p:nvPr/>
            </p:nvSpPr>
            <p:spPr>
              <a:xfrm>
                <a:off x="2442933" y="6488688"/>
                <a:ext cx="20460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𝑰</m:t>
                          </m:r>
                        </m:e>
                        <m:sub>
                          <m:r>
                            <a:rPr lang="en-US" sz="1400" b="1" i="1" smtClean="0">
                              <a:latin typeface="Cambria Math" panose="02040503050406030204" pitchFamily="18" charset="0"/>
                            </a:rPr>
                            <m:t>𝟑</m:t>
                          </m:r>
                        </m:sub>
                      </m:sSub>
                    </m:oMath>
                  </m:oMathPara>
                </a14:m>
                <a:endParaRPr lang="en-IN" sz="1400" b="1" dirty="0"/>
              </a:p>
            </p:txBody>
          </p:sp>
        </mc:Choice>
        <mc:Fallback xmlns="">
          <p:sp>
            <p:nvSpPr>
              <p:cNvPr id="41" name="TextBox 40">
                <a:extLst>
                  <a:ext uri="{FF2B5EF4-FFF2-40B4-BE49-F238E27FC236}">
                    <a16:creationId xmlns:a16="http://schemas.microsoft.com/office/drawing/2014/main" id="{1BB6656B-B737-618F-FE60-831F7861358F}"/>
                  </a:ext>
                </a:extLst>
              </p:cNvPr>
              <p:cNvSpPr txBox="1">
                <a:spLocks noRot="1" noChangeAspect="1" noMove="1" noResize="1" noEditPoints="1" noAdjustHandles="1" noChangeArrowheads="1" noChangeShapeType="1" noTextEdit="1"/>
              </p:cNvSpPr>
              <p:nvPr/>
            </p:nvSpPr>
            <p:spPr>
              <a:xfrm>
                <a:off x="2442933" y="6488688"/>
                <a:ext cx="204608" cy="215444"/>
              </a:xfrm>
              <a:prstGeom prst="rect">
                <a:avLst/>
              </a:prstGeom>
              <a:blipFill>
                <a:blip r:embed="rId8"/>
                <a:stretch>
                  <a:fillRect l="-21212" r="-9091" b="-13889"/>
                </a:stretch>
              </a:blipFill>
            </p:spPr>
            <p:txBody>
              <a:bodyPr/>
              <a:lstStyle/>
              <a:p>
                <a:r>
                  <a:rPr lang="en-IN">
                    <a:noFill/>
                  </a:rPr>
                  <a:t> </a:t>
                </a:r>
              </a:p>
            </p:txBody>
          </p:sp>
        </mc:Fallback>
      </mc:AlternateContent>
      <p:cxnSp>
        <p:nvCxnSpPr>
          <p:cNvPr id="11" name="Straight Arrow Connector 10">
            <a:extLst>
              <a:ext uri="{FF2B5EF4-FFF2-40B4-BE49-F238E27FC236}">
                <a16:creationId xmlns:a16="http://schemas.microsoft.com/office/drawing/2014/main" id="{4145745A-4738-0E8B-58E9-FF0A6A9CEF0F}"/>
              </a:ext>
            </a:extLst>
          </p:cNvPr>
          <p:cNvCxnSpPr>
            <a:cxnSpLocks/>
          </p:cNvCxnSpPr>
          <p:nvPr/>
        </p:nvCxnSpPr>
        <p:spPr>
          <a:xfrm>
            <a:off x="1385235" y="2426796"/>
            <a:ext cx="207345"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7FA95EE2-07B0-242E-7883-D438A7C20449}"/>
              </a:ext>
            </a:extLst>
          </p:cNvPr>
          <p:cNvCxnSpPr>
            <a:cxnSpLocks/>
          </p:cNvCxnSpPr>
          <p:nvPr/>
        </p:nvCxnSpPr>
        <p:spPr>
          <a:xfrm>
            <a:off x="1592580" y="2600503"/>
            <a:ext cx="180594"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3" name="Straight Arrow Connector 2">
            <a:extLst>
              <a:ext uri="{FF2B5EF4-FFF2-40B4-BE49-F238E27FC236}">
                <a16:creationId xmlns:a16="http://schemas.microsoft.com/office/drawing/2014/main" id="{075F8FCB-479E-0EBD-0ECE-F508B1391AB1}"/>
              </a:ext>
            </a:extLst>
          </p:cNvPr>
          <p:cNvCxnSpPr>
            <a:cxnSpLocks/>
          </p:cNvCxnSpPr>
          <p:nvPr/>
        </p:nvCxnSpPr>
        <p:spPr>
          <a:xfrm>
            <a:off x="2011957" y="2793674"/>
            <a:ext cx="0" cy="225066"/>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17417698-3D79-FF05-A2CF-56CC3643512D}"/>
              </a:ext>
            </a:extLst>
          </p:cNvPr>
          <p:cNvCxnSpPr>
            <a:cxnSpLocks/>
          </p:cNvCxnSpPr>
          <p:nvPr/>
        </p:nvCxnSpPr>
        <p:spPr>
          <a:xfrm>
            <a:off x="2420057" y="2660324"/>
            <a:ext cx="220585"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5E11AF2-5F1E-4ADE-08AF-4405DB649B8B}"/>
                  </a:ext>
                </a:extLst>
              </p:cNvPr>
              <p:cNvSpPr txBox="1"/>
              <p:nvPr/>
            </p:nvSpPr>
            <p:spPr>
              <a:xfrm>
                <a:off x="2049255" y="2815768"/>
                <a:ext cx="168316"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900" b="1" i="1" smtClean="0">
                              <a:latin typeface="Cambria Math" panose="02040503050406030204" pitchFamily="18" charset="0"/>
                            </a:rPr>
                          </m:ctrlPr>
                        </m:sSubPr>
                        <m:e>
                          <m:r>
                            <a:rPr lang="en-IN" sz="900" b="1" i="1" smtClean="0">
                              <a:latin typeface="Cambria Math" panose="02040503050406030204" pitchFamily="18" charset="0"/>
                            </a:rPr>
                            <m:t>𝑲</m:t>
                          </m:r>
                        </m:e>
                        <m:sub>
                          <m:r>
                            <a:rPr lang="en-US" sz="900" b="1" i="1" smtClean="0">
                              <a:latin typeface="Cambria Math" panose="02040503050406030204" pitchFamily="18" charset="0"/>
                            </a:rPr>
                            <m:t>𝟏</m:t>
                          </m:r>
                        </m:sub>
                      </m:sSub>
                    </m:oMath>
                  </m:oMathPara>
                </a14:m>
                <a:endParaRPr lang="en-IN" sz="900" b="1" dirty="0"/>
              </a:p>
            </p:txBody>
          </p:sp>
        </mc:Choice>
        <mc:Fallback xmlns="">
          <p:sp>
            <p:nvSpPr>
              <p:cNvPr id="31" name="TextBox 30">
                <a:extLst>
                  <a:ext uri="{FF2B5EF4-FFF2-40B4-BE49-F238E27FC236}">
                    <a16:creationId xmlns:a16="http://schemas.microsoft.com/office/drawing/2014/main" id="{A5E11AF2-5F1E-4ADE-08AF-4405DB649B8B}"/>
                  </a:ext>
                </a:extLst>
              </p:cNvPr>
              <p:cNvSpPr txBox="1">
                <a:spLocks noRot="1" noChangeAspect="1" noMove="1" noResize="1" noEditPoints="1" noAdjustHandles="1" noChangeArrowheads="1" noChangeShapeType="1" noTextEdit="1"/>
              </p:cNvSpPr>
              <p:nvPr/>
            </p:nvSpPr>
            <p:spPr>
              <a:xfrm>
                <a:off x="2049255" y="2815768"/>
                <a:ext cx="168316" cy="138499"/>
              </a:xfrm>
              <a:prstGeom prst="rect">
                <a:avLst/>
              </a:prstGeom>
              <a:blipFill>
                <a:blip r:embed="rId9"/>
                <a:stretch>
                  <a:fillRect l="-17857" r="-10714" b="-1739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C4FD39B-92C3-D86F-88E9-38513A78B1D8}"/>
                  </a:ext>
                </a:extLst>
              </p:cNvPr>
              <p:cNvSpPr txBox="1"/>
              <p:nvPr/>
            </p:nvSpPr>
            <p:spPr>
              <a:xfrm>
                <a:off x="1614477" y="2413266"/>
                <a:ext cx="168316"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900" b="1" i="1" smtClean="0">
                              <a:latin typeface="Cambria Math" panose="02040503050406030204" pitchFamily="18" charset="0"/>
                            </a:rPr>
                          </m:ctrlPr>
                        </m:sSubPr>
                        <m:e>
                          <m:r>
                            <a:rPr lang="en-IN" sz="900" b="1" i="1" smtClean="0">
                              <a:latin typeface="Cambria Math" panose="02040503050406030204" pitchFamily="18" charset="0"/>
                            </a:rPr>
                            <m:t>𝑲</m:t>
                          </m:r>
                        </m:e>
                        <m:sub>
                          <m:r>
                            <a:rPr lang="en-IN" sz="900" b="1" i="1" smtClean="0">
                              <a:latin typeface="Cambria Math" panose="02040503050406030204" pitchFamily="18" charset="0"/>
                            </a:rPr>
                            <m:t>𝟐</m:t>
                          </m:r>
                        </m:sub>
                      </m:sSub>
                    </m:oMath>
                  </m:oMathPara>
                </a14:m>
                <a:endParaRPr lang="en-IN" sz="900" b="1" dirty="0"/>
              </a:p>
            </p:txBody>
          </p:sp>
        </mc:Choice>
        <mc:Fallback xmlns="">
          <p:sp>
            <p:nvSpPr>
              <p:cNvPr id="33" name="TextBox 32">
                <a:extLst>
                  <a:ext uri="{FF2B5EF4-FFF2-40B4-BE49-F238E27FC236}">
                    <a16:creationId xmlns:a16="http://schemas.microsoft.com/office/drawing/2014/main" id="{9C4FD39B-92C3-D86F-88E9-38513A78B1D8}"/>
                  </a:ext>
                </a:extLst>
              </p:cNvPr>
              <p:cNvSpPr txBox="1">
                <a:spLocks noRot="1" noChangeAspect="1" noMove="1" noResize="1" noEditPoints="1" noAdjustHandles="1" noChangeArrowheads="1" noChangeShapeType="1" noTextEdit="1"/>
              </p:cNvSpPr>
              <p:nvPr/>
            </p:nvSpPr>
            <p:spPr>
              <a:xfrm>
                <a:off x="1614477" y="2413266"/>
                <a:ext cx="168316" cy="138499"/>
              </a:xfrm>
              <a:prstGeom prst="rect">
                <a:avLst/>
              </a:prstGeom>
              <a:blipFill>
                <a:blip r:embed="rId10"/>
                <a:stretch>
                  <a:fillRect l="-18519" r="-11111" b="-1739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141B9A5-1C0F-D097-9A24-5E52CC9EA7D3}"/>
                  </a:ext>
                </a:extLst>
              </p:cNvPr>
              <p:cNvSpPr txBox="1"/>
              <p:nvPr/>
            </p:nvSpPr>
            <p:spPr>
              <a:xfrm>
                <a:off x="1409558" y="2231859"/>
                <a:ext cx="168316"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900" b="1" i="1" smtClean="0">
                              <a:latin typeface="Cambria Math" panose="02040503050406030204" pitchFamily="18" charset="0"/>
                            </a:rPr>
                          </m:ctrlPr>
                        </m:sSubPr>
                        <m:e>
                          <m:r>
                            <a:rPr lang="en-IN" sz="900" b="1" i="1" smtClean="0">
                              <a:latin typeface="Cambria Math" panose="02040503050406030204" pitchFamily="18" charset="0"/>
                            </a:rPr>
                            <m:t>𝑲</m:t>
                          </m:r>
                        </m:e>
                        <m:sub>
                          <m:r>
                            <a:rPr lang="en-IN" sz="900" b="1" i="1" smtClean="0">
                              <a:latin typeface="Cambria Math" panose="02040503050406030204" pitchFamily="18" charset="0"/>
                            </a:rPr>
                            <m:t>𝟑</m:t>
                          </m:r>
                        </m:sub>
                      </m:sSub>
                    </m:oMath>
                  </m:oMathPara>
                </a14:m>
                <a:endParaRPr lang="en-IN" sz="900" b="1" dirty="0"/>
              </a:p>
            </p:txBody>
          </p:sp>
        </mc:Choice>
        <mc:Fallback xmlns="">
          <p:sp>
            <p:nvSpPr>
              <p:cNvPr id="40" name="TextBox 39">
                <a:extLst>
                  <a:ext uri="{FF2B5EF4-FFF2-40B4-BE49-F238E27FC236}">
                    <a16:creationId xmlns:a16="http://schemas.microsoft.com/office/drawing/2014/main" id="{5141B9A5-1C0F-D097-9A24-5E52CC9EA7D3}"/>
                  </a:ext>
                </a:extLst>
              </p:cNvPr>
              <p:cNvSpPr txBox="1">
                <a:spLocks noRot="1" noChangeAspect="1" noMove="1" noResize="1" noEditPoints="1" noAdjustHandles="1" noChangeArrowheads="1" noChangeShapeType="1" noTextEdit="1"/>
              </p:cNvSpPr>
              <p:nvPr/>
            </p:nvSpPr>
            <p:spPr>
              <a:xfrm>
                <a:off x="1409558" y="2231859"/>
                <a:ext cx="168316" cy="138499"/>
              </a:xfrm>
              <a:prstGeom prst="rect">
                <a:avLst/>
              </a:prstGeom>
              <a:blipFill>
                <a:blip r:embed="rId11"/>
                <a:stretch>
                  <a:fillRect l="-17857" r="-10714" b="-2173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AEEC526-F505-9B05-CBD3-6A7CDB2051EA}"/>
                  </a:ext>
                </a:extLst>
              </p:cNvPr>
              <p:cNvSpPr txBox="1"/>
              <p:nvPr/>
            </p:nvSpPr>
            <p:spPr>
              <a:xfrm>
                <a:off x="2443735" y="2731928"/>
                <a:ext cx="168316"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900" b="1" i="1" smtClean="0">
                              <a:latin typeface="Cambria Math" panose="02040503050406030204" pitchFamily="18" charset="0"/>
                            </a:rPr>
                          </m:ctrlPr>
                        </m:sSubPr>
                        <m:e>
                          <m:r>
                            <a:rPr lang="en-IN" sz="900" b="1" i="1" smtClean="0">
                              <a:latin typeface="Cambria Math" panose="02040503050406030204" pitchFamily="18" charset="0"/>
                            </a:rPr>
                            <m:t>𝑲</m:t>
                          </m:r>
                        </m:e>
                        <m:sub>
                          <m:r>
                            <a:rPr lang="en-IN" sz="900" b="1" i="1" smtClean="0">
                              <a:latin typeface="Cambria Math" panose="02040503050406030204" pitchFamily="18" charset="0"/>
                            </a:rPr>
                            <m:t>𝟒</m:t>
                          </m:r>
                        </m:sub>
                      </m:sSub>
                    </m:oMath>
                  </m:oMathPara>
                </a14:m>
                <a:endParaRPr lang="en-IN" sz="900" b="1" dirty="0"/>
              </a:p>
            </p:txBody>
          </p:sp>
        </mc:Choice>
        <mc:Fallback xmlns="">
          <p:sp>
            <p:nvSpPr>
              <p:cNvPr id="42" name="TextBox 41">
                <a:extLst>
                  <a:ext uri="{FF2B5EF4-FFF2-40B4-BE49-F238E27FC236}">
                    <a16:creationId xmlns:a16="http://schemas.microsoft.com/office/drawing/2014/main" id="{5AEEC526-F505-9B05-CBD3-6A7CDB2051EA}"/>
                  </a:ext>
                </a:extLst>
              </p:cNvPr>
              <p:cNvSpPr txBox="1">
                <a:spLocks noRot="1" noChangeAspect="1" noMove="1" noResize="1" noEditPoints="1" noAdjustHandles="1" noChangeArrowheads="1" noChangeShapeType="1" noTextEdit="1"/>
              </p:cNvSpPr>
              <p:nvPr/>
            </p:nvSpPr>
            <p:spPr>
              <a:xfrm>
                <a:off x="2443735" y="2731928"/>
                <a:ext cx="168316" cy="138499"/>
              </a:xfrm>
              <a:prstGeom prst="rect">
                <a:avLst/>
              </a:prstGeom>
              <a:blipFill>
                <a:blip r:embed="rId12"/>
                <a:stretch>
                  <a:fillRect l="-18519" r="-11111" b="-2173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883CA86-8579-2EA9-B7B2-49E1EBF693DD}"/>
                  </a:ext>
                </a:extLst>
              </p:cNvPr>
              <p:cNvSpPr txBox="1"/>
              <p:nvPr/>
            </p:nvSpPr>
            <p:spPr>
              <a:xfrm>
                <a:off x="9338455" y="6488688"/>
                <a:ext cx="20460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𝑰</m:t>
                          </m:r>
                        </m:e>
                        <m:sub>
                          <m:r>
                            <a:rPr lang="en-IN" sz="1400" b="1" i="1" smtClean="0">
                              <a:latin typeface="Cambria Math" panose="02040503050406030204" pitchFamily="18" charset="0"/>
                            </a:rPr>
                            <m:t>𝟒</m:t>
                          </m:r>
                        </m:sub>
                      </m:sSub>
                    </m:oMath>
                  </m:oMathPara>
                </a14:m>
                <a:endParaRPr lang="en-IN" sz="1400" b="1" dirty="0"/>
              </a:p>
            </p:txBody>
          </p:sp>
        </mc:Choice>
        <mc:Fallback xmlns="">
          <p:sp>
            <p:nvSpPr>
              <p:cNvPr id="2" name="TextBox 1">
                <a:extLst>
                  <a:ext uri="{FF2B5EF4-FFF2-40B4-BE49-F238E27FC236}">
                    <a16:creationId xmlns:a16="http://schemas.microsoft.com/office/drawing/2014/main" id="{6883CA86-8579-2EA9-B7B2-49E1EBF693DD}"/>
                  </a:ext>
                </a:extLst>
              </p:cNvPr>
              <p:cNvSpPr txBox="1">
                <a:spLocks noRot="1" noChangeAspect="1" noMove="1" noResize="1" noEditPoints="1" noAdjustHandles="1" noChangeArrowheads="1" noChangeShapeType="1" noTextEdit="1"/>
              </p:cNvSpPr>
              <p:nvPr/>
            </p:nvSpPr>
            <p:spPr>
              <a:xfrm>
                <a:off x="9338455" y="6488688"/>
                <a:ext cx="204608" cy="215444"/>
              </a:xfrm>
              <a:prstGeom prst="rect">
                <a:avLst/>
              </a:prstGeom>
              <a:blipFill>
                <a:blip r:embed="rId13"/>
                <a:stretch>
                  <a:fillRect l="-21212" r="-9091" b="-13889"/>
                </a:stretch>
              </a:blipFill>
            </p:spPr>
            <p:txBody>
              <a:bodyPr/>
              <a:lstStyle/>
              <a:p>
                <a:r>
                  <a:rPr lang="en-IN">
                    <a:noFill/>
                  </a:rPr>
                  <a:t> </a:t>
                </a:r>
              </a:p>
            </p:txBody>
          </p:sp>
        </mc:Fallback>
      </mc:AlternateContent>
      <p:cxnSp>
        <p:nvCxnSpPr>
          <p:cNvPr id="5" name="Straight Arrow Connector 4">
            <a:extLst>
              <a:ext uri="{FF2B5EF4-FFF2-40B4-BE49-F238E27FC236}">
                <a16:creationId xmlns:a16="http://schemas.microsoft.com/office/drawing/2014/main" id="{5886A18B-0C9F-0984-2473-B06B0F00D4E4}"/>
              </a:ext>
            </a:extLst>
          </p:cNvPr>
          <p:cNvCxnSpPr>
            <a:cxnSpLocks/>
          </p:cNvCxnSpPr>
          <p:nvPr/>
        </p:nvCxnSpPr>
        <p:spPr>
          <a:xfrm>
            <a:off x="8342721" y="6463529"/>
            <a:ext cx="2277552" cy="12607"/>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5C5C0ACD-A652-5C24-E4E4-27B546E1ED96}"/>
              </a:ext>
            </a:extLst>
          </p:cNvPr>
          <p:cNvCxnSpPr>
            <a:cxnSpLocks/>
          </p:cNvCxnSpPr>
          <p:nvPr/>
        </p:nvCxnSpPr>
        <p:spPr>
          <a:xfrm>
            <a:off x="9978168" y="3865184"/>
            <a:ext cx="0" cy="650257"/>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54419D51-AAAB-6129-21D5-47BA6D849626}"/>
              </a:ext>
            </a:extLst>
          </p:cNvPr>
          <p:cNvCxnSpPr/>
          <p:nvPr/>
        </p:nvCxnSpPr>
        <p:spPr>
          <a:xfrm>
            <a:off x="9281893" y="4751111"/>
            <a:ext cx="433633"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AA3CDE2-9C64-F171-5460-77EE013A8D8E}"/>
                  </a:ext>
                </a:extLst>
              </p:cNvPr>
              <p:cNvSpPr txBox="1"/>
              <p:nvPr/>
            </p:nvSpPr>
            <p:spPr>
              <a:xfrm>
                <a:off x="10040288" y="4082590"/>
                <a:ext cx="20140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𝑱</m:t>
                          </m:r>
                        </m:e>
                        <m:sub>
                          <m:r>
                            <a:rPr lang="en-IN" sz="1400" b="1" i="1" smtClean="0">
                              <a:latin typeface="Cambria Math" panose="02040503050406030204" pitchFamily="18" charset="0"/>
                            </a:rPr>
                            <m:t>𝟓</m:t>
                          </m:r>
                        </m:sub>
                      </m:sSub>
                    </m:oMath>
                  </m:oMathPara>
                </a14:m>
                <a:endParaRPr lang="en-IN" sz="1400" b="1" dirty="0"/>
              </a:p>
            </p:txBody>
          </p:sp>
        </mc:Choice>
        <mc:Fallback xmlns="">
          <p:sp>
            <p:nvSpPr>
              <p:cNvPr id="12" name="TextBox 11">
                <a:extLst>
                  <a:ext uri="{FF2B5EF4-FFF2-40B4-BE49-F238E27FC236}">
                    <a16:creationId xmlns:a16="http://schemas.microsoft.com/office/drawing/2014/main" id="{CAA3CDE2-9C64-F171-5460-77EE013A8D8E}"/>
                  </a:ext>
                </a:extLst>
              </p:cNvPr>
              <p:cNvSpPr txBox="1">
                <a:spLocks noRot="1" noChangeAspect="1" noMove="1" noResize="1" noEditPoints="1" noAdjustHandles="1" noChangeArrowheads="1" noChangeShapeType="1" noTextEdit="1"/>
              </p:cNvSpPr>
              <p:nvPr/>
            </p:nvSpPr>
            <p:spPr>
              <a:xfrm>
                <a:off x="10040288" y="4082590"/>
                <a:ext cx="201401" cy="215444"/>
              </a:xfrm>
              <a:prstGeom prst="rect">
                <a:avLst/>
              </a:prstGeom>
              <a:blipFill>
                <a:blip r:embed="rId14"/>
                <a:stretch>
                  <a:fillRect l="-30303" r="-9091" b="-31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65548F5-E7AA-BF5C-FCBE-BAB58AD2598B}"/>
                  </a:ext>
                </a:extLst>
              </p:cNvPr>
              <p:cNvSpPr txBox="1"/>
              <p:nvPr/>
            </p:nvSpPr>
            <p:spPr>
              <a:xfrm>
                <a:off x="9373560" y="4857355"/>
                <a:ext cx="20460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𝑰</m:t>
                          </m:r>
                        </m:e>
                        <m:sub>
                          <m:r>
                            <a:rPr lang="en-IN" sz="1400" b="1" i="1" smtClean="0">
                              <a:latin typeface="Cambria Math" panose="02040503050406030204" pitchFamily="18" charset="0"/>
                            </a:rPr>
                            <m:t>𝟓</m:t>
                          </m:r>
                        </m:sub>
                      </m:sSub>
                    </m:oMath>
                  </m:oMathPara>
                </a14:m>
                <a:endParaRPr lang="en-IN" sz="1400" b="1" dirty="0"/>
              </a:p>
            </p:txBody>
          </p:sp>
        </mc:Choice>
        <mc:Fallback xmlns="">
          <p:sp>
            <p:nvSpPr>
              <p:cNvPr id="15" name="TextBox 14">
                <a:extLst>
                  <a:ext uri="{FF2B5EF4-FFF2-40B4-BE49-F238E27FC236}">
                    <a16:creationId xmlns:a16="http://schemas.microsoft.com/office/drawing/2014/main" id="{F65548F5-E7AA-BF5C-FCBE-BAB58AD2598B}"/>
                  </a:ext>
                </a:extLst>
              </p:cNvPr>
              <p:cNvSpPr txBox="1">
                <a:spLocks noRot="1" noChangeAspect="1" noMove="1" noResize="1" noEditPoints="1" noAdjustHandles="1" noChangeArrowheads="1" noChangeShapeType="1" noTextEdit="1"/>
              </p:cNvSpPr>
              <p:nvPr/>
            </p:nvSpPr>
            <p:spPr>
              <a:xfrm>
                <a:off x="9373560" y="4857355"/>
                <a:ext cx="204608" cy="215444"/>
              </a:xfrm>
              <a:prstGeom prst="rect">
                <a:avLst/>
              </a:prstGeom>
              <a:blipFill>
                <a:blip r:embed="rId15"/>
                <a:stretch>
                  <a:fillRect l="-21212" r="-12121" b="-17143"/>
                </a:stretch>
              </a:blipFill>
            </p:spPr>
            <p:txBody>
              <a:bodyPr/>
              <a:lstStyle/>
              <a:p>
                <a:r>
                  <a:rPr lang="en-IN">
                    <a:noFill/>
                  </a:rPr>
                  <a:t> </a:t>
                </a:r>
              </a:p>
            </p:txBody>
          </p:sp>
        </mc:Fallback>
      </mc:AlternateContent>
      <p:cxnSp>
        <p:nvCxnSpPr>
          <p:cNvPr id="25" name="Straight Arrow Connector 24">
            <a:extLst>
              <a:ext uri="{FF2B5EF4-FFF2-40B4-BE49-F238E27FC236}">
                <a16:creationId xmlns:a16="http://schemas.microsoft.com/office/drawing/2014/main" id="{419D6F5E-8D1F-1414-758C-829129ED0407}"/>
              </a:ext>
            </a:extLst>
          </p:cNvPr>
          <p:cNvCxnSpPr>
            <a:cxnSpLocks/>
          </p:cNvCxnSpPr>
          <p:nvPr/>
        </p:nvCxnSpPr>
        <p:spPr>
          <a:xfrm>
            <a:off x="922717" y="2482515"/>
            <a:ext cx="0" cy="814732"/>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B29E0B2-39F8-8FDD-ACE8-57D9DAC322D7}"/>
                  </a:ext>
                </a:extLst>
              </p:cNvPr>
              <p:cNvSpPr txBox="1"/>
              <p:nvPr/>
            </p:nvSpPr>
            <p:spPr>
              <a:xfrm>
                <a:off x="707552" y="2762705"/>
                <a:ext cx="20140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𝑱</m:t>
                          </m:r>
                        </m:e>
                        <m:sub>
                          <m:r>
                            <a:rPr lang="en-IN" sz="1400" b="1" i="1" smtClean="0">
                              <a:latin typeface="Cambria Math" panose="02040503050406030204" pitchFamily="18" charset="0"/>
                            </a:rPr>
                            <m:t>𝟔</m:t>
                          </m:r>
                        </m:sub>
                      </m:sSub>
                    </m:oMath>
                  </m:oMathPara>
                </a14:m>
                <a:endParaRPr lang="en-IN" sz="1400" b="1" dirty="0"/>
              </a:p>
            </p:txBody>
          </p:sp>
        </mc:Choice>
        <mc:Fallback xmlns="">
          <p:sp>
            <p:nvSpPr>
              <p:cNvPr id="43" name="TextBox 42">
                <a:extLst>
                  <a:ext uri="{FF2B5EF4-FFF2-40B4-BE49-F238E27FC236}">
                    <a16:creationId xmlns:a16="http://schemas.microsoft.com/office/drawing/2014/main" id="{2B29E0B2-39F8-8FDD-ACE8-57D9DAC322D7}"/>
                  </a:ext>
                </a:extLst>
              </p:cNvPr>
              <p:cNvSpPr txBox="1">
                <a:spLocks noRot="1" noChangeAspect="1" noMove="1" noResize="1" noEditPoints="1" noAdjustHandles="1" noChangeArrowheads="1" noChangeShapeType="1" noTextEdit="1"/>
              </p:cNvSpPr>
              <p:nvPr/>
            </p:nvSpPr>
            <p:spPr>
              <a:xfrm>
                <a:off x="707552" y="2762705"/>
                <a:ext cx="201402" cy="215444"/>
              </a:xfrm>
              <a:prstGeom prst="rect">
                <a:avLst/>
              </a:prstGeom>
              <a:blipFill>
                <a:blip r:embed="rId16"/>
                <a:stretch>
                  <a:fillRect l="-30303" r="-9091" b="-27778"/>
                </a:stretch>
              </a:blipFill>
            </p:spPr>
            <p:txBody>
              <a:bodyPr/>
              <a:lstStyle/>
              <a:p>
                <a:r>
                  <a:rPr lang="en-IN">
                    <a:noFill/>
                  </a:rPr>
                  <a:t> </a:t>
                </a:r>
              </a:p>
            </p:txBody>
          </p:sp>
        </mc:Fallback>
      </mc:AlternateContent>
      <p:cxnSp>
        <p:nvCxnSpPr>
          <p:cNvPr id="45" name="Straight Arrow Connector 44">
            <a:extLst>
              <a:ext uri="{FF2B5EF4-FFF2-40B4-BE49-F238E27FC236}">
                <a16:creationId xmlns:a16="http://schemas.microsoft.com/office/drawing/2014/main" id="{7298FD82-85A4-2B52-60DB-2D12FCEBA98C}"/>
              </a:ext>
            </a:extLst>
          </p:cNvPr>
          <p:cNvCxnSpPr>
            <a:cxnSpLocks/>
          </p:cNvCxnSpPr>
          <p:nvPr/>
        </p:nvCxnSpPr>
        <p:spPr>
          <a:xfrm>
            <a:off x="2682517" y="2413266"/>
            <a:ext cx="0" cy="178442"/>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ED69511-5A2C-FF60-54BF-C04F4D4C9063}"/>
                  </a:ext>
                </a:extLst>
              </p:cNvPr>
              <p:cNvSpPr txBox="1"/>
              <p:nvPr/>
            </p:nvSpPr>
            <p:spPr>
              <a:xfrm>
                <a:off x="2738653" y="2433237"/>
                <a:ext cx="168316"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900" b="1" i="1" smtClean="0">
                              <a:latin typeface="Cambria Math" panose="02040503050406030204" pitchFamily="18" charset="0"/>
                            </a:rPr>
                          </m:ctrlPr>
                        </m:sSubPr>
                        <m:e>
                          <m:r>
                            <a:rPr lang="en-IN" sz="900" b="1" i="1" smtClean="0">
                              <a:latin typeface="Cambria Math" panose="02040503050406030204" pitchFamily="18" charset="0"/>
                            </a:rPr>
                            <m:t>𝑲</m:t>
                          </m:r>
                        </m:e>
                        <m:sub>
                          <m:r>
                            <a:rPr lang="en-US" sz="900" b="1" i="1" smtClean="0">
                              <a:latin typeface="Cambria Math" panose="02040503050406030204" pitchFamily="18" charset="0"/>
                            </a:rPr>
                            <m:t>𝟏</m:t>
                          </m:r>
                        </m:sub>
                      </m:sSub>
                    </m:oMath>
                  </m:oMathPara>
                </a14:m>
                <a:endParaRPr lang="en-IN" sz="900" b="1" dirty="0"/>
              </a:p>
            </p:txBody>
          </p:sp>
        </mc:Choice>
        <mc:Fallback xmlns="">
          <p:sp>
            <p:nvSpPr>
              <p:cNvPr id="48" name="TextBox 47">
                <a:extLst>
                  <a:ext uri="{FF2B5EF4-FFF2-40B4-BE49-F238E27FC236}">
                    <a16:creationId xmlns:a16="http://schemas.microsoft.com/office/drawing/2014/main" id="{9ED69511-5A2C-FF60-54BF-C04F4D4C9063}"/>
                  </a:ext>
                </a:extLst>
              </p:cNvPr>
              <p:cNvSpPr txBox="1">
                <a:spLocks noRot="1" noChangeAspect="1" noMove="1" noResize="1" noEditPoints="1" noAdjustHandles="1" noChangeArrowheads="1" noChangeShapeType="1" noTextEdit="1"/>
              </p:cNvSpPr>
              <p:nvPr/>
            </p:nvSpPr>
            <p:spPr>
              <a:xfrm>
                <a:off x="2738653" y="2433237"/>
                <a:ext cx="168316" cy="138499"/>
              </a:xfrm>
              <a:prstGeom prst="rect">
                <a:avLst/>
              </a:prstGeom>
              <a:blipFill>
                <a:blip r:embed="rId17"/>
                <a:stretch>
                  <a:fillRect l="-17857" r="-10714" b="-21739"/>
                </a:stretch>
              </a:blipFill>
            </p:spPr>
            <p:txBody>
              <a:bodyPr/>
              <a:lstStyle/>
              <a:p>
                <a:r>
                  <a:rPr lang="en-IN">
                    <a:noFill/>
                  </a:rPr>
                  <a:t> </a:t>
                </a:r>
              </a:p>
            </p:txBody>
          </p:sp>
        </mc:Fallback>
      </mc:AlternateContent>
      <p:sp>
        <p:nvSpPr>
          <p:cNvPr id="9" name="Title 8">
            <a:extLst>
              <a:ext uri="{FF2B5EF4-FFF2-40B4-BE49-F238E27FC236}">
                <a16:creationId xmlns:a16="http://schemas.microsoft.com/office/drawing/2014/main" id="{EBD82FB7-0BC1-FA1C-DCD6-C27A45100729}"/>
              </a:ext>
            </a:extLst>
          </p:cNvPr>
          <p:cNvSpPr>
            <a:spLocks noGrp="1"/>
          </p:cNvSpPr>
          <p:nvPr>
            <p:ph type="title"/>
          </p:nvPr>
        </p:nvSpPr>
        <p:spPr>
          <a:xfrm>
            <a:off x="615827" y="35712"/>
            <a:ext cx="10515600" cy="1325563"/>
          </a:xfrm>
        </p:spPr>
        <p:txBody>
          <a:bodyPr/>
          <a:lstStyle/>
          <a:p>
            <a:r>
              <a:rPr lang="en-IN" b="1" u="sng" dirty="0">
                <a:solidFill>
                  <a:srgbClr val="FF0000"/>
                </a:solidFill>
              </a:rPr>
              <a:t>Proposed Design</a:t>
            </a:r>
          </a:p>
        </p:txBody>
      </p:sp>
      <p:pic>
        <p:nvPicPr>
          <p:cNvPr id="17" name="Picture 16">
            <a:extLst>
              <a:ext uri="{FF2B5EF4-FFF2-40B4-BE49-F238E27FC236}">
                <a16:creationId xmlns:a16="http://schemas.microsoft.com/office/drawing/2014/main" id="{3E83D782-7935-BB3B-46B0-C365C21EBAFF}"/>
              </a:ext>
            </a:extLst>
          </p:cNvPr>
          <p:cNvPicPr>
            <a:picLocks noChangeAspect="1"/>
          </p:cNvPicPr>
          <p:nvPr/>
        </p:nvPicPr>
        <p:blipFill>
          <a:blip r:embed="rId18"/>
          <a:stretch>
            <a:fillRect/>
          </a:stretch>
        </p:blipFill>
        <p:spPr>
          <a:xfrm>
            <a:off x="4708216" y="1561203"/>
            <a:ext cx="3136713" cy="1867797"/>
          </a:xfrm>
          <a:prstGeom prst="rect">
            <a:avLst/>
          </a:prstGeom>
        </p:spPr>
      </p:pic>
    </p:spTree>
    <p:extLst>
      <p:ext uri="{BB962C8B-B14F-4D97-AF65-F5344CB8AC3E}">
        <p14:creationId xmlns:p14="http://schemas.microsoft.com/office/powerpoint/2010/main" val="246587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C5F8D-DD6A-BC67-2CBC-E70687EDC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EAE95-8E56-04A5-1C48-4576ED0500A6}"/>
              </a:ext>
            </a:extLst>
          </p:cNvPr>
          <p:cNvSpPr>
            <a:spLocks noGrp="1"/>
          </p:cNvSpPr>
          <p:nvPr>
            <p:ph type="title"/>
          </p:nvPr>
        </p:nvSpPr>
        <p:spPr/>
        <p:txBody>
          <a:bodyPr/>
          <a:lstStyle/>
          <a:p>
            <a:r>
              <a:rPr lang="en-IN" b="1" u="sng" dirty="0">
                <a:solidFill>
                  <a:srgbClr val="FF0000"/>
                </a:solidFill>
              </a:rPr>
              <a:t>S11 Parameter and VSWR</a:t>
            </a:r>
          </a:p>
        </p:txBody>
      </p:sp>
      <p:pic>
        <p:nvPicPr>
          <p:cNvPr id="4" name="Picture 3">
            <a:extLst>
              <a:ext uri="{FF2B5EF4-FFF2-40B4-BE49-F238E27FC236}">
                <a16:creationId xmlns:a16="http://schemas.microsoft.com/office/drawing/2014/main" id="{E137B449-96CF-5643-6818-3C2D91CAB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845" y="1638197"/>
            <a:ext cx="5189383" cy="3679040"/>
          </a:xfrm>
          <a:prstGeom prst="rect">
            <a:avLst/>
          </a:prstGeom>
        </p:spPr>
      </p:pic>
      <p:pic>
        <p:nvPicPr>
          <p:cNvPr id="7" name="Picture 6">
            <a:extLst>
              <a:ext uri="{FF2B5EF4-FFF2-40B4-BE49-F238E27FC236}">
                <a16:creationId xmlns:a16="http://schemas.microsoft.com/office/drawing/2014/main" id="{089D47B9-6BCA-32C0-0A3A-19DC996F9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7583" y="1638197"/>
            <a:ext cx="5257800" cy="3727545"/>
          </a:xfrm>
          <a:prstGeom prst="rect">
            <a:avLst/>
          </a:prstGeom>
        </p:spPr>
      </p:pic>
    </p:spTree>
    <p:extLst>
      <p:ext uri="{BB962C8B-B14F-4D97-AF65-F5344CB8AC3E}">
        <p14:creationId xmlns:p14="http://schemas.microsoft.com/office/powerpoint/2010/main" val="2319753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E0BB7-5C6C-D702-5EEF-A66DA5794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C96F1-7E32-2F20-415F-9BC21433BED5}"/>
              </a:ext>
            </a:extLst>
          </p:cNvPr>
          <p:cNvSpPr>
            <a:spLocks noGrp="1"/>
          </p:cNvSpPr>
          <p:nvPr>
            <p:ph type="title"/>
          </p:nvPr>
        </p:nvSpPr>
        <p:spPr/>
        <p:txBody>
          <a:bodyPr/>
          <a:lstStyle/>
          <a:p>
            <a:r>
              <a:rPr lang="en-IN" b="1" u="sng" dirty="0">
                <a:solidFill>
                  <a:srgbClr val="FF0000"/>
                </a:solidFill>
              </a:rPr>
              <a:t>Gain without FSS</a:t>
            </a:r>
          </a:p>
        </p:txBody>
      </p:sp>
      <p:pic>
        <p:nvPicPr>
          <p:cNvPr id="4" name="Picture 3">
            <a:extLst>
              <a:ext uri="{FF2B5EF4-FFF2-40B4-BE49-F238E27FC236}">
                <a16:creationId xmlns:a16="http://schemas.microsoft.com/office/drawing/2014/main" id="{00D542A7-6F20-6284-BB39-79A224B0FC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2179" y="1690688"/>
            <a:ext cx="6050024" cy="4289196"/>
          </a:xfrm>
          <a:prstGeom prst="rect">
            <a:avLst/>
          </a:prstGeom>
        </p:spPr>
      </p:pic>
    </p:spTree>
    <p:extLst>
      <p:ext uri="{BB962C8B-B14F-4D97-AF65-F5344CB8AC3E}">
        <p14:creationId xmlns:p14="http://schemas.microsoft.com/office/powerpoint/2010/main" val="2902355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A38A14-2B2F-CF86-39F0-4D222C3CF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180" y="709156"/>
            <a:ext cx="4701027" cy="2426953"/>
          </a:xfrm>
          <a:prstGeom prst="rect">
            <a:avLst/>
          </a:prstGeom>
        </p:spPr>
      </p:pic>
      <p:pic>
        <p:nvPicPr>
          <p:cNvPr id="7" name="Picture 6">
            <a:extLst>
              <a:ext uri="{FF2B5EF4-FFF2-40B4-BE49-F238E27FC236}">
                <a16:creationId xmlns:a16="http://schemas.microsoft.com/office/drawing/2014/main" id="{8F8EBE0F-A3B9-F1F8-129D-439AA27AC2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180" y="3914270"/>
            <a:ext cx="4681917" cy="2396377"/>
          </a:xfrm>
          <a:prstGeom prst="rect">
            <a:avLst/>
          </a:prstGeom>
        </p:spPr>
      </p:pic>
      <p:pic>
        <p:nvPicPr>
          <p:cNvPr id="9" name="Picture 8">
            <a:extLst>
              <a:ext uri="{FF2B5EF4-FFF2-40B4-BE49-F238E27FC236}">
                <a16:creationId xmlns:a16="http://schemas.microsoft.com/office/drawing/2014/main" id="{D5E332D3-18A3-F322-EE33-E1EED999AE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0569" y="705334"/>
            <a:ext cx="4670451" cy="2430775"/>
          </a:xfrm>
          <a:prstGeom prst="rect">
            <a:avLst/>
          </a:prstGeom>
        </p:spPr>
      </p:pic>
      <p:pic>
        <p:nvPicPr>
          <p:cNvPr id="11" name="Picture 10">
            <a:extLst>
              <a:ext uri="{FF2B5EF4-FFF2-40B4-BE49-F238E27FC236}">
                <a16:creationId xmlns:a16="http://schemas.microsoft.com/office/drawing/2014/main" id="{11DAFA7E-7384-FA3E-4230-56A34B1B8B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48570" y="3862138"/>
            <a:ext cx="4894447" cy="2500639"/>
          </a:xfrm>
          <a:prstGeom prst="rect">
            <a:avLst/>
          </a:prstGeom>
        </p:spPr>
      </p:pic>
      <p:sp>
        <p:nvSpPr>
          <p:cNvPr id="12" name="TextBox 11">
            <a:extLst>
              <a:ext uri="{FF2B5EF4-FFF2-40B4-BE49-F238E27FC236}">
                <a16:creationId xmlns:a16="http://schemas.microsoft.com/office/drawing/2014/main" id="{6252B6CA-6E4A-5451-9986-119AB007D6BE}"/>
              </a:ext>
            </a:extLst>
          </p:cNvPr>
          <p:cNvSpPr txBox="1"/>
          <p:nvPr/>
        </p:nvSpPr>
        <p:spPr>
          <a:xfrm>
            <a:off x="791851" y="182114"/>
            <a:ext cx="3013069" cy="523220"/>
          </a:xfrm>
          <a:prstGeom prst="rect">
            <a:avLst/>
          </a:prstGeom>
          <a:noFill/>
        </p:spPr>
        <p:txBody>
          <a:bodyPr wrap="none" rtlCol="0">
            <a:spAutoFit/>
          </a:bodyPr>
          <a:lstStyle/>
          <a:p>
            <a:r>
              <a:rPr lang="en-IN" sz="2800" u="sng" dirty="0">
                <a:solidFill>
                  <a:srgbClr val="FF0000"/>
                </a:solidFill>
              </a:rPr>
              <a:t>Stage-Wise Designs</a:t>
            </a:r>
          </a:p>
        </p:txBody>
      </p:sp>
      <p:sp>
        <p:nvSpPr>
          <p:cNvPr id="13" name="TextBox 12">
            <a:extLst>
              <a:ext uri="{FF2B5EF4-FFF2-40B4-BE49-F238E27FC236}">
                <a16:creationId xmlns:a16="http://schemas.microsoft.com/office/drawing/2014/main" id="{1D8B7116-56E7-3F70-BAE3-5AEE897FB1C3}"/>
              </a:ext>
            </a:extLst>
          </p:cNvPr>
          <p:cNvSpPr txBox="1"/>
          <p:nvPr/>
        </p:nvSpPr>
        <p:spPr>
          <a:xfrm>
            <a:off x="2597333" y="3244334"/>
            <a:ext cx="867610" cy="369332"/>
          </a:xfrm>
          <a:prstGeom prst="rect">
            <a:avLst/>
          </a:prstGeom>
          <a:noFill/>
        </p:spPr>
        <p:txBody>
          <a:bodyPr wrap="none" rtlCol="0">
            <a:spAutoFit/>
          </a:bodyPr>
          <a:lstStyle/>
          <a:p>
            <a:r>
              <a:rPr lang="en-IN" dirty="0"/>
              <a:t>Stage 1</a:t>
            </a:r>
          </a:p>
        </p:txBody>
      </p:sp>
      <p:sp>
        <p:nvSpPr>
          <p:cNvPr id="14" name="TextBox 13">
            <a:extLst>
              <a:ext uri="{FF2B5EF4-FFF2-40B4-BE49-F238E27FC236}">
                <a16:creationId xmlns:a16="http://schemas.microsoft.com/office/drawing/2014/main" id="{5255E750-3367-631B-118A-8CBBEE81C091}"/>
              </a:ext>
            </a:extLst>
          </p:cNvPr>
          <p:cNvSpPr txBox="1"/>
          <p:nvPr/>
        </p:nvSpPr>
        <p:spPr>
          <a:xfrm>
            <a:off x="2597333" y="6306554"/>
            <a:ext cx="867610" cy="369332"/>
          </a:xfrm>
          <a:prstGeom prst="rect">
            <a:avLst/>
          </a:prstGeom>
          <a:noFill/>
        </p:spPr>
        <p:txBody>
          <a:bodyPr wrap="none" rtlCol="0">
            <a:spAutoFit/>
          </a:bodyPr>
          <a:lstStyle/>
          <a:p>
            <a:r>
              <a:rPr lang="en-IN" dirty="0"/>
              <a:t>Stage 2</a:t>
            </a:r>
          </a:p>
        </p:txBody>
      </p:sp>
      <p:sp>
        <p:nvSpPr>
          <p:cNvPr id="15" name="TextBox 14">
            <a:extLst>
              <a:ext uri="{FF2B5EF4-FFF2-40B4-BE49-F238E27FC236}">
                <a16:creationId xmlns:a16="http://schemas.microsoft.com/office/drawing/2014/main" id="{0103C330-E8D4-8CB1-AD35-5186B11A2C76}"/>
              </a:ext>
            </a:extLst>
          </p:cNvPr>
          <p:cNvSpPr txBox="1"/>
          <p:nvPr/>
        </p:nvSpPr>
        <p:spPr>
          <a:xfrm>
            <a:off x="8668195" y="3073210"/>
            <a:ext cx="867610" cy="369332"/>
          </a:xfrm>
          <a:prstGeom prst="rect">
            <a:avLst/>
          </a:prstGeom>
          <a:noFill/>
        </p:spPr>
        <p:txBody>
          <a:bodyPr wrap="none" rtlCol="0">
            <a:spAutoFit/>
          </a:bodyPr>
          <a:lstStyle/>
          <a:p>
            <a:r>
              <a:rPr lang="en-IN" dirty="0"/>
              <a:t>Stage 3</a:t>
            </a:r>
          </a:p>
        </p:txBody>
      </p:sp>
      <p:sp>
        <p:nvSpPr>
          <p:cNvPr id="16" name="TextBox 15">
            <a:extLst>
              <a:ext uri="{FF2B5EF4-FFF2-40B4-BE49-F238E27FC236}">
                <a16:creationId xmlns:a16="http://schemas.microsoft.com/office/drawing/2014/main" id="{D678F9C3-81F3-B880-2C8E-DDCDF4EF0E88}"/>
              </a:ext>
            </a:extLst>
          </p:cNvPr>
          <p:cNvSpPr txBox="1"/>
          <p:nvPr/>
        </p:nvSpPr>
        <p:spPr>
          <a:xfrm>
            <a:off x="8727057" y="6306554"/>
            <a:ext cx="867610" cy="369332"/>
          </a:xfrm>
          <a:prstGeom prst="rect">
            <a:avLst/>
          </a:prstGeom>
          <a:noFill/>
        </p:spPr>
        <p:txBody>
          <a:bodyPr wrap="none" rtlCol="0">
            <a:spAutoFit/>
          </a:bodyPr>
          <a:lstStyle/>
          <a:p>
            <a:r>
              <a:rPr lang="en-IN" dirty="0"/>
              <a:t>Stage 4</a:t>
            </a:r>
          </a:p>
        </p:txBody>
      </p:sp>
    </p:spTree>
    <p:extLst>
      <p:ext uri="{BB962C8B-B14F-4D97-AF65-F5344CB8AC3E}">
        <p14:creationId xmlns:p14="http://schemas.microsoft.com/office/powerpoint/2010/main" val="654192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23B76-F604-6ABA-3908-E94CC6D50F31}"/>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948BF95-DFE5-6CF4-BFBA-8B6D7B795F12}"/>
              </a:ext>
            </a:extLst>
          </p:cNvPr>
          <p:cNvGraphicFramePr>
            <a:graphicFrameLocks noGrp="1"/>
          </p:cNvGraphicFramePr>
          <p:nvPr>
            <p:ph idx="1"/>
          </p:nvPr>
        </p:nvGraphicFramePr>
        <p:xfrm>
          <a:off x="1977785" y="284480"/>
          <a:ext cx="3005695" cy="6304280"/>
        </p:xfrm>
        <a:graphic>
          <a:graphicData uri="http://schemas.openxmlformats.org/drawingml/2006/table">
            <a:tbl>
              <a:tblPr firstRow="1" bandRow="1">
                <a:tableStyleId>{8799B23B-EC83-4686-B30A-512413B5E67A}</a:tableStyleId>
              </a:tblPr>
              <a:tblGrid>
                <a:gridCol w="1331089">
                  <a:extLst>
                    <a:ext uri="{9D8B030D-6E8A-4147-A177-3AD203B41FA5}">
                      <a16:colId xmlns:a16="http://schemas.microsoft.com/office/drawing/2014/main" val="3251249136"/>
                    </a:ext>
                  </a:extLst>
                </a:gridCol>
                <a:gridCol w="1674606">
                  <a:extLst>
                    <a:ext uri="{9D8B030D-6E8A-4147-A177-3AD203B41FA5}">
                      <a16:colId xmlns:a16="http://schemas.microsoft.com/office/drawing/2014/main" val="3070207266"/>
                    </a:ext>
                  </a:extLst>
                </a:gridCol>
              </a:tblGrid>
              <a:tr h="370840">
                <a:tc>
                  <a:txBody>
                    <a:bodyPr/>
                    <a:lstStyle/>
                    <a:p>
                      <a:r>
                        <a:rPr lang="en-IN" dirty="0"/>
                        <a:t>Parameter</a:t>
                      </a:r>
                    </a:p>
                  </a:txBody>
                  <a:tcPr/>
                </a:tc>
                <a:tc>
                  <a:txBody>
                    <a:bodyPr/>
                    <a:lstStyle/>
                    <a:p>
                      <a:r>
                        <a:rPr lang="en-IN" dirty="0"/>
                        <a:t>Value(in mm)</a:t>
                      </a:r>
                    </a:p>
                  </a:txBody>
                  <a:tcPr/>
                </a:tc>
                <a:extLst>
                  <a:ext uri="{0D108BD9-81ED-4DB2-BD59-A6C34878D82A}">
                    <a16:rowId xmlns:a16="http://schemas.microsoft.com/office/drawing/2014/main" val="3196834191"/>
                  </a:ext>
                </a:extLst>
              </a:tr>
              <a:tr h="370840">
                <a:tc>
                  <a:txBody>
                    <a:bodyPr/>
                    <a:lstStyle/>
                    <a:p>
                      <a:r>
                        <a:rPr lang="en-IN" dirty="0"/>
                        <a:t>W1</a:t>
                      </a:r>
                    </a:p>
                  </a:txBody>
                  <a:tcPr/>
                </a:tc>
                <a:tc>
                  <a:txBody>
                    <a:bodyPr/>
                    <a:lstStyle/>
                    <a:p>
                      <a:r>
                        <a:rPr lang="en-IN" dirty="0"/>
                        <a:t>38</a:t>
                      </a:r>
                    </a:p>
                  </a:txBody>
                  <a:tcPr/>
                </a:tc>
                <a:extLst>
                  <a:ext uri="{0D108BD9-81ED-4DB2-BD59-A6C34878D82A}">
                    <a16:rowId xmlns:a16="http://schemas.microsoft.com/office/drawing/2014/main" val="3426781457"/>
                  </a:ext>
                </a:extLst>
              </a:tr>
              <a:tr h="370840">
                <a:tc>
                  <a:txBody>
                    <a:bodyPr/>
                    <a:lstStyle/>
                    <a:p>
                      <a:r>
                        <a:rPr lang="en-IN" dirty="0"/>
                        <a:t>W2</a:t>
                      </a:r>
                    </a:p>
                  </a:txBody>
                  <a:tcPr/>
                </a:tc>
                <a:tc>
                  <a:txBody>
                    <a:bodyPr/>
                    <a:lstStyle/>
                    <a:p>
                      <a:r>
                        <a:rPr lang="en-IN" dirty="0"/>
                        <a:t>26</a:t>
                      </a:r>
                    </a:p>
                  </a:txBody>
                  <a:tcPr/>
                </a:tc>
                <a:extLst>
                  <a:ext uri="{0D108BD9-81ED-4DB2-BD59-A6C34878D82A}">
                    <a16:rowId xmlns:a16="http://schemas.microsoft.com/office/drawing/2014/main" val="2062396898"/>
                  </a:ext>
                </a:extLst>
              </a:tr>
              <a:tr h="370840">
                <a:tc>
                  <a:txBody>
                    <a:bodyPr/>
                    <a:lstStyle/>
                    <a:p>
                      <a:r>
                        <a:rPr lang="en-IN" dirty="0"/>
                        <a:t>W3</a:t>
                      </a:r>
                    </a:p>
                  </a:txBody>
                  <a:tcPr/>
                </a:tc>
                <a:tc>
                  <a:txBody>
                    <a:bodyPr/>
                    <a:lstStyle/>
                    <a:p>
                      <a:r>
                        <a:rPr lang="en-IN" dirty="0"/>
                        <a:t>3.8</a:t>
                      </a:r>
                    </a:p>
                  </a:txBody>
                  <a:tcPr/>
                </a:tc>
                <a:extLst>
                  <a:ext uri="{0D108BD9-81ED-4DB2-BD59-A6C34878D82A}">
                    <a16:rowId xmlns:a16="http://schemas.microsoft.com/office/drawing/2014/main" val="414076238"/>
                  </a:ext>
                </a:extLst>
              </a:tr>
              <a:tr h="370840">
                <a:tc>
                  <a:txBody>
                    <a:bodyPr/>
                    <a:lstStyle/>
                    <a:p>
                      <a:r>
                        <a:rPr lang="en-IN" dirty="0"/>
                        <a:t>W4</a:t>
                      </a:r>
                    </a:p>
                  </a:txBody>
                  <a:tcPr/>
                </a:tc>
                <a:tc>
                  <a:txBody>
                    <a:bodyPr/>
                    <a:lstStyle/>
                    <a:p>
                      <a:r>
                        <a:rPr lang="en-IN" dirty="0"/>
                        <a:t>4</a:t>
                      </a:r>
                    </a:p>
                  </a:txBody>
                  <a:tcPr/>
                </a:tc>
                <a:extLst>
                  <a:ext uri="{0D108BD9-81ED-4DB2-BD59-A6C34878D82A}">
                    <a16:rowId xmlns:a16="http://schemas.microsoft.com/office/drawing/2014/main" val="113795537"/>
                  </a:ext>
                </a:extLst>
              </a:tr>
              <a:tr h="370840">
                <a:tc>
                  <a:txBody>
                    <a:bodyPr/>
                    <a:lstStyle/>
                    <a:p>
                      <a:r>
                        <a:rPr lang="en-IN" dirty="0"/>
                        <a:t>L1</a:t>
                      </a:r>
                    </a:p>
                  </a:txBody>
                  <a:tcPr/>
                </a:tc>
                <a:tc>
                  <a:txBody>
                    <a:bodyPr/>
                    <a:lstStyle/>
                    <a:p>
                      <a:r>
                        <a:rPr lang="en-IN" dirty="0"/>
                        <a:t>50.5</a:t>
                      </a:r>
                    </a:p>
                  </a:txBody>
                  <a:tcPr/>
                </a:tc>
                <a:extLst>
                  <a:ext uri="{0D108BD9-81ED-4DB2-BD59-A6C34878D82A}">
                    <a16:rowId xmlns:a16="http://schemas.microsoft.com/office/drawing/2014/main" val="342924323"/>
                  </a:ext>
                </a:extLst>
              </a:tr>
              <a:tr h="370840">
                <a:tc>
                  <a:txBody>
                    <a:bodyPr/>
                    <a:lstStyle/>
                    <a:p>
                      <a:r>
                        <a:rPr lang="en-IN" dirty="0"/>
                        <a:t>L2</a:t>
                      </a:r>
                    </a:p>
                  </a:txBody>
                  <a:tcPr/>
                </a:tc>
                <a:tc>
                  <a:txBody>
                    <a:bodyPr/>
                    <a:lstStyle/>
                    <a:p>
                      <a:r>
                        <a:rPr lang="en-IN" dirty="0"/>
                        <a:t>23</a:t>
                      </a:r>
                    </a:p>
                  </a:txBody>
                  <a:tcPr/>
                </a:tc>
                <a:extLst>
                  <a:ext uri="{0D108BD9-81ED-4DB2-BD59-A6C34878D82A}">
                    <a16:rowId xmlns:a16="http://schemas.microsoft.com/office/drawing/2014/main" val="3636453615"/>
                  </a:ext>
                </a:extLst>
              </a:tr>
              <a:tr h="370840">
                <a:tc>
                  <a:txBody>
                    <a:bodyPr/>
                    <a:lstStyle/>
                    <a:p>
                      <a:r>
                        <a:rPr lang="en-IN" dirty="0"/>
                        <a:t>L3</a:t>
                      </a:r>
                    </a:p>
                  </a:txBody>
                  <a:tcPr/>
                </a:tc>
                <a:tc>
                  <a:txBody>
                    <a:bodyPr/>
                    <a:lstStyle/>
                    <a:p>
                      <a:r>
                        <a:rPr lang="en-IN" dirty="0"/>
                        <a:t>25.7</a:t>
                      </a:r>
                    </a:p>
                  </a:txBody>
                  <a:tcPr/>
                </a:tc>
                <a:extLst>
                  <a:ext uri="{0D108BD9-81ED-4DB2-BD59-A6C34878D82A}">
                    <a16:rowId xmlns:a16="http://schemas.microsoft.com/office/drawing/2014/main" val="2110679352"/>
                  </a:ext>
                </a:extLst>
              </a:tr>
              <a:tr h="370840">
                <a:tc>
                  <a:txBody>
                    <a:bodyPr/>
                    <a:lstStyle/>
                    <a:p>
                      <a:r>
                        <a:rPr lang="en-IN" dirty="0"/>
                        <a:t>L4</a:t>
                      </a:r>
                    </a:p>
                  </a:txBody>
                  <a:tcPr/>
                </a:tc>
                <a:tc>
                  <a:txBody>
                    <a:bodyPr/>
                    <a:lstStyle/>
                    <a:p>
                      <a:r>
                        <a:rPr lang="en-IN" dirty="0"/>
                        <a:t>6.45</a:t>
                      </a:r>
                    </a:p>
                  </a:txBody>
                  <a:tcPr/>
                </a:tc>
                <a:extLst>
                  <a:ext uri="{0D108BD9-81ED-4DB2-BD59-A6C34878D82A}">
                    <a16:rowId xmlns:a16="http://schemas.microsoft.com/office/drawing/2014/main" val="764954036"/>
                  </a:ext>
                </a:extLst>
              </a:tr>
              <a:tr h="370840">
                <a:tc>
                  <a:txBody>
                    <a:bodyPr/>
                    <a:lstStyle/>
                    <a:p>
                      <a:r>
                        <a:rPr lang="en-IN" dirty="0"/>
                        <a:t>L5</a:t>
                      </a:r>
                    </a:p>
                  </a:txBody>
                  <a:tcPr/>
                </a:tc>
                <a:tc>
                  <a:txBody>
                    <a:bodyPr/>
                    <a:lstStyle/>
                    <a:p>
                      <a:r>
                        <a:rPr lang="en-IN" dirty="0"/>
                        <a:t>25.2</a:t>
                      </a:r>
                    </a:p>
                  </a:txBody>
                  <a:tcPr/>
                </a:tc>
                <a:extLst>
                  <a:ext uri="{0D108BD9-81ED-4DB2-BD59-A6C34878D82A}">
                    <a16:rowId xmlns:a16="http://schemas.microsoft.com/office/drawing/2014/main" val="3519585929"/>
                  </a:ext>
                </a:extLst>
              </a:tr>
              <a:tr h="370840">
                <a:tc>
                  <a:txBody>
                    <a:bodyPr/>
                    <a:lstStyle/>
                    <a:p>
                      <a:r>
                        <a:rPr lang="en-IN" dirty="0"/>
                        <a:t>P1</a:t>
                      </a:r>
                    </a:p>
                  </a:txBody>
                  <a:tcPr/>
                </a:tc>
                <a:tc>
                  <a:txBody>
                    <a:bodyPr/>
                    <a:lstStyle/>
                    <a:p>
                      <a:r>
                        <a:rPr lang="en-IN" dirty="0"/>
                        <a:t>8.6</a:t>
                      </a:r>
                    </a:p>
                  </a:txBody>
                  <a:tcPr/>
                </a:tc>
                <a:extLst>
                  <a:ext uri="{0D108BD9-81ED-4DB2-BD59-A6C34878D82A}">
                    <a16:rowId xmlns:a16="http://schemas.microsoft.com/office/drawing/2014/main" val="967147375"/>
                  </a:ext>
                </a:extLst>
              </a:tr>
              <a:tr h="370840">
                <a:tc>
                  <a:txBody>
                    <a:bodyPr/>
                    <a:lstStyle/>
                    <a:p>
                      <a:r>
                        <a:rPr lang="en-IN" dirty="0"/>
                        <a:t>P2</a:t>
                      </a:r>
                    </a:p>
                  </a:txBody>
                  <a:tcPr/>
                </a:tc>
                <a:tc>
                  <a:txBody>
                    <a:bodyPr/>
                    <a:lstStyle/>
                    <a:p>
                      <a:r>
                        <a:rPr lang="en-IN" dirty="0"/>
                        <a:t>1.5</a:t>
                      </a:r>
                    </a:p>
                  </a:txBody>
                  <a:tcPr/>
                </a:tc>
                <a:extLst>
                  <a:ext uri="{0D108BD9-81ED-4DB2-BD59-A6C34878D82A}">
                    <a16:rowId xmlns:a16="http://schemas.microsoft.com/office/drawing/2014/main" val="948231402"/>
                  </a:ext>
                </a:extLst>
              </a:tr>
              <a:tr h="370840">
                <a:tc>
                  <a:txBody>
                    <a:bodyPr/>
                    <a:lstStyle/>
                    <a:p>
                      <a:r>
                        <a:rPr lang="en-IN" dirty="0"/>
                        <a:t>P3</a:t>
                      </a:r>
                    </a:p>
                  </a:txBody>
                  <a:tcPr/>
                </a:tc>
                <a:tc>
                  <a:txBody>
                    <a:bodyPr/>
                    <a:lstStyle/>
                    <a:p>
                      <a:r>
                        <a:rPr lang="en-IN" dirty="0"/>
                        <a:t>2.5</a:t>
                      </a:r>
                    </a:p>
                  </a:txBody>
                  <a:tcPr/>
                </a:tc>
                <a:extLst>
                  <a:ext uri="{0D108BD9-81ED-4DB2-BD59-A6C34878D82A}">
                    <a16:rowId xmlns:a16="http://schemas.microsoft.com/office/drawing/2014/main" val="3129230973"/>
                  </a:ext>
                </a:extLst>
              </a:tr>
              <a:tr h="370840">
                <a:tc>
                  <a:txBody>
                    <a:bodyPr/>
                    <a:lstStyle/>
                    <a:p>
                      <a:r>
                        <a:rPr lang="en-IN" dirty="0"/>
                        <a:t>P4</a:t>
                      </a:r>
                    </a:p>
                  </a:txBody>
                  <a:tcPr/>
                </a:tc>
                <a:tc>
                  <a:txBody>
                    <a:bodyPr/>
                    <a:lstStyle/>
                    <a:p>
                      <a:r>
                        <a:rPr lang="en-IN" dirty="0"/>
                        <a:t>2.5</a:t>
                      </a:r>
                    </a:p>
                  </a:txBody>
                  <a:tcPr/>
                </a:tc>
                <a:extLst>
                  <a:ext uri="{0D108BD9-81ED-4DB2-BD59-A6C34878D82A}">
                    <a16:rowId xmlns:a16="http://schemas.microsoft.com/office/drawing/2014/main" val="3130139241"/>
                  </a:ext>
                </a:extLst>
              </a:tr>
              <a:tr h="370840">
                <a:tc>
                  <a:txBody>
                    <a:bodyPr/>
                    <a:lstStyle/>
                    <a:p>
                      <a:r>
                        <a:rPr lang="en-IN" dirty="0"/>
                        <a:t>P5</a:t>
                      </a:r>
                    </a:p>
                  </a:txBody>
                  <a:tcPr/>
                </a:tc>
                <a:tc>
                  <a:txBody>
                    <a:bodyPr/>
                    <a:lstStyle/>
                    <a:p>
                      <a:r>
                        <a:rPr lang="en-IN" dirty="0"/>
                        <a:t>1.5</a:t>
                      </a:r>
                    </a:p>
                  </a:txBody>
                  <a:tcPr/>
                </a:tc>
                <a:extLst>
                  <a:ext uri="{0D108BD9-81ED-4DB2-BD59-A6C34878D82A}">
                    <a16:rowId xmlns:a16="http://schemas.microsoft.com/office/drawing/2014/main" val="2572350443"/>
                  </a:ext>
                </a:extLst>
              </a:tr>
              <a:tr h="370840">
                <a:tc>
                  <a:txBody>
                    <a:bodyPr/>
                    <a:lstStyle/>
                    <a:p>
                      <a:r>
                        <a:rPr lang="en-IN" dirty="0"/>
                        <a:t>P6</a:t>
                      </a:r>
                    </a:p>
                  </a:txBody>
                  <a:tcPr/>
                </a:tc>
                <a:tc>
                  <a:txBody>
                    <a:bodyPr/>
                    <a:lstStyle/>
                    <a:p>
                      <a:r>
                        <a:rPr lang="en-IN" dirty="0"/>
                        <a:t>10</a:t>
                      </a:r>
                    </a:p>
                  </a:txBody>
                  <a:tcPr/>
                </a:tc>
                <a:extLst>
                  <a:ext uri="{0D108BD9-81ED-4DB2-BD59-A6C34878D82A}">
                    <a16:rowId xmlns:a16="http://schemas.microsoft.com/office/drawing/2014/main" val="2619285766"/>
                  </a:ext>
                </a:extLst>
              </a:tr>
              <a:tr h="370840">
                <a:tc>
                  <a:txBody>
                    <a:bodyPr/>
                    <a:lstStyle/>
                    <a:p>
                      <a:r>
                        <a:rPr lang="en-IN" dirty="0"/>
                        <a:t>P7</a:t>
                      </a:r>
                    </a:p>
                  </a:txBody>
                  <a:tcPr/>
                </a:tc>
                <a:tc>
                  <a:txBody>
                    <a:bodyPr/>
                    <a:lstStyle/>
                    <a:p>
                      <a:r>
                        <a:rPr lang="en-IN" dirty="0"/>
                        <a:t>11.1</a:t>
                      </a:r>
                    </a:p>
                  </a:txBody>
                  <a:tcPr/>
                </a:tc>
                <a:extLst>
                  <a:ext uri="{0D108BD9-81ED-4DB2-BD59-A6C34878D82A}">
                    <a16:rowId xmlns:a16="http://schemas.microsoft.com/office/drawing/2014/main" val="349015139"/>
                  </a:ext>
                </a:extLst>
              </a:tr>
            </a:tbl>
          </a:graphicData>
        </a:graphic>
      </p:graphicFrame>
    </p:spTree>
    <p:extLst>
      <p:ext uri="{BB962C8B-B14F-4D97-AF65-F5344CB8AC3E}">
        <p14:creationId xmlns:p14="http://schemas.microsoft.com/office/powerpoint/2010/main" val="664970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ACFCD-96C3-FF50-598F-6C96155C7C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B0EF1C-24A4-102B-2637-1F640D4E9E0A}"/>
              </a:ext>
            </a:extLst>
          </p:cNvPr>
          <p:cNvSpPr>
            <a:spLocks noGrp="1"/>
          </p:cNvSpPr>
          <p:nvPr>
            <p:ph type="title"/>
          </p:nvPr>
        </p:nvSpPr>
        <p:spPr>
          <a:xfrm>
            <a:off x="838200" y="0"/>
            <a:ext cx="10515600" cy="1325563"/>
          </a:xfrm>
        </p:spPr>
        <p:txBody>
          <a:bodyPr/>
          <a:lstStyle/>
          <a:p>
            <a:r>
              <a:rPr lang="en-IN" b="1" u="sng" dirty="0">
                <a:solidFill>
                  <a:srgbClr val="FF0000"/>
                </a:solidFill>
              </a:rPr>
              <a:t>S11 Parameter Results</a:t>
            </a:r>
          </a:p>
        </p:txBody>
      </p:sp>
      <p:pic>
        <p:nvPicPr>
          <p:cNvPr id="4" name="Picture 3">
            <a:extLst>
              <a:ext uri="{FF2B5EF4-FFF2-40B4-BE49-F238E27FC236}">
                <a16:creationId xmlns:a16="http://schemas.microsoft.com/office/drawing/2014/main" id="{813F2EB8-4E3A-DA47-21F2-48021CF05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5711" y="1178351"/>
            <a:ext cx="7060577" cy="5005632"/>
          </a:xfrm>
          <a:prstGeom prst="rect">
            <a:avLst/>
          </a:prstGeom>
        </p:spPr>
      </p:pic>
    </p:spTree>
    <p:extLst>
      <p:ext uri="{BB962C8B-B14F-4D97-AF65-F5344CB8AC3E}">
        <p14:creationId xmlns:p14="http://schemas.microsoft.com/office/powerpoint/2010/main" val="1282936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AD202-B0B2-BB33-4700-FB04C6A1BD20}"/>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8AFA757A-78CA-3E55-3B95-5307BF97B08C}"/>
              </a:ext>
            </a:extLst>
          </p:cNvPr>
          <p:cNvGrpSpPr/>
          <p:nvPr/>
        </p:nvGrpSpPr>
        <p:grpSpPr>
          <a:xfrm>
            <a:off x="1089738" y="850861"/>
            <a:ext cx="5171022" cy="5171022"/>
            <a:chOff x="924978" y="1385005"/>
            <a:chExt cx="3799002" cy="3799002"/>
          </a:xfrm>
        </p:grpSpPr>
        <p:sp>
          <p:nvSpPr>
            <p:cNvPr id="6" name="Rectangle 5">
              <a:extLst>
                <a:ext uri="{FF2B5EF4-FFF2-40B4-BE49-F238E27FC236}">
                  <a16:creationId xmlns:a16="http://schemas.microsoft.com/office/drawing/2014/main" id="{43D613DE-3AF5-E3B8-936F-28C757D0E0D9}"/>
                </a:ext>
              </a:extLst>
            </p:cNvPr>
            <p:cNvSpPr/>
            <p:nvPr/>
          </p:nvSpPr>
          <p:spPr>
            <a:xfrm>
              <a:off x="924978" y="138500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Freeform: Shape 82">
              <a:extLst>
                <a:ext uri="{FF2B5EF4-FFF2-40B4-BE49-F238E27FC236}">
                  <a16:creationId xmlns:a16="http://schemas.microsoft.com/office/drawing/2014/main" id="{2A84D956-7C04-98AB-F244-C0F9983B188F}"/>
                </a:ext>
              </a:extLst>
            </p:cNvPr>
            <p:cNvSpPr/>
            <p:nvPr/>
          </p:nvSpPr>
          <p:spPr>
            <a:xfrm>
              <a:off x="1042813" y="151226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sp>
        <p:nvSpPr>
          <p:cNvPr id="2" name="TextBox 1">
            <a:extLst>
              <a:ext uri="{FF2B5EF4-FFF2-40B4-BE49-F238E27FC236}">
                <a16:creationId xmlns:a16="http://schemas.microsoft.com/office/drawing/2014/main" id="{CDC176B6-D042-03BB-BB81-7637604320CA}"/>
              </a:ext>
            </a:extLst>
          </p:cNvPr>
          <p:cNvSpPr txBox="1"/>
          <p:nvPr/>
        </p:nvSpPr>
        <p:spPr>
          <a:xfrm>
            <a:off x="9723615" y="75754"/>
            <a:ext cx="1378647" cy="523220"/>
          </a:xfrm>
          <a:prstGeom prst="rect">
            <a:avLst/>
          </a:prstGeom>
          <a:noFill/>
        </p:spPr>
        <p:txBody>
          <a:bodyPr wrap="none" rtlCol="0">
            <a:spAutoFit/>
          </a:bodyPr>
          <a:lstStyle/>
          <a:p>
            <a:r>
              <a:rPr lang="en-IN" sz="2800" u="sng" dirty="0">
                <a:solidFill>
                  <a:srgbClr val="FF0000"/>
                </a:solidFill>
              </a:rPr>
              <a:t>FSS Unit</a:t>
            </a:r>
          </a:p>
        </p:txBody>
      </p:sp>
      <p:cxnSp>
        <p:nvCxnSpPr>
          <p:cNvPr id="8" name="Straight Arrow Connector 7">
            <a:extLst>
              <a:ext uri="{FF2B5EF4-FFF2-40B4-BE49-F238E27FC236}">
                <a16:creationId xmlns:a16="http://schemas.microsoft.com/office/drawing/2014/main" id="{DF7BBCDC-D2DF-0B5B-4D6E-ABA91B917DCA}"/>
              </a:ext>
            </a:extLst>
          </p:cNvPr>
          <p:cNvCxnSpPr>
            <a:cxnSpLocks/>
          </p:cNvCxnSpPr>
          <p:nvPr/>
        </p:nvCxnSpPr>
        <p:spPr>
          <a:xfrm>
            <a:off x="1089738" y="598974"/>
            <a:ext cx="5171022"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1E2BAF5E-0754-9D41-BC89-E12BB8696AFC}"/>
              </a:ext>
            </a:extLst>
          </p:cNvPr>
          <p:cNvCxnSpPr>
            <a:cxnSpLocks/>
          </p:cNvCxnSpPr>
          <p:nvPr/>
        </p:nvCxnSpPr>
        <p:spPr>
          <a:xfrm>
            <a:off x="835738" y="850861"/>
            <a:ext cx="0" cy="5171022"/>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5599EA7-17C9-DE0A-D70E-6ECD9A81A880}"/>
                  </a:ext>
                </a:extLst>
              </p:cNvPr>
              <p:cNvSpPr txBox="1"/>
              <p:nvPr/>
            </p:nvSpPr>
            <p:spPr>
              <a:xfrm>
                <a:off x="3572944" y="318998"/>
                <a:ext cx="25750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𝑫</m:t>
                          </m:r>
                        </m:e>
                        <m:sub>
                          <m:r>
                            <a:rPr lang="en-IN" sz="1400" b="1" i="1" smtClean="0">
                              <a:latin typeface="Cambria Math" panose="02040503050406030204" pitchFamily="18" charset="0"/>
                            </a:rPr>
                            <m:t>𝒙</m:t>
                          </m:r>
                        </m:sub>
                      </m:sSub>
                    </m:oMath>
                  </m:oMathPara>
                </a14:m>
                <a:endParaRPr lang="en-IN" sz="1400" b="1" dirty="0"/>
              </a:p>
            </p:txBody>
          </p:sp>
        </mc:Choice>
        <mc:Fallback xmlns="">
          <p:sp>
            <p:nvSpPr>
              <p:cNvPr id="16" name="TextBox 15">
                <a:extLst>
                  <a:ext uri="{FF2B5EF4-FFF2-40B4-BE49-F238E27FC236}">
                    <a16:creationId xmlns:a16="http://schemas.microsoft.com/office/drawing/2014/main" id="{95599EA7-17C9-DE0A-D70E-6ECD9A81A880}"/>
                  </a:ext>
                </a:extLst>
              </p:cNvPr>
              <p:cNvSpPr txBox="1">
                <a:spLocks noRot="1" noChangeAspect="1" noMove="1" noResize="1" noEditPoints="1" noAdjustHandles="1" noChangeArrowheads="1" noChangeShapeType="1" noTextEdit="1"/>
              </p:cNvSpPr>
              <p:nvPr/>
            </p:nvSpPr>
            <p:spPr>
              <a:xfrm>
                <a:off x="3572944" y="318998"/>
                <a:ext cx="257506" cy="215444"/>
              </a:xfrm>
              <a:prstGeom prst="rect">
                <a:avLst/>
              </a:prstGeom>
              <a:blipFill>
                <a:blip r:embed="rId2"/>
                <a:stretch>
                  <a:fillRect l="-16667" r="-2381" b="-8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86EA605-1716-C583-4E33-9F2FBDE810AE}"/>
                  </a:ext>
                </a:extLst>
              </p:cNvPr>
              <p:cNvSpPr txBox="1"/>
              <p:nvPr/>
            </p:nvSpPr>
            <p:spPr>
              <a:xfrm>
                <a:off x="369284" y="3328650"/>
                <a:ext cx="260712" cy="2351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𝑫</m:t>
                          </m:r>
                        </m:e>
                        <m:sub>
                          <m:r>
                            <a:rPr lang="en-IN" sz="1400" b="1" i="1" smtClean="0">
                              <a:latin typeface="Cambria Math" panose="02040503050406030204" pitchFamily="18" charset="0"/>
                            </a:rPr>
                            <m:t>𝒚</m:t>
                          </m:r>
                        </m:sub>
                      </m:sSub>
                    </m:oMath>
                  </m:oMathPara>
                </a14:m>
                <a:endParaRPr lang="en-IN" sz="1400" b="1" dirty="0"/>
              </a:p>
            </p:txBody>
          </p:sp>
        </mc:Choice>
        <mc:Fallback xmlns="">
          <p:sp>
            <p:nvSpPr>
              <p:cNvPr id="17" name="TextBox 16">
                <a:extLst>
                  <a:ext uri="{FF2B5EF4-FFF2-40B4-BE49-F238E27FC236}">
                    <a16:creationId xmlns:a16="http://schemas.microsoft.com/office/drawing/2014/main" id="{786EA605-1716-C583-4E33-9F2FBDE810AE}"/>
                  </a:ext>
                </a:extLst>
              </p:cNvPr>
              <p:cNvSpPr txBox="1">
                <a:spLocks noRot="1" noChangeAspect="1" noMove="1" noResize="1" noEditPoints="1" noAdjustHandles="1" noChangeArrowheads="1" noChangeShapeType="1" noTextEdit="1"/>
              </p:cNvSpPr>
              <p:nvPr/>
            </p:nvSpPr>
            <p:spPr>
              <a:xfrm>
                <a:off x="369284" y="3328650"/>
                <a:ext cx="260712" cy="235193"/>
              </a:xfrm>
              <a:prstGeom prst="rect">
                <a:avLst/>
              </a:prstGeom>
              <a:blipFill>
                <a:blip r:embed="rId3"/>
                <a:stretch>
                  <a:fillRect l="-16667" r="-7143" b="-17949"/>
                </a:stretch>
              </a:blipFill>
            </p:spPr>
            <p:txBody>
              <a:bodyPr/>
              <a:lstStyle/>
              <a:p>
                <a:r>
                  <a:rPr lang="en-IN">
                    <a:noFill/>
                  </a:rPr>
                  <a:t> </a:t>
                </a:r>
              </a:p>
            </p:txBody>
          </p:sp>
        </mc:Fallback>
      </mc:AlternateContent>
      <p:cxnSp>
        <p:nvCxnSpPr>
          <p:cNvPr id="18" name="Straight Arrow Connector 17">
            <a:extLst>
              <a:ext uri="{FF2B5EF4-FFF2-40B4-BE49-F238E27FC236}">
                <a16:creationId xmlns:a16="http://schemas.microsoft.com/office/drawing/2014/main" id="{7C7A7F26-11F5-8735-B3CF-7964D55FF0D1}"/>
              </a:ext>
            </a:extLst>
          </p:cNvPr>
          <p:cNvCxnSpPr>
            <a:cxnSpLocks/>
          </p:cNvCxnSpPr>
          <p:nvPr/>
        </p:nvCxnSpPr>
        <p:spPr>
          <a:xfrm>
            <a:off x="1231560" y="3913674"/>
            <a:ext cx="190500"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873E74-D5AC-F45C-31DB-72F5AE79A039}"/>
                  </a:ext>
                </a:extLst>
              </p:cNvPr>
              <p:cNvSpPr txBox="1"/>
              <p:nvPr/>
            </p:nvSpPr>
            <p:spPr>
              <a:xfrm>
                <a:off x="1143172" y="3591869"/>
                <a:ext cx="28475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𝑫</m:t>
                          </m:r>
                        </m:e>
                        <m:sub>
                          <m:r>
                            <a:rPr lang="en-IN" sz="1400" b="1" i="1" smtClean="0">
                              <a:latin typeface="Cambria Math" panose="02040503050406030204" pitchFamily="18" charset="0"/>
                            </a:rPr>
                            <m:t>𝒘</m:t>
                          </m:r>
                        </m:sub>
                      </m:sSub>
                    </m:oMath>
                  </m:oMathPara>
                </a14:m>
                <a:endParaRPr lang="en-IN" sz="1400" b="1" dirty="0"/>
              </a:p>
            </p:txBody>
          </p:sp>
        </mc:Choice>
        <mc:Fallback xmlns="">
          <p:sp>
            <p:nvSpPr>
              <p:cNvPr id="21" name="TextBox 20">
                <a:extLst>
                  <a:ext uri="{FF2B5EF4-FFF2-40B4-BE49-F238E27FC236}">
                    <a16:creationId xmlns:a16="http://schemas.microsoft.com/office/drawing/2014/main" id="{47873E74-D5AC-F45C-31DB-72F5AE79A039}"/>
                  </a:ext>
                </a:extLst>
              </p:cNvPr>
              <p:cNvSpPr txBox="1">
                <a:spLocks noRot="1" noChangeAspect="1" noMove="1" noResize="1" noEditPoints="1" noAdjustHandles="1" noChangeArrowheads="1" noChangeShapeType="1" noTextEdit="1"/>
              </p:cNvSpPr>
              <p:nvPr/>
            </p:nvSpPr>
            <p:spPr>
              <a:xfrm>
                <a:off x="1143172" y="3591869"/>
                <a:ext cx="284757" cy="215444"/>
              </a:xfrm>
              <a:prstGeom prst="rect">
                <a:avLst/>
              </a:prstGeom>
              <a:blipFill>
                <a:blip r:embed="rId4"/>
                <a:stretch>
                  <a:fillRect l="-15217" r="-2174" b="-8333"/>
                </a:stretch>
              </a:blipFill>
            </p:spPr>
            <p:txBody>
              <a:bodyPr/>
              <a:lstStyle/>
              <a:p>
                <a:r>
                  <a:rPr lang="en-IN">
                    <a:noFill/>
                  </a:rPr>
                  <a:t> </a:t>
                </a:r>
              </a:p>
            </p:txBody>
          </p:sp>
        </mc:Fallback>
      </mc:AlternateContent>
      <p:cxnSp>
        <p:nvCxnSpPr>
          <p:cNvPr id="22" name="Straight Arrow Connector 21">
            <a:extLst>
              <a:ext uri="{FF2B5EF4-FFF2-40B4-BE49-F238E27FC236}">
                <a16:creationId xmlns:a16="http://schemas.microsoft.com/office/drawing/2014/main" id="{B85F30E7-4755-6E0B-E6BB-A18D9DCB8FB6}"/>
              </a:ext>
            </a:extLst>
          </p:cNvPr>
          <p:cNvCxnSpPr>
            <a:cxnSpLocks/>
          </p:cNvCxnSpPr>
          <p:nvPr/>
        </p:nvCxnSpPr>
        <p:spPr>
          <a:xfrm>
            <a:off x="1089738" y="5061754"/>
            <a:ext cx="160391"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811D29E4-8482-6E1D-4CAB-B05CCA4DED28}"/>
              </a:ext>
            </a:extLst>
          </p:cNvPr>
          <p:cNvSpPr txBox="1"/>
          <p:nvPr/>
        </p:nvSpPr>
        <p:spPr>
          <a:xfrm>
            <a:off x="1127454" y="4809868"/>
            <a:ext cx="84960" cy="215444"/>
          </a:xfrm>
          <a:prstGeom prst="rect">
            <a:avLst/>
          </a:prstGeom>
          <a:noFill/>
        </p:spPr>
        <p:txBody>
          <a:bodyPr wrap="none" lIns="0" tIns="0" rIns="0" bIns="0" rtlCol="0">
            <a:spAutoFit/>
          </a:bodyPr>
          <a:lstStyle/>
          <a:p>
            <a:r>
              <a:rPr lang="en-IN" sz="1400" b="1" dirty="0"/>
              <a:t>g</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AAC22D2-CEE0-D123-1D87-F5632CE52605}"/>
                  </a:ext>
                </a:extLst>
              </p:cNvPr>
              <p:cNvSpPr txBox="1"/>
              <p:nvPr/>
            </p:nvSpPr>
            <p:spPr>
              <a:xfrm>
                <a:off x="3546495" y="1987542"/>
                <a:ext cx="26231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𝑫</m:t>
                          </m:r>
                        </m:e>
                        <m:sub>
                          <m:r>
                            <a:rPr lang="en-IN" sz="1400" b="1" i="1" smtClean="0">
                              <a:latin typeface="Cambria Math" panose="02040503050406030204" pitchFamily="18" charset="0"/>
                            </a:rPr>
                            <m:t>𝒃</m:t>
                          </m:r>
                        </m:sub>
                      </m:sSub>
                    </m:oMath>
                  </m:oMathPara>
                </a14:m>
                <a:endParaRPr lang="en-IN" sz="1400" b="1" dirty="0"/>
              </a:p>
            </p:txBody>
          </p:sp>
        </mc:Choice>
        <mc:Fallback xmlns="">
          <p:sp>
            <p:nvSpPr>
              <p:cNvPr id="25" name="TextBox 24">
                <a:extLst>
                  <a:ext uri="{FF2B5EF4-FFF2-40B4-BE49-F238E27FC236}">
                    <a16:creationId xmlns:a16="http://schemas.microsoft.com/office/drawing/2014/main" id="{AAAC22D2-CEE0-D123-1D87-F5632CE52605}"/>
                  </a:ext>
                </a:extLst>
              </p:cNvPr>
              <p:cNvSpPr txBox="1">
                <a:spLocks noRot="1" noChangeAspect="1" noMove="1" noResize="1" noEditPoints="1" noAdjustHandles="1" noChangeArrowheads="1" noChangeShapeType="1" noTextEdit="1"/>
              </p:cNvSpPr>
              <p:nvPr/>
            </p:nvSpPr>
            <p:spPr>
              <a:xfrm>
                <a:off x="3546495" y="1987542"/>
                <a:ext cx="262316" cy="215444"/>
              </a:xfrm>
              <a:prstGeom prst="rect">
                <a:avLst/>
              </a:prstGeom>
              <a:blipFill>
                <a:blip r:embed="rId5"/>
                <a:stretch>
                  <a:fillRect l="-16279" r="-6977" b="-2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C512316-EA24-8940-90C3-50D6DFEA70BA}"/>
                  </a:ext>
                </a:extLst>
              </p:cNvPr>
              <p:cNvSpPr txBox="1"/>
              <p:nvPr/>
            </p:nvSpPr>
            <p:spPr>
              <a:xfrm>
                <a:off x="2688656" y="2383467"/>
                <a:ext cx="26391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𝑫</m:t>
                          </m:r>
                        </m:e>
                        <m:sub>
                          <m:r>
                            <a:rPr lang="en-IN" sz="1400" b="1" i="1" smtClean="0">
                              <a:latin typeface="Cambria Math" panose="02040503050406030204" pitchFamily="18" charset="0"/>
                            </a:rPr>
                            <m:t>𝒂</m:t>
                          </m:r>
                        </m:sub>
                      </m:sSub>
                    </m:oMath>
                  </m:oMathPara>
                </a14:m>
                <a:endParaRPr lang="en-IN" sz="1400" b="1" dirty="0"/>
              </a:p>
            </p:txBody>
          </p:sp>
        </mc:Choice>
        <mc:Fallback xmlns="">
          <p:sp>
            <p:nvSpPr>
              <p:cNvPr id="26" name="TextBox 25">
                <a:extLst>
                  <a:ext uri="{FF2B5EF4-FFF2-40B4-BE49-F238E27FC236}">
                    <a16:creationId xmlns:a16="http://schemas.microsoft.com/office/drawing/2014/main" id="{3C512316-EA24-8940-90C3-50D6DFEA70BA}"/>
                  </a:ext>
                </a:extLst>
              </p:cNvPr>
              <p:cNvSpPr txBox="1">
                <a:spLocks noRot="1" noChangeAspect="1" noMove="1" noResize="1" noEditPoints="1" noAdjustHandles="1" noChangeArrowheads="1" noChangeShapeType="1" noTextEdit="1"/>
              </p:cNvSpPr>
              <p:nvPr/>
            </p:nvSpPr>
            <p:spPr>
              <a:xfrm>
                <a:off x="2688656" y="2383467"/>
                <a:ext cx="263918" cy="215444"/>
              </a:xfrm>
              <a:prstGeom prst="rect">
                <a:avLst/>
              </a:prstGeom>
              <a:blipFill>
                <a:blip r:embed="rId6"/>
                <a:stretch>
                  <a:fillRect l="-16279" r="-2326" b="-85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3E13C8F-D510-6D9C-215C-206036631CB2}"/>
                  </a:ext>
                </a:extLst>
              </p:cNvPr>
              <p:cNvSpPr txBox="1"/>
              <p:nvPr/>
            </p:nvSpPr>
            <p:spPr>
              <a:xfrm>
                <a:off x="2759642" y="3113206"/>
                <a:ext cx="25269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𝑫</m:t>
                          </m:r>
                        </m:e>
                        <m:sub>
                          <m:r>
                            <a:rPr lang="en-IN" sz="1400" b="1" i="1" smtClean="0">
                              <a:latin typeface="Cambria Math" panose="02040503050406030204" pitchFamily="18" charset="0"/>
                            </a:rPr>
                            <m:t>𝒓</m:t>
                          </m:r>
                        </m:sub>
                      </m:sSub>
                    </m:oMath>
                  </m:oMathPara>
                </a14:m>
                <a:endParaRPr lang="en-IN" sz="1400" b="1" dirty="0"/>
              </a:p>
            </p:txBody>
          </p:sp>
        </mc:Choice>
        <mc:Fallback xmlns="">
          <p:sp>
            <p:nvSpPr>
              <p:cNvPr id="27" name="TextBox 26">
                <a:extLst>
                  <a:ext uri="{FF2B5EF4-FFF2-40B4-BE49-F238E27FC236}">
                    <a16:creationId xmlns:a16="http://schemas.microsoft.com/office/drawing/2014/main" id="{03E13C8F-D510-6D9C-215C-206036631CB2}"/>
                  </a:ext>
                </a:extLst>
              </p:cNvPr>
              <p:cNvSpPr txBox="1">
                <a:spLocks noRot="1" noChangeAspect="1" noMove="1" noResize="1" noEditPoints="1" noAdjustHandles="1" noChangeArrowheads="1" noChangeShapeType="1" noTextEdit="1"/>
              </p:cNvSpPr>
              <p:nvPr/>
            </p:nvSpPr>
            <p:spPr>
              <a:xfrm>
                <a:off x="2759642" y="3113206"/>
                <a:ext cx="252697" cy="215444"/>
              </a:xfrm>
              <a:prstGeom prst="rect">
                <a:avLst/>
              </a:prstGeom>
              <a:blipFill>
                <a:blip r:embed="rId7"/>
                <a:stretch>
                  <a:fillRect l="-17073" b="-8571"/>
                </a:stretch>
              </a:blipFill>
            </p:spPr>
            <p:txBody>
              <a:bodyPr/>
              <a:lstStyle/>
              <a:p>
                <a:r>
                  <a:rPr lang="en-IN">
                    <a:noFill/>
                  </a:rPr>
                  <a:t> </a:t>
                </a:r>
              </a:p>
            </p:txBody>
          </p:sp>
        </mc:Fallback>
      </mc:AlternateContent>
      <p:cxnSp>
        <p:nvCxnSpPr>
          <p:cNvPr id="28" name="Straight Arrow Connector 27">
            <a:extLst>
              <a:ext uri="{FF2B5EF4-FFF2-40B4-BE49-F238E27FC236}">
                <a16:creationId xmlns:a16="http://schemas.microsoft.com/office/drawing/2014/main" id="{94F0EC79-982A-0ABF-BD22-BD750B11FF4C}"/>
              </a:ext>
            </a:extLst>
          </p:cNvPr>
          <p:cNvCxnSpPr>
            <a:cxnSpLocks/>
          </p:cNvCxnSpPr>
          <p:nvPr/>
        </p:nvCxnSpPr>
        <p:spPr>
          <a:xfrm>
            <a:off x="2318994" y="2885335"/>
            <a:ext cx="1382703" cy="551037"/>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32" name="Straight Arrow Connector 31">
            <a:extLst>
              <a:ext uri="{FF2B5EF4-FFF2-40B4-BE49-F238E27FC236}">
                <a16:creationId xmlns:a16="http://schemas.microsoft.com/office/drawing/2014/main" id="{1BF17D62-F8EF-41E8-1BC4-B6589CEA2AC8}"/>
              </a:ext>
            </a:extLst>
          </p:cNvPr>
          <p:cNvCxnSpPr>
            <a:cxnSpLocks/>
          </p:cNvCxnSpPr>
          <p:nvPr/>
        </p:nvCxnSpPr>
        <p:spPr>
          <a:xfrm flipV="1">
            <a:off x="2482270" y="2275745"/>
            <a:ext cx="335139" cy="314017"/>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2D4EFD6A-80E7-6082-158C-7D877BAA6425}"/>
              </a:ext>
            </a:extLst>
          </p:cNvPr>
          <p:cNvCxnSpPr>
            <a:cxnSpLocks/>
          </p:cNvCxnSpPr>
          <p:nvPr/>
        </p:nvCxnSpPr>
        <p:spPr>
          <a:xfrm flipV="1">
            <a:off x="3675248" y="1492899"/>
            <a:ext cx="0" cy="49464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58A553EA-E18C-4914-7410-A2A53485B3E5}"/>
              </a:ext>
            </a:extLst>
          </p:cNvPr>
          <p:cNvCxnSpPr>
            <a:cxnSpLocks/>
          </p:cNvCxnSpPr>
          <p:nvPr/>
        </p:nvCxnSpPr>
        <p:spPr>
          <a:xfrm flipV="1">
            <a:off x="5994242" y="2939603"/>
            <a:ext cx="0" cy="974071"/>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635478C-4B09-526B-9687-7263E1BE04CF}"/>
                  </a:ext>
                </a:extLst>
              </p:cNvPr>
              <p:cNvSpPr txBox="1"/>
              <p:nvPr/>
            </p:nvSpPr>
            <p:spPr>
              <a:xfrm>
                <a:off x="6003253" y="3338524"/>
                <a:ext cx="230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𝑫</m:t>
                          </m:r>
                        </m:e>
                        <m:sub>
                          <m:r>
                            <a:rPr lang="en-IN" sz="1400" b="1" i="1" smtClean="0">
                              <a:latin typeface="Cambria Math" panose="02040503050406030204" pitchFamily="18" charset="0"/>
                            </a:rPr>
                            <m:t>𝒍</m:t>
                          </m:r>
                        </m:sub>
                      </m:sSub>
                    </m:oMath>
                  </m:oMathPara>
                </a14:m>
                <a:endParaRPr lang="en-IN" sz="1400" b="1" dirty="0"/>
              </a:p>
            </p:txBody>
          </p:sp>
        </mc:Choice>
        <mc:Fallback xmlns="">
          <p:sp>
            <p:nvSpPr>
              <p:cNvPr id="39" name="TextBox 38">
                <a:extLst>
                  <a:ext uri="{FF2B5EF4-FFF2-40B4-BE49-F238E27FC236}">
                    <a16:creationId xmlns:a16="http://schemas.microsoft.com/office/drawing/2014/main" id="{5635478C-4B09-526B-9687-7263E1BE04CF}"/>
                  </a:ext>
                </a:extLst>
              </p:cNvPr>
              <p:cNvSpPr txBox="1">
                <a:spLocks noRot="1" noChangeAspect="1" noMove="1" noResize="1" noEditPoints="1" noAdjustHandles="1" noChangeArrowheads="1" noChangeShapeType="1" noTextEdit="1"/>
              </p:cNvSpPr>
              <p:nvPr/>
            </p:nvSpPr>
            <p:spPr>
              <a:xfrm>
                <a:off x="6003253" y="3338524"/>
                <a:ext cx="230256" cy="215444"/>
              </a:xfrm>
              <a:prstGeom prst="rect">
                <a:avLst/>
              </a:prstGeom>
              <a:blipFill>
                <a:blip r:embed="rId8"/>
                <a:stretch>
                  <a:fillRect l="-18421" r="-7895" b="-17143"/>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825F1979-D942-5E72-5C9D-74EB5B1A9478}"/>
              </a:ext>
            </a:extLst>
          </p:cNvPr>
          <p:cNvGraphicFramePr>
            <a:graphicFrameLocks noGrp="1"/>
          </p:cNvGraphicFramePr>
          <p:nvPr>
            <p:extLst>
              <p:ext uri="{D42A27DB-BD31-4B8C-83A1-F6EECF244321}">
                <p14:modId xmlns:p14="http://schemas.microsoft.com/office/powerpoint/2010/main" val="3860096259"/>
              </p:ext>
            </p:extLst>
          </p:nvPr>
        </p:nvGraphicFramePr>
        <p:xfrm>
          <a:off x="6690895" y="470483"/>
          <a:ext cx="2422688" cy="2750445"/>
        </p:xfrm>
        <a:graphic>
          <a:graphicData uri="http://schemas.openxmlformats.org/drawingml/2006/table">
            <a:tbl>
              <a:tblPr firstRow="1" bandRow="1">
                <a:tableStyleId>{8799B23B-EC83-4686-B30A-512413B5E67A}</a:tableStyleId>
              </a:tblPr>
              <a:tblGrid>
                <a:gridCol w="1100906">
                  <a:extLst>
                    <a:ext uri="{9D8B030D-6E8A-4147-A177-3AD203B41FA5}">
                      <a16:colId xmlns:a16="http://schemas.microsoft.com/office/drawing/2014/main" val="1453530988"/>
                    </a:ext>
                  </a:extLst>
                </a:gridCol>
                <a:gridCol w="1321782">
                  <a:extLst>
                    <a:ext uri="{9D8B030D-6E8A-4147-A177-3AD203B41FA5}">
                      <a16:colId xmlns:a16="http://schemas.microsoft.com/office/drawing/2014/main" val="2260824448"/>
                    </a:ext>
                  </a:extLst>
                </a:gridCol>
              </a:tblGrid>
              <a:tr h="305605">
                <a:tc>
                  <a:txBody>
                    <a:bodyPr/>
                    <a:lstStyle/>
                    <a:p>
                      <a:r>
                        <a:rPr lang="en-IN" sz="1400" dirty="0"/>
                        <a:t>Parameter</a:t>
                      </a:r>
                    </a:p>
                  </a:txBody>
                  <a:tcPr/>
                </a:tc>
                <a:tc>
                  <a:txBody>
                    <a:bodyPr/>
                    <a:lstStyle/>
                    <a:p>
                      <a:r>
                        <a:rPr lang="en-IN" sz="1400" dirty="0"/>
                        <a:t>Value (in mm)</a:t>
                      </a:r>
                    </a:p>
                  </a:txBody>
                  <a:tcPr/>
                </a:tc>
                <a:extLst>
                  <a:ext uri="{0D108BD9-81ED-4DB2-BD59-A6C34878D82A}">
                    <a16:rowId xmlns:a16="http://schemas.microsoft.com/office/drawing/2014/main" val="3960300441"/>
                  </a:ext>
                </a:extLst>
              </a:tr>
              <a:tr h="305605">
                <a:tc>
                  <a:txBody>
                    <a:bodyPr/>
                    <a:lstStyle/>
                    <a:p>
                      <a:r>
                        <a:rPr lang="en-IN" sz="1400" dirty="0"/>
                        <a:t>Dx</a:t>
                      </a:r>
                    </a:p>
                  </a:txBody>
                  <a:tcPr/>
                </a:tc>
                <a:tc>
                  <a:txBody>
                    <a:bodyPr/>
                    <a:lstStyle/>
                    <a:p>
                      <a:r>
                        <a:rPr lang="en-IN" sz="1400" dirty="0"/>
                        <a:t>40</a:t>
                      </a:r>
                    </a:p>
                  </a:txBody>
                  <a:tcPr/>
                </a:tc>
                <a:extLst>
                  <a:ext uri="{0D108BD9-81ED-4DB2-BD59-A6C34878D82A}">
                    <a16:rowId xmlns:a16="http://schemas.microsoft.com/office/drawing/2014/main" val="738213335"/>
                  </a:ext>
                </a:extLst>
              </a:tr>
              <a:tr h="305605">
                <a:tc>
                  <a:txBody>
                    <a:bodyPr/>
                    <a:lstStyle/>
                    <a:p>
                      <a:r>
                        <a:rPr lang="en-IN" sz="1400" dirty="0"/>
                        <a:t>Dy</a:t>
                      </a:r>
                    </a:p>
                  </a:txBody>
                  <a:tcPr/>
                </a:tc>
                <a:tc>
                  <a:txBody>
                    <a:bodyPr/>
                    <a:lstStyle/>
                    <a:p>
                      <a:r>
                        <a:rPr lang="en-IN" sz="1400" dirty="0"/>
                        <a:t>40</a:t>
                      </a:r>
                    </a:p>
                  </a:txBody>
                  <a:tcPr/>
                </a:tc>
                <a:extLst>
                  <a:ext uri="{0D108BD9-81ED-4DB2-BD59-A6C34878D82A}">
                    <a16:rowId xmlns:a16="http://schemas.microsoft.com/office/drawing/2014/main" val="3703036217"/>
                  </a:ext>
                </a:extLst>
              </a:tr>
              <a:tr h="305605">
                <a:tc>
                  <a:txBody>
                    <a:bodyPr/>
                    <a:lstStyle/>
                    <a:p>
                      <a:r>
                        <a:rPr lang="en-IN" sz="1400" dirty="0"/>
                        <a:t>Da</a:t>
                      </a:r>
                    </a:p>
                  </a:txBody>
                  <a:tcPr/>
                </a:tc>
                <a:tc>
                  <a:txBody>
                    <a:bodyPr/>
                    <a:lstStyle/>
                    <a:p>
                      <a:r>
                        <a:rPr lang="en-IN" sz="1400" dirty="0"/>
                        <a:t>4.49</a:t>
                      </a:r>
                    </a:p>
                  </a:txBody>
                  <a:tcPr/>
                </a:tc>
                <a:extLst>
                  <a:ext uri="{0D108BD9-81ED-4DB2-BD59-A6C34878D82A}">
                    <a16:rowId xmlns:a16="http://schemas.microsoft.com/office/drawing/2014/main" val="3232251495"/>
                  </a:ext>
                </a:extLst>
              </a:tr>
              <a:tr h="305605">
                <a:tc>
                  <a:txBody>
                    <a:bodyPr/>
                    <a:lstStyle/>
                    <a:p>
                      <a:r>
                        <a:rPr lang="en-IN" sz="1400" dirty="0"/>
                        <a:t>Db</a:t>
                      </a:r>
                    </a:p>
                  </a:txBody>
                  <a:tcPr/>
                </a:tc>
                <a:tc>
                  <a:txBody>
                    <a:bodyPr/>
                    <a:lstStyle/>
                    <a:p>
                      <a:r>
                        <a:rPr lang="en-IN" sz="1400" dirty="0"/>
                        <a:t>4.785</a:t>
                      </a:r>
                    </a:p>
                  </a:txBody>
                  <a:tcPr/>
                </a:tc>
                <a:extLst>
                  <a:ext uri="{0D108BD9-81ED-4DB2-BD59-A6C34878D82A}">
                    <a16:rowId xmlns:a16="http://schemas.microsoft.com/office/drawing/2014/main" val="1370122949"/>
                  </a:ext>
                </a:extLst>
              </a:tr>
              <a:tr h="305605">
                <a:tc>
                  <a:txBody>
                    <a:bodyPr/>
                    <a:lstStyle/>
                    <a:p>
                      <a:r>
                        <a:rPr lang="en-IN" sz="1400" dirty="0"/>
                        <a:t>Dr</a:t>
                      </a:r>
                    </a:p>
                  </a:txBody>
                  <a:tcPr/>
                </a:tc>
                <a:tc>
                  <a:txBody>
                    <a:bodyPr/>
                    <a:lstStyle/>
                    <a:p>
                      <a:r>
                        <a:rPr lang="en-IN" sz="1400" dirty="0"/>
                        <a:t>15.525</a:t>
                      </a:r>
                    </a:p>
                  </a:txBody>
                  <a:tcPr/>
                </a:tc>
                <a:extLst>
                  <a:ext uri="{0D108BD9-81ED-4DB2-BD59-A6C34878D82A}">
                    <a16:rowId xmlns:a16="http://schemas.microsoft.com/office/drawing/2014/main" val="3212312512"/>
                  </a:ext>
                </a:extLst>
              </a:tr>
              <a:tr h="305605">
                <a:tc>
                  <a:txBody>
                    <a:bodyPr/>
                    <a:lstStyle/>
                    <a:p>
                      <a:r>
                        <a:rPr lang="en-IN" sz="1400" dirty="0"/>
                        <a:t>Dl</a:t>
                      </a:r>
                    </a:p>
                  </a:txBody>
                  <a:tcPr/>
                </a:tc>
                <a:tc>
                  <a:txBody>
                    <a:bodyPr/>
                    <a:lstStyle/>
                    <a:p>
                      <a:r>
                        <a:rPr lang="en-IN" sz="1400" dirty="0"/>
                        <a:t>9.06</a:t>
                      </a:r>
                    </a:p>
                  </a:txBody>
                  <a:tcPr/>
                </a:tc>
                <a:extLst>
                  <a:ext uri="{0D108BD9-81ED-4DB2-BD59-A6C34878D82A}">
                    <a16:rowId xmlns:a16="http://schemas.microsoft.com/office/drawing/2014/main" val="1153628946"/>
                  </a:ext>
                </a:extLst>
              </a:tr>
              <a:tr h="305605">
                <a:tc>
                  <a:txBody>
                    <a:bodyPr/>
                    <a:lstStyle/>
                    <a:p>
                      <a:r>
                        <a:rPr lang="en-IN" sz="1400" dirty="0" err="1"/>
                        <a:t>Dw</a:t>
                      </a:r>
                      <a:endParaRPr lang="en-IN" sz="1400" dirty="0"/>
                    </a:p>
                  </a:txBody>
                  <a:tcPr/>
                </a:tc>
                <a:tc>
                  <a:txBody>
                    <a:bodyPr/>
                    <a:lstStyle/>
                    <a:p>
                      <a:r>
                        <a:rPr lang="en-IN" sz="1400" dirty="0"/>
                        <a:t>2.59</a:t>
                      </a:r>
                    </a:p>
                  </a:txBody>
                  <a:tcPr/>
                </a:tc>
                <a:extLst>
                  <a:ext uri="{0D108BD9-81ED-4DB2-BD59-A6C34878D82A}">
                    <a16:rowId xmlns:a16="http://schemas.microsoft.com/office/drawing/2014/main" val="1452091989"/>
                  </a:ext>
                </a:extLst>
              </a:tr>
              <a:tr h="305605">
                <a:tc>
                  <a:txBody>
                    <a:bodyPr/>
                    <a:lstStyle/>
                    <a:p>
                      <a:r>
                        <a:rPr lang="en-IN" sz="1400" dirty="0"/>
                        <a:t>g</a:t>
                      </a:r>
                    </a:p>
                  </a:txBody>
                  <a:tcPr/>
                </a:tc>
                <a:tc>
                  <a:txBody>
                    <a:bodyPr/>
                    <a:lstStyle/>
                    <a:p>
                      <a:r>
                        <a:rPr lang="en-IN" sz="1400" dirty="0"/>
                        <a:t>0.865</a:t>
                      </a:r>
                    </a:p>
                  </a:txBody>
                  <a:tcPr/>
                </a:tc>
                <a:extLst>
                  <a:ext uri="{0D108BD9-81ED-4DB2-BD59-A6C34878D82A}">
                    <a16:rowId xmlns:a16="http://schemas.microsoft.com/office/drawing/2014/main" val="653360310"/>
                  </a:ext>
                </a:extLst>
              </a:tr>
            </a:tbl>
          </a:graphicData>
        </a:graphic>
      </p:graphicFrame>
      <p:pic>
        <p:nvPicPr>
          <p:cNvPr id="9" name="Picture 8">
            <a:extLst>
              <a:ext uri="{FF2B5EF4-FFF2-40B4-BE49-F238E27FC236}">
                <a16:creationId xmlns:a16="http://schemas.microsoft.com/office/drawing/2014/main" id="{50F1F8F1-9267-DB6D-FA54-9B09E63C40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29873" y="3422972"/>
            <a:ext cx="3665833" cy="2598911"/>
          </a:xfrm>
          <a:prstGeom prst="rect">
            <a:avLst/>
          </a:prstGeom>
        </p:spPr>
      </p:pic>
      <p:sp>
        <p:nvSpPr>
          <p:cNvPr id="5" name="TextBox 4">
            <a:extLst>
              <a:ext uri="{FF2B5EF4-FFF2-40B4-BE49-F238E27FC236}">
                <a16:creationId xmlns:a16="http://schemas.microsoft.com/office/drawing/2014/main" id="{F7BA8274-7D57-C85D-45A5-B948580591E3}"/>
              </a:ext>
            </a:extLst>
          </p:cNvPr>
          <p:cNvSpPr txBox="1"/>
          <p:nvPr/>
        </p:nvSpPr>
        <p:spPr>
          <a:xfrm>
            <a:off x="8364189" y="6018185"/>
            <a:ext cx="2196445" cy="369332"/>
          </a:xfrm>
          <a:prstGeom prst="rect">
            <a:avLst/>
          </a:prstGeom>
          <a:noFill/>
        </p:spPr>
        <p:txBody>
          <a:bodyPr wrap="square" rtlCol="0">
            <a:spAutoFit/>
          </a:bodyPr>
          <a:lstStyle/>
          <a:p>
            <a:r>
              <a:rPr lang="en-IN" dirty="0"/>
              <a:t>S11 Parameter</a:t>
            </a:r>
          </a:p>
        </p:txBody>
      </p:sp>
    </p:spTree>
    <p:extLst>
      <p:ext uri="{BB962C8B-B14F-4D97-AF65-F5344CB8AC3E}">
        <p14:creationId xmlns:p14="http://schemas.microsoft.com/office/powerpoint/2010/main" val="1553822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748B3-648B-8CF7-F067-923F0504CC25}"/>
            </a:ext>
          </a:extLst>
        </p:cNvPr>
        <p:cNvGrpSpPr/>
        <p:nvPr/>
      </p:nvGrpSpPr>
      <p:grpSpPr>
        <a:xfrm>
          <a:off x="0" y="0"/>
          <a:ext cx="0" cy="0"/>
          <a:chOff x="0" y="0"/>
          <a:chExt cx="0" cy="0"/>
        </a:xfrm>
      </p:grpSpPr>
      <p:grpSp>
        <p:nvGrpSpPr>
          <p:cNvPr id="110" name="Group 109">
            <a:extLst>
              <a:ext uri="{FF2B5EF4-FFF2-40B4-BE49-F238E27FC236}">
                <a16:creationId xmlns:a16="http://schemas.microsoft.com/office/drawing/2014/main" id="{A3906D68-0F31-E52D-C0D9-292DE33450C0}"/>
              </a:ext>
            </a:extLst>
          </p:cNvPr>
          <p:cNvGrpSpPr/>
          <p:nvPr/>
        </p:nvGrpSpPr>
        <p:grpSpPr>
          <a:xfrm>
            <a:off x="1175055" y="1049252"/>
            <a:ext cx="4826832" cy="4821052"/>
            <a:chOff x="4194620" y="1395164"/>
            <a:chExt cx="3133457" cy="3129705"/>
          </a:xfrm>
        </p:grpSpPr>
        <p:grpSp>
          <p:nvGrpSpPr>
            <p:cNvPr id="84" name="Group 83">
              <a:extLst>
                <a:ext uri="{FF2B5EF4-FFF2-40B4-BE49-F238E27FC236}">
                  <a16:creationId xmlns:a16="http://schemas.microsoft.com/office/drawing/2014/main" id="{FBE2AEA8-22F6-A228-6DEC-DEA6BCE8A30D}"/>
                </a:ext>
              </a:extLst>
            </p:cNvPr>
            <p:cNvGrpSpPr/>
            <p:nvPr/>
          </p:nvGrpSpPr>
          <p:grpSpPr>
            <a:xfrm>
              <a:off x="4196498" y="1395165"/>
              <a:ext cx="1043235" cy="1043235"/>
              <a:chOff x="4196498" y="1395165"/>
              <a:chExt cx="3799002" cy="3799002"/>
            </a:xfrm>
          </p:grpSpPr>
          <p:sp>
            <p:nvSpPr>
              <p:cNvPr id="6" name="Rectangle 5">
                <a:extLst>
                  <a:ext uri="{FF2B5EF4-FFF2-40B4-BE49-F238E27FC236}">
                    <a16:creationId xmlns:a16="http://schemas.microsoft.com/office/drawing/2014/main" id="{0795AFA7-40FA-A84B-343D-ECADF8118261}"/>
                  </a:ext>
                </a:extLst>
              </p:cNvPr>
              <p:cNvSpPr/>
              <p:nvPr/>
            </p:nvSpPr>
            <p:spPr>
              <a:xfrm>
                <a:off x="4196498" y="139516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Freeform: Shape 82">
                <a:extLst>
                  <a:ext uri="{FF2B5EF4-FFF2-40B4-BE49-F238E27FC236}">
                    <a16:creationId xmlns:a16="http://schemas.microsoft.com/office/drawing/2014/main" id="{846D7181-3919-21B0-433A-73A8E5CA5130}"/>
                  </a:ext>
                </a:extLst>
              </p:cNvPr>
              <p:cNvSpPr/>
              <p:nvPr/>
            </p:nvSpPr>
            <p:spPr>
              <a:xfrm>
                <a:off x="4314333" y="152242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grpSp>
          <p:nvGrpSpPr>
            <p:cNvPr id="85" name="Group 84">
              <a:extLst>
                <a:ext uri="{FF2B5EF4-FFF2-40B4-BE49-F238E27FC236}">
                  <a16:creationId xmlns:a16="http://schemas.microsoft.com/office/drawing/2014/main" id="{2E54503B-E7DA-B293-80EF-D52C13D420B3}"/>
                </a:ext>
              </a:extLst>
            </p:cNvPr>
            <p:cNvGrpSpPr/>
            <p:nvPr/>
          </p:nvGrpSpPr>
          <p:grpSpPr>
            <a:xfrm>
              <a:off x="5239732" y="1395164"/>
              <a:ext cx="1043235" cy="1043235"/>
              <a:chOff x="4196498" y="1395165"/>
              <a:chExt cx="3799002" cy="3799002"/>
            </a:xfrm>
          </p:grpSpPr>
          <p:sp>
            <p:nvSpPr>
              <p:cNvPr id="86" name="Rectangle 85">
                <a:extLst>
                  <a:ext uri="{FF2B5EF4-FFF2-40B4-BE49-F238E27FC236}">
                    <a16:creationId xmlns:a16="http://schemas.microsoft.com/office/drawing/2014/main" id="{3517BAD7-0319-FD25-CBBC-8CED75661E79}"/>
                  </a:ext>
                </a:extLst>
              </p:cNvPr>
              <p:cNvSpPr/>
              <p:nvPr/>
            </p:nvSpPr>
            <p:spPr>
              <a:xfrm>
                <a:off x="4196498" y="139516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Freeform: Shape 86">
                <a:extLst>
                  <a:ext uri="{FF2B5EF4-FFF2-40B4-BE49-F238E27FC236}">
                    <a16:creationId xmlns:a16="http://schemas.microsoft.com/office/drawing/2014/main" id="{720860F0-71E1-DF8D-61C5-F70E6D94BD53}"/>
                  </a:ext>
                </a:extLst>
              </p:cNvPr>
              <p:cNvSpPr/>
              <p:nvPr/>
            </p:nvSpPr>
            <p:spPr>
              <a:xfrm>
                <a:off x="4314333" y="152242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grpSp>
          <p:nvGrpSpPr>
            <p:cNvPr id="88" name="Group 87">
              <a:extLst>
                <a:ext uri="{FF2B5EF4-FFF2-40B4-BE49-F238E27FC236}">
                  <a16:creationId xmlns:a16="http://schemas.microsoft.com/office/drawing/2014/main" id="{6312A531-FE0F-DBF4-5CE7-E3C5F61711FC}"/>
                </a:ext>
              </a:extLst>
            </p:cNvPr>
            <p:cNvGrpSpPr/>
            <p:nvPr/>
          </p:nvGrpSpPr>
          <p:grpSpPr>
            <a:xfrm>
              <a:off x="6282965" y="1395164"/>
              <a:ext cx="1043235" cy="1043235"/>
              <a:chOff x="4196498" y="1395165"/>
              <a:chExt cx="3799002" cy="3799002"/>
            </a:xfrm>
          </p:grpSpPr>
          <p:sp>
            <p:nvSpPr>
              <p:cNvPr id="89" name="Rectangle 88">
                <a:extLst>
                  <a:ext uri="{FF2B5EF4-FFF2-40B4-BE49-F238E27FC236}">
                    <a16:creationId xmlns:a16="http://schemas.microsoft.com/office/drawing/2014/main" id="{C46B23DA-CB79-9038-6AC7-6B6465F80EE6}"/>
                  </a:ext>
                </a:extLst>
              </p:cNvPr>
              <p:cNvSpPr/>
              <p:nvPr/>
            </p:nvSpPr>
            <p:spPr>
              <a:xfrm>
                <a:off x="4196498" y="139516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Freeform: Shape 89">
                <a:extLst>
                  <a:ext uri="{FF2B5EF4-FFF2-40B4-BE49-F238E27FC236}">
                    <a16:creationId xmlns:a16="http://schemas.microsoft.com/office/drawing/2014/main" id="{3E497B75-176F-8CDE-BC29-A88B6F4428ED}"/>
                  </a:ext>
                </a:extLst>
              </p:cNvPr>
              <p:cNvSpPr/>
              <p:nvPr/>
            </p:nvSpPr>
            <p:spPr>
              <a:xfrm>
                <a:off x="4314333" y="152242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grpSp>
          <p:nvGrpSpPr>
            <p:cNvPr id="91" name="Group 90">
              <a:extLst>
                <a:ext uri="{FF2B5EF4-FFF2-40B4-BE49-F238E27FC236}">
                  <a16:creationId xmlns:a16="http://schemas.microsoft.com/office/drawing/2014/main" id="{8CC7130F-3DAE-98A0-110A-A75F3C507D25}"/>
                </a:ext>
              </a:extLst>
            </p:cNvPr>
            <p:cNvGrpSpPr/>
            <p:nvPr/>
          </p:nvGrpSpPr>
          <p:grpSpPr>
            <a:xfrm>
              <a:off x="4196497" y="2438399"/>
              <a:ext cx="1043235" cy="1043235"/>
              <a:chOff x="4196498" y="1395165"/>
              <a:chExt cx="3799002" cy="3799002"/>
            </a:xfrm>
          </p:grpSpPr>
          <p:sp>
            <p:nvSpPr>
              <p:cNvPr id="92" name="Rectangle 91">
                <a:extLst>
                  <a:ext uri="{FF2B5EF4-FFF2-40B4-BE49-F238E27FC236}">
                    <a16:creationId xmlns:a16="http://schemas.microsoft.com/office/drawing/2014/main" id="{199A30CA-4DAA-F742-636D-D1A67C717047}"/>
                  </a:ext>
                </a:extLst>
              </p:cNvPr>
              <p:cNvSpPr/>
              <p:nvPr/>
            </p:nvSpPr>
            <p:spPr>
              <a:xfrm>
                <a:off x="4196498" y="139516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Freeform: Shape 92">
                <a:extLst>
                  <a:ext uri="{FF2B5EF4-FFF2-40B4-BE49-F238E27FC236}">
                    <a16:creationId xmlns:a16="http://schemas.microsoft.com/office/drawing/2014/main" id="{7967C86B-AC0C-7DD8-1E88-7DB49DBEAB53}"/>
                  </a:ext>
                </a:extLst>
              </p:cNvPr>
              <p:cNvSpPr/>
              <p:nvPr/>
            </p:nvSpPr>
            <p:spPr>
              <a:xfrm>
                <a:off x="4314333" y="152242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grpSp>
          <p:nvGrpSpPr>
            <p:cNvPr id="94" name="Group 93">
              <a:extLst>
                <a:ext uri="{FF2B5EF4-FFF2-40B4-BE49-F238E27FC236}">
                  <a16:creationId xmlns:a16="http://schemas.microsoft.com/office/drawing/2014/main" id="{8F1DB17A-BB96-AF10-CAB9-93D755F7323B}"/>
                </a:ext>
              </a:extLst>
            </p:cNvPr>
            <p:cNvGrpSpPr/>
            <p:nvPr/>
          </p:nvGrpSpPr>
          <p:grpSpPr>
            <a:xfrm>
              <a:off x="5239908" y="2440303"/>
              <a:ext cx="1043235" cy="1043235"/>
              <a:chOff x="4196498" y="1395165"/>
              <a:chExt cx="3799002" cy="3799002"/>
            </a:xfrm>
          </p:grpSpPr>
          <p:sp>
            <p:nvSpPr>
              <p:cNvPr id="95" name="Rectangle 94">
                <a:extLst>
                  <a:ext uri="{FF2B5EF4-FFF2-40B4-BE49-F238E27FC236}">
                    <a16:creationId xmlns:a16="http://schemas.microsoft.com/office/drawing/2014/main" id="{9A36A210-94F2-88BA-D40C-B948EB68BB8A}"/>
                  </a:ext>
                </a:extLst>
              </p:cNvPr>
              <p:cNvSpPr/>
              <p:nvPr/>
            </p:nvSpPr>
            <p:spPr>
              <a:xfrm>
                <a:off x="4196498" y="139516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Freeform: Shape 95">
                <a:extLst>
                  <a:ext uri="{FF2B5EF4-FFF2-40B4-BE49-F238E27FC236}">
                    <a16:creationId xmlns:a16="http://schemas.microsoft.com/office/drawing/2014/main" id="{3D900926-52C7-E736-160D-2F7CC74EEC52}"/>
                  </a:ext>
                </a:extLst>
              </p:cNvPr>
              <p:cNvSpPr/>
              <p:nvPr/>
            </p:nvSpPr>
            <p:spPr>
              <a:xfrm>
                <a:off x="4314333" y="152242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grpSp>
          <p:nvGrpSpPr>
            <p:cNvPr id="97" name="Group 96">
              <a:extLst>
                <a:ext uri="{FF2B5EF4-FFF2-40B4-BE49-F238E27FC236}">
                  <a16:creationId xmlns:a16="http://schemas.microsoft.com/office/drawing/2014/main" id="{860AC491-C78F-F411-79D1-21F84155D902}"/>
                </a:ext>
              </a:extLst>
            </p:cNvPr>
            <p:cNvGrpSpPr/>
            <p:nvPr/>
          </p:nvGrpSpPr>
          <p:grpSpPr>
            <a:xfrm>
              <a:off x="6284842" y="2438397"/>
              <a:ext cx="1043235" cy="1043235"/>
              <a:chOff x="4196498" y="1395165"/>
              <a:chExt cx="3799002" cy="3799002"/>
            </a:xfrm>
          </p:grpSpPr>
          <p:sp>
            <p:nvSpPr>
              <p:cNvPr id="98" name="Rectangle 97">
                <a:extLst>
                  <a:ext uri="{FF2B5EF4-FFF2-40B4-BE49-F238E27FC236}">
                    <a16:creationId xmlns:a16="http://schemas.microsoft.com/office/drawing/2014/main" id="{A93F967D-011B-A9C4-9702-A4EBFB574886}"/>
                  </a:ext>
                </a:extLst>
              </p:cNvPr>
              <p:cNvSpPr/>
              <p:nvPr/>
            </p:nvSpPr>
            <p:spPr>
              <a:xfrm>
                <a:off x="4196498" y="139516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Freeform: Shape 98">
                <a:extLst>
                  <a:ext uri="{FF2B5EF4-FFF2-40B4-BE49-F238E27FC236}">
                    <a16:creationId xmlns:a16="http://schemas.microsoft.com/office/drawing/2014/main" id="{1E245D57-02B6-ADF5-BCAE-36FD48217BCD}"/>
                  </a:ext>
                </a:extLst>
              </p:cNvPr>
              <p:cNvSpPr/>
              <p:nvPr/>
            </p:nvSpPr>
            <p:spPr>
              <a:xfrm>
                <a:off x="4314333" y="152242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grpSp>
          <p:nvGrpSpPr>
            <p:cNvPr id="100" name="Group 99">
              <a:extLst>
                <a:ext uri="{FF2B5EF4-FFF2-40B4-BE49-F238E27FC236}">
                  <a16:creationId xmlns:a16="http://schemas.microsoft.com/office/drawing/2014/main" id="{77D57197-507E-F3FE-AB89-530638647849}"/>
                </a:ext>
              </a:extLst>
            </p:cNvPr>
            <p:cNvGrpSpPr/>
            <p:nvPr/>
          </p:nvGrpSpPr>
          <p:grpSpPr>
            <a:xfrm>
              <a:off x="4194620" y="3481634"/>
              <a:ext cx="1043235" cy="1043235"/>
              <a:chOff x="4196498" y="1395165"/>
              <a:chExt cx="3799002" cy="3799002"/>
            </a:xfrm>
          </p:grpSpPr>
          <p:sp>
            <p:nvSpPr>
              <p:cNvPr id="101" name="Rectangle 100">
                <a:extLst>
                  <a:ext uri="{FF2B5EF4-FFF2-40B4-BE49-F238E27FC236}">
                    <a16:creationId xmlns:a16="http://schemas.microsoft.com/office/drawing/2014/main" id="{043E12E6-C3AC-BF92-0074-663BECB27777}"/>
                  </a:ext>
                </a:extLst>
              </p:cNvPr>
              <p:cNvSpPr/>
              <p:nvPr/>
            </p:nvSpPr>
            <p:spPr>
              <a:xfrm>
                <a:off x="4196498" y="139516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Freeform: Shape 101">
                <a:extLst>
                  <a:ext uri="{FF2B5EF4-FFF2-40B4-BE49-F238E27FC236}">
                    <a16:creationId xmlns:a16="http://schemas.microsoft.com/office/drawing/2014/main" id="{582B4ED9-96E7-28A9-F4C1-EBA179E5C084}"/>
                  </a:ext>
                </a:extLst>
              </p:cNvPr>
              <p:cNvSpPr/>
              <p:nvPr/>
            </p:nvSpPr>
            <p:spPr>
              <a:xfrm>
                <a:off x="4314333" y="152242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grpSp>
          <p:nvGrpSpPr>
            <p:cNvPr id="103" name="Group 102">
              <a:extLst>
                <a:ext uri="{FF2B5EF4-FFF2-40B4-BE49-F238E27FC236}">
                  <a16:creationId xmlns:a16="http://schemas.microsoft.com/office/drawing/2014/main" id="{94E7F9CD-3789-E37E-5A1A-CE7A1B2ADE19}"/>
                </a:ext>
              </a:extLst>
            </p:cNvPr>
            <p:cNvGrpSpPr/>
            <p:nvPr/>
          </p:nvGrpSpPr>
          <p:grpSpPr>
            <a:xfrm>
              <a:off x="5241841" y="3481633"/>
              <a:ext cx="1043235" cy="1043235"/>
              <a:chOff x="4196498" y="1395165"/>
              <a:chExt cx="3799002" cy="3799002"/>
            </a:xfrm>
          </p:grpSpPr>
          <p:sp>
            <p:nvSpPr>
              <p:cNvPr id="104" name="Rectangle 103">
                <a:extLst>
                  <a:ext uri="{FF2B5EF4-FFF2-40B4-BE49-F238E27FC236}">
                    <a16:creationId xmlns:a16="http://schemas.microsoft.com/office/drawing/2014/main" id="{CA3F7EB1-2394-A49E-5CEA-19B4F8D6DC54}"/>
                  </a:ext>
                </a:extLst>
              </p:cNvPr>
              <p:cNvSpPr/>
              <p:nvPr/>
            </p:nvSpPr>
            <p:spPr>
              <a:xfrm>
                <a:off x="4196498" y="139516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Freeform: Shape 104">
                <a:extLst>
                  <a:ext uri="{FF2B5EF4-FFF2-40B4-BE49-F238E27FC236}">
                    <a16:creationId xmlns:a16="http://schemas.microsoft.com/office/drawing/2014/main" id="{11713402-B52F-6F74-12F3-5C41D1AF73F2}"/>
                  </a:ext>
                </a:extLst>
              </p:cNvPr>
              <p:cNvSpPr/>
              <p:nvPr/>
            </p:nvSpPr>
            <p:spPr>
              <a:xfrm>
                <a:off x="4314333" y="152242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grpSp>
          <p:nvGrpSpPr>
            <p:cNvPr id="106" name="Group 105">
              <a:extLst>
                <a:ext uri="{FF2B5EF4-FFF2-40B4-BE49-F238E27FC236}">
                  <a16:creationId xmlns:a16="http://schemas.microsoft.com/office/drawing/2014/main" id="{675B015B-5C77-114C-8448-6D6C1E43B578}"/>
                </a:ext>
              </a:extLst>
            </p:cNvPr>
            <p:cNvGrpSpPr/>
            <p:nvPr/>
          </p:nvGrpSpPr>
          <p:grpSpPr>
            <a:xfrm>
              <a:off x="6282965" y="3481632"/>
              <a:ext cx="1043235" cy="1043235"/>
              <a:chOff x="4196498" y="1395165"/>
              <a:chExt cx="3799002" cy="3799002"/>
            </a:xfrm>
          </p:grpSpPr>
          <p:sp>
            <p:nvSpPr>
              <p:cNvPr id="107" name="Rectangle 106">
                <a:extLst>
                  <a:ext uri="{FF2B5EF4-FFF2-40B4-BE49-F238E27FC236}">
                    <a16:creationId xmlns:a16="http://schemas.microsoft.com/office/drawing/2014/main" id="{09DDC6B5-817C-3BCF-7AF7-29104D6A74D8}"/>
                  </a:ext>
                </a:extLst>
              </p:cNvPr>
              <p:cNvSpPr/>
              <p:nvPr/>
            </p:nvSpPr>
            <p:spPr>
              <a:xfrm>
                <a:off x="4196498" y="1395165"/>
                <a:ext cx="3799002" cy="379900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Freeform: Shape 107">
                <a:extLst>
                  <a:ext uri="{FF2B5EF4-FFF2-40B4-BE49-F238E27FC236}">
                    <a16:creationId xmlns:a16="http://schemas.microsoft.com/office/drawing/2014/main" id="{A58DCF73-3084-0870-9A4F-4C9AD03025A5}"/>
                  </a:ext>
                </a:extLst>
              </p:cNvPr>
              <p:cNvSpPr/>
              <p:nvPr/>
            </p:nvSpPr>
            <p:spPr>
              <a:xfrm>
                <a:off x="4314333" y="1522427"/>
                <a:ext cx="3563332" cy="3563332"/>
              </a:xfrm>
              <a:custGeom>
                <a:avLst/>
                <a:gdLst>
                  <a:gd name="csX0" fmla="*/ 1781667 w 3563332"/>
                  <a:gd name="csY0" fmla="*/ 278462 h 3563332"/>
                  <a:gd name="csX1" fmla="*/ 1616810 w 3563332"/>
                  <a:gd name="csY1" fmla="*/ 697146 h 3563332"/>
                  <a:gd name="csX2" fmla="*/ 1560495 w 3563332"/>
                  <a:gd name="csY2" fmla="*/ 705740 h 3563332"/>
                  <a:gd name="csX3" fmla="*/ 1252743 w 3563332"/>
                  <a:gd name="csY3" fmla="*/ 819084 h 3563332"/>
                  <a:gd name="csX4" fmla="*/ 1123657 w 3563332"/>
                  <a:gd name="csY4" fmla="*/ 903192 h 3563332"/>
                  <a:gd name="csX5" fmla="*/ 718550 w 3563332"/>
                  <a:gd name="csY5" fmla="*/ 730774 h 3563332"/>
                  <a:gd name="csX6" fmla="*/ 896959 w 3563332"/>
                  <a:gd name="csY6" fmla="*/ 1132227 h 3563332"/>
                  <a:gd name="csX7" fmla="*/ 892474 w 3563332"/>
                  <a:gd name="csY7" fmla="*/ 1137548 h 3563332"/>
                  <a:gd name="csX8" fmla="*/ 701370 w 3563332"/>
                  <a:gd name="csY8" fmla="*/ 1586617 h 3563332"/>
                  <a:gd name="csX9" fmla="*/ 696301 w 3563332"/>
                  <a:gd name="csY9" fmla="*/ 1624620 h 3563332"/>
                  <a:gd name="csX10" fmla="*/ 280135 w 3563332"/>
                  <a:gd name="csY10" fmla="*/ 1788485 h 3563332"/>
                  <a:gd name="csX11" fmla="*/ 698442 w 3563332"/>
                  <a:gd name="csY11" fmla="*/ 1953194 h 3563332"/>
                  <a:gd name="csX12" fmla="*/ 701370 w 3563332"/>
                  <a:gd name="csY12" fmla="*/ 1975147 h 3563332"/>
                  <a:gd name="csX13" fmla="*/ 807336 w 3563332"/>
                  <a:gd name="csY13" fmla="*/ 2286398 h 3563332"/>
                  <a:gd name="csX14" fmla="*/ 886551 w 3563332"/>
                  <a:gd name="csY14" fmla="*/ 2414628 h 3563332"/>
                  <a:gd name="csX15" fmla="*/ 698134 w 3563332"/>
                  <a:gd name="csY15" fmla="*/ 2813828 h 3563332"/>
                  <a:gd name="csX16" fmla="*/ 1111177 w 3563332"/>
                  <a:gd name="csY16" fmla="*/ 2649047 h 3563332"/>
                  <a:gd name="csX17" fmla="*/ 1117158 w 3563332"/>
                  <a:gd name="csY17" fmla="*/ 2654339 h 3563332"/>
                  <a:gd name="csX18" fmla="*/ 1560495 w 3563332"/>
                  <a:gd name="csY18" fmla="*/ 2856024 h 3563332"/>
                  <a:gd name="csX19" fmla="*/ 1624660 w 3563332"/>
                  <a:gd name="csY19" fmla="*/ 2865817 h 3563332"/>
                  <a:gd name="csX20" fmla="*/ 1788344 w 3563332"/>
                  <a:gd name="csY20" fmla="*/ 3281524 h 3563332"/>
                  <a:gd name="csX21" fmla="*/ 1952883 w 3563332"/>
                  <a:gd name="csY21" fmla="*/ 2863648 h 3563332"/>
                  <a:gd name="csX22" fmla="*/ 2002839 w 3563332"/>
                  <a:gd name="csY22" fmla="*/ 2856024 h 3563332"/>
                  <a:gd name="csX23" fmla="*/ 2310592 w 3563332"/>
                  <a:gd name="csY23" fmla="*/ 2742681 h 3563332"/>
                  <a:gd name="csX24" fmla="*/ 2434421 w 3563332"/>
                  <a:gd name="csY24" fmla="*/ 2661998 h 3563332"/>
                  <a:gd name="csX25" fmla="*/ 2847130 w 3563332"/>
                  <a:gd name="csY25" fmla="*/ 2839355 h 3563332"/>
                  <a:gd name="csX26" fmla="*/ 2666598 w 3563332"/>
                  <a:gd name="csY26" fmla="*/ 2429275 h 3563332"/>
                  <a:gd name="csX27" fmla="*/ 2670861 w 3563332"/>
                  <a:gd name="csY27" fmla="*/ 2424217 h 3563332"/>
                  <a:gd name="csX28" fmla="*/ 2861964 w 3563332"/>
                  <a:gd name="csY28" fmla="*/ 1975147 h 3563332"/>
                  <a:gd name="csX29" fmla="*/ 2866323 w 3563332"/>
                  <a:gd name="csY29" fmla="*/ 1942470 h 3563332"/>
                  <a:gd name="csX30" fmla="*/ 3283197 w 3563332"/>
                  <a:gd name="csY30" fmla="*/ 1778326 h 3563332"/>
                  <a:gd name="csX31" fmla="*/ 2865276 w 3563332"/>
                  <a:gd name="csY31" fmla="*/ 1613769 h 3563332"/>
                  <a:gd name="csX32" fmla="*/ 2841093 w 3563332"/>
                  <a:gd name="csY32" fmla="*/ 1493498 h 3563332"/>
                  <a:gd name="csX33" fmla="*/ 2733707 w 3563332"/>
                  <a:gd name="csY33" fmla="*/ 1234625 h 3563332"/>
                  <a:gd name="csX34" fmla="*/ 2651004 w 3563332"/>
                  <a:gd name="csY34" fmla="*/ 1115278 h 3563332"/>
                  <a:gd name="csX35" fmla="*/ 2655977 w 3563332"/>
                  <a:gd name="csY35" fmla="*/ 1119979 h 3563332"/>
                  <a:gd name="csX36" fmla="*/ 2824114 w 3563332"/>
                  <a:gd name="csY36" fmla="*/ 701667 h 3563332"/>
                  <a:gd name="csX37" fmla="*/ 2418579 w 3563332"/>
                  <a:gd name="csY37" fmla="*/ 891795 h 3563332"/>
                  <a:gd name="csX38" fmla="*/ 2350729 w 3563332"/>
                  <a:gd name="csY38" fmla="*/ 842324 h 3563332"/>
                  <a:gd name="csX39" fmla="*/ 2002839 w 3563332"/>
                  <a:gd name="csY39" fmla="*/ 705740 h 3563332"/>
                  <a:gd name="csX40" fmla="*/ 1946523 w 3563332"/>
                  <a:gd name="csY40" fmla="*/ 697145 h 3563332"/>
                  <a:gd name="csX41" fmla="*/ 0 w 3563332"/>
                  <a:gd name="csY41" fmla="*/ 0 h 3563332"/>
                  <a:gd name="csX42" fmla="*/ 1410827 w 3563332"/>
                  <a:gd name="csY42" fmla="*/ 0 h 3563332"/>
                  <a:gd name="csX43" fmla="*/ 1410827 w 3563332"/>
                  <a:gd name="csY43" fmla="*/ 141406 h 3563332"/>
                  <a:gd name="csX44" fmla="*/ 2162667 w 3563332"/>
                  <a:gd name="csY44" fmla="*/ 141406 h 3563332"/>
                  <a:gd name="csX45" fmla="*/ 2162667 w 3563332"/>
                  <a:gd name="csY45" fmla="*/ 0 h 3563332"/>
                  <a:gd name="csX46" fmla="*/ 3563332 w 3563332"/>
                  <a:gd name="csY46" fmla="*/ 0 h 3563332"/>
                  <a:gd name="csX47" fmla="*/ 3563332 w 3563332"/>
                  <a:gd name="csY47" fmla="*/ 1396319 h 3563332"/>
                  <a:gd name="csX48" fmla="*/ 3421926 w 3563332"/>
                  <a:gd name="csY48" fmla="*/ 1396319 h 3563332"/>
                  <a:gd name="csX49" fmla="*/ 3421926 w 3563332"/>
                  <a:gd name="csY49" fmla="*/ 2148159 h 3563332"/>
                  <a:gd name="csX50" fmla="*/ 3563332 w 3563332"/>
                  <a:gd name="csY50" fmla="*/ 2148159 h 3563332"/>
                  <a:gd name="csX51" fmla="*/ 3563332 w 3563332"/>
                  <a:gd name="csY51" fmla="*/ 3563332 h 3563332"/>
                  <a:gd name="csX52" fmla="*/ 2162667 w 3563332"/>
                  <a:gd name="csY52" fmla="*/ 3563332 h 3563332"/>
                  <a:gd name="csX53" fmla="*/ 2162667 w 3563332"/>
                  <a:gd name="csY53" fmla="*/ 3421926 h 3563332"/>
                  <a:gd name="csX54" fmla="*/ 1410827 w 3563332"/>
                  <a:gd name="csY54" fmla="*/ 3421926 h 3563332"/>
                  <a:gd name="csX55" fmla="*/ 1410827 w 3563332"/>
                  <a:gd name="csY55" fmla="*/ 3563332 h 3563332"/>
                  <a:gd name="csX56" fmla="*/ 0 w 3563332"/>
                  <a:gd name="csY56" fmla="*/ 3563332 h 3563332"/>
                  <a:gd name="csX57" fmla="*/ 0 w 3563332"/>
                  <a:gd name="csY57" fmla="*/ 2168743 h 3563332"/>
                  <a:gd name="csX58" fmla="*/ 141406 w 3563332"/>
                  <a:gd name="csY58" fmla="*/ 2168743 h 3563332"/>
                  <a:gd name="csX59" fmla="*/ 141406 w 3563332"/>
                  <a:gd name="csY59" fmla="*/ 1416903 h 3563332"/>
                  <a:gd name="csX60" fmla="*/ 0 w 3563332"/>
                  <a:gd name="csY60" fmla="*/ 1416903 h 3563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563332" h="3563332">
                    <a:moveTo>
                      <a:pt x="1781667" y="278462"/>
                    </a:moveTo>
                    <a:lnTo>
                      <a:pt x="1616810" y="697146"/>
                    </a:lnTo>
                    <a:lnTo>
                      <a:pt x="1560495" y="705740"/>
                    </a:lnTo>
                    <a:cubicBezTo>
                      <a:pt x="1451102" y="728125"/>
                      <a:pt x="1347638" y="766787"/>
                      <a:pt x="1252743" y="819084"/>
                    </a:cubicBezTo>
                    <a:lnTo>
                      <a:pt x="1123657" y="903192"/>
                    </a:lnTo>
                    <a:lnTo>
                      <a:pt x="718550" y="730774"/>
                    </a:lnTo>
                    <a:lnTo>
                      <a:pt x="896959" y="1132227"/>
                    </a:lnTo>
                    <a:lnTo>
                      <a:pt x="892474" y="1137548"/>
                    </a:lnTo>
                    <a:cubicBezTo>
                      <a:pt x="797608" y="1268441"/>
                      <a:pt x="730936" y="1421102"/>
                      <a:pt x="701370" y="1586617"/>
                    </a:cubicBezTo>
                    <a:lnTo>
                      <a:pt x="696301" y="1624620"/>
                    </a:lnTo>
                    <a:lnTo>
                      <a:pt x="280135" y="1788485"/>
                    </a:lnTo>
                    <a:lnTo>
                      <a:pt x="698442" y="1953194"/>
                    </a:lnTo>
                    <a:lnTo>
                      <a:pt x="701370" y="1975147"/>
                    </a:lnTo>
                    <a:cubicBezTo>
                      <a:pt x="721081" y="2085491"/>
                      <a:pt x="757283" y="2190121"/>
                      <a:pt x="807336" y="2286398"/>
                    </a:cubicBezTo>
                    <a:lnTo>
                      <a:pt x="886551" y="2414628"/>
                    </a:lnTo>
                    <a:lnTo>
                      <a:pt x="698134" y="2813828"/>
                    </a:lnTo>
                    <a:lnTo>
                      <a:pt x="1111177" y="2649047"/>
                    </a:lnTo>
                    <a:lnTo>
                      <a:pt x="1117158" y="2654339"/>
                    </a:lnTo>
                    <a:cubicBezTo>
                      <a:pt x="1245655" y="2752247"/>
                      <a:pt x="1396405" y="2822447"/>
                      <a:pt x="1560495" y="2856024"/>
                    </a:cubicBezTo>
                    <a:lnTo>
                      <a:pt x="1624660" y="2865817"/>
                    </a:lnTo>
                    <a:lnTo>
                      <a:pt x="1788344" y="3281524"/>
                    </a:lnTo>
                    <a:lnTo>
                      <a:pt x="1952883" y="2863648"/>
                    </a:lnTo>
                    <a:lnTo>
                      <a:pt x="2002839" y="2856024"/>
                    </a:lnTo>
                    <a:cubicBezTo>
                      <a:pt x="2112233" y="2833639"/>
                      <a:pt x="2215697" y="2794978"/>
                      <a:pt x="2310592" y="2742681"/>
                    </a:cubicBezTo>
                    <a:lnTo>
                      <a:pt x="2434421" y="2661998"/>
                    </a:lnTo>
                    <a:lnTo>
                      <a:pt x="2847130" y="2839355"/>
                    </a:lnTo>
                    <a:lnTo>
                      <a:pt x="2666598" y="2429275"/>
                    </a:lnTo>
                    <a:lnTo>
                      <a:pt x="2670861" y="2424217"/>
                    </a:lnTo>
                    <a:cubicBezTo>
                      <a:pt x="2765727" y="2293323"/>
                      <a:pt x="2832399" y="2140663"/>
                      <a:pt x="2861964" y="1975147"/>
                    </a:cubicBezTo>
                    <a:lnTo>
                      <a:pt x="2866323" y="1942470"/>
                    </a:lnTo>
                    <a:lnTo>
                      <a:pt x="3283197" y="1778326"/>
                    </a:lnTo>
                    <a:lnTo>
                      <a:pt x="2865276" y="1613769"/>
                    </a:lnTo>
                    <a:lnTo>
                      <a:pt x="2841093" y="1493498"/>
                    </a:lnTo>
                    <a:cubicBezTo>
                      <a:pt x="2816306" y="1401901"/>
                      <a:pt x="2779956" y="1315056"/>
                      <a:pt x="2733707" y="1234625"/>
                    </a:cubicBezTo>
                    <a:lnTo>
                      <a:pt x="2651004" y="1115278"/>
                    </a:lnTo>
                    <a:lnTo>
                      <a:pt x="2655977" y="1119979"/>
                    </a:lnTo>
                    <a:lnTo>
                      <a:pt x="2824114" y="701667"/>
                    </a:lnTo>
                    <a:lnTo>
                      <a:pt x="2418579" y="891795"/>
                    </a:lnTo>
                    <a:lnTo>
                      <a:pt x="2350729" y="842324"/>
                    </a:lnTo>
                    <a:cubicBezTo>
                      <a:pt x="2245137" y="778165"/>
                      <a:pt x="2127860" y="731323"/>
                      <a:pt x="2002839" y="705740"/>
                    </a:cubicBezTo>
                    <a:lnTo>
                      <a:pt x="1946523" y="697145"/>
                    </a:lnTo>
                    <a:close/>
                    <a:moveTo>
                      <a:pt x="0" y="0"/>
                    </a:moveTo>
                    <a:lnTo>
                      <a:pt x="1410827" y="0"/>
                    </a:lnTo>
                    <a:lnTo>
                      <a:pt x="1410827" y="141406"/>
                    </a:lnTo>
                    <a:lnTo>
                      <a:pt x="2162667" y="141406"/>
                    </a:lnTo>
                    <a:lnTo>
                      <a:pt x="2162667" y="0"/>
                    </a:lnTo>
                    <a:lnTo>
                      <a:pt x="3563332" y="0"/>
                    </a:lnTo>
                    <a:lnTo>
                      <a:pt x="3563332" y="1396319"/>
                    </a:lnTo>
                    <a:lnTo>
                      <a:pt x="3421926" y="1396319"/>
                    </a:lnTo>
                    <a:lnTo>
                      <a:pt x="3421926" y="2148159"/>
                    </a:lnTo>
                    <a:lnTo>
                      <a:pt x="3563332" y="2148159"/>
                    </a:lnTo>
                    <a:lnTo>
                      <a:pt x="3563332" y="3563332"/>
                    </a:lnTo>
                    <a:lnTo>
                      <a:pt x="2162667" y="3563332"/>
                    </a:lnTo>
                    <a:lnTo>
                      <a:pt x="2162667" y="3421926"/>
                    </a:lnTo>
                    <a:lnTo>
                      <a:pt x="1410827" y="3421926"/>
                    </a:lnTo>
                    <a:lnTo>
                      <a:pt x="1410827" y="3563332"/>
                    </a:lnTo>
                    <a:lnTo>
                      <a:pt x="0" y="3563332"/>
                    </a:lnTo>
                    <a:lnTo>
                      <a:pt x="0" y="2168743"/>
                    </a:lnTo>
                    <a:lnTo>
                      <a:pt x="141406" y="2168743"/>
                    </a:lnTo>
                    <a:lnTo>
                      <a:pt x="141406" y="1416903"/>
                    </a:lnTo>
                    <a:lnTo>
                      <a:pt x="0" y="1416903"/>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grpSp>
      <p:sp>
        <p:nvSpPr>
          <p:cNvPr id="111" name="TextBox 110">
            <a:extLst>
              <a:ext uri="{FF2B5EF4-FFF2-40B4-BE49-F238E27FC236}">
                <a16:creationId xmlns:a16="http://schemas.microsoft.com/office/drawing/2014/main" id="{6F1AB24D-AA16-26EC-D553-9109C445F838}"/>
              </a:ext>
            </a:extLst>
          </p:cNvPr>
          <p:cNvSpPr txBox="1"/>
          <p:nvPr/>
        </p:nvSpPr>
        <p:spPr>
          <a:xfrm>
            <a:off x="9040305" y="228833"/>
            <a:ext cx="885114" cy="369332"/>
          </a:xfrm>
          <a:prstGeom prst="rect">
            <a:avLst/>
          </a:prstGeom>
          <a:noFill/>
        </p:spPr>
        <p:txBody>
          <a:bodyPr wrap="none" rtlCol="0">
            <a:spAutoFit/>
          </a:bodyPr>
          <a:lstStyle/>
          <a:p>
            <a:r>
              <a:rPr lang="en-IN" dirty="0"/>
              <a:t>FSS 3x3</a:t>
            </a:r>
          </a:p>
        </p:txBody>
      </p:sp>
      <p:cxnSp>
        <p:nvCxnSpPr>
          <p:cNvPr id="2" name="Straight Arrow Connector 1">
            <a:extLst>
              <a:ext uri="{FF2B5EF4-FFF2-40B4-BE49-F238E27FC236}">
                <a16:creationId xmlns:a16="http://schemas.microsoft.com/office/drawing/2014/main" id="{1EF47D85-1A18-4B28-542E-A112B0979214}"/>
              </a:ext>
            </a:extLst>
          </p:cNvPr>
          <p:cNvCxnSpPr>
            <a:cxnSpLocks/>
          </p:cNvCxnSpPr>
          <p:nvPr/>
        </p:nvCxnSpPr>
        <p:spPr>
          <a:xfrm>
            <a:off x="920581" y="1049252"/>
            <a:ext cx="0" cy="4821049"/>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3A722BA-4F53-1EBE-6800-17C906D4F502}"/>
                  </a:ext>
                </a:extLst>
              </p:cNvPr>
              <p:cNvSpPr txBox="1"/>
              <p:nvPr/>
            </p:nvSpPr>
            <p:spPr>
              <a:xfrm>
                <a:off x="504591" y="3342177"/>
                <a:ext cx="26552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𝑫</m:t>
                          </m:r>
                        </m:e>
                        <m:sub>
                          <m:r>
                            <a:rPr lang="en-IN" sz="1400" b="1" i="1" smtClean="0">
                              <a:latin typeface="Cambria Math" panose="02040503050406030204" pitchFamily="18" charset="0"/>
                            </a:rPr>
                            <m:t>𝒀</m:t>
                          </m:r>
                        </m:sub>
                      </m:sSub>
                    </m:oMath>
                  </m:oMathPara>
                </a14:m>
                <a:endParaRPr lang="en-IN" sz="1400" b="1" dirty="0"/>
              </a:p>
            </p:txBody>
          </p:sp>
        </mc:Choice>
        <mc:Fallback xmlns="">
          <p:sp>
            <p:nvSpPr>
              <p:cNvPr id="4" name="TextBox 3">
                <a:extLst>
                  <a:ext uri="{FF2B5EF4-FFF2-40B4-BE49-F238E27FC236}">
                    <a16:creationId xmlns:a16="http://schemas.microsoft.com/office/drawing/2014/main" id="{B3A722BA-4F53-1EBE-6800-17C906D4F502}"/>
                  </a:ext>
                </a:extLst>
              </p:cNvPr>
              <p:cNvSpPr txBox="1">
                <a:spLocks noRot="1" noChangeAspect="1" noMove="1" noResize="1" noEditPoints="1" noAdjustHandles="1" noChangeArrowheads="1" noChangeShapeType="1" noTextEdit="1"/>
              </p:cNvSpPr>
              <p:nvPr/>
            </p:nvSpPr>
            <p:spPr>
              <a:xfrm>
                <a:off x="504591" y="3342177"/>
                <a:ext cx="265521" cy="215444"/>
              </a:xfrm>
              <a:prstGeom prst="rect">
                <a:avLst/>
              </a:prstGeom>
              <a:blipFill>
                <a:blip r:embed="rId2"/>
                <a:stretch>
                  <a:fillRect l="-16279" r="-4651" b="-13889"/>
                </a:stretch>
              </a:blipFill>
            </p:spPr>
            <p:txBody>
              <a:bodyPr/>
              <a:lstStyle/>
              <a:p>
                <a:r>
                  <a:rPr lang="en-IN">
                    <a:noFill/>
                  </a:rPr>
                  <a:t> </a:t>
                </a:r>
              </a:p>
            </p:txBody>
          </p:sp>
        </mc:Fallback>
      </mc:AlternateContent>
      <p:cxnSp>
        <p:nvCxnSpPr>
          <p:cNvPr id="5" name="Straight Arrow Connector 4">
            <a:extLst>
              <a:ext uri="{FF2B5EF4-FFF2-40B4-BE49-F238E27FC236}">
                <a16:creationId xmlns:a16="http://schemas.microsoft.com/office/drawing/2014/main" id="{20A0B83A-691F-73D2-F0D9-5ECEA5EFE2D6}"/>
              </a:ext>
            </a:extLst>
          </p:cNvPr>
          <p:cNvCxnSpPr>
            <a:cxnSpLocks/>
          </p:cNvCxnSpPr>
          <p:nvPr/>
        </p:nvCxnSpPr>
        <p:spPr>
          <a:xfrm>
            <a:off x="1175055" y="767755"/>
            <a:ext cx="4823940"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6E4665-331C-D9D7-6DF1-D52618B10467}"/>
                  </a:ext>
                </a:extLst>
              </p:cNvPr>
              <p:cNvSpPr txBox="1"/>
              <p:nvPr/>
            </p:nvSpPr>
            <p:spPr>
              <a:xfrm>
                <a:off x="3587025" y="413499"/>
                <a:ext cx="2735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𝑫</m:t>
                          </m:r>
                        </m:e>
                        <m:sub>
                          <m:r>
                            <a:rPr lang="en-IN" sz="1400" b="1" i="1" smtClean="0">
                              <a:latin typeface="Cambria Math" panose="02040503050406030204" pitchFamily="18" charset="0"/>
                            </a:rPr>
                            <m:t>𝑿</m:t>
                          </m:r>
                        </m:sub>
                      </m:sSub>
                    </m:oMath>
                  </m:oMathPara>
                </a14:m>
                <a:endParaRPr lang="en-IN" sz="1400" b="1" dirty="0"/>
              </a:p>
            </p:txBody>
          </p:sp>
        </mc:Choice>
        <mc:Fallback xmlns="">
          <p:sp>
            <p:nvSpPr>
              <p:cNvPr id="9" name="TextBox 8">
                <a:extLst>
                  <a:ext uri="{FF2B5EF4-FFF2-40B4-BE49-F238E27FC236}">
                    <a16:creationId xmlns:a16="http://schemas.microsoft.com/office/drawing/2014/main" id="{5B6E4665-331C-D9D7-6DF1-D52618B10467}"/>
                  </a:ext>
                </a:extLst>
              </p:cNvPr>
              <p:cNvSpPr txBox="1">
                <a:spLocks noRot="1" noChangeAspect="1" noMove="1" noResize="1" noEditPoints="1" noAdjustHandles="1" noChangeArrowheads="1" noChangeShapeType="1" noTextEdit="1"/>
              </p:cNvSpPr>
              <p:nvPr/>
            </p:nvSpPr>
            <p:spPr>
              <a:xfrm>
                <a:off x="3587025" y="413499"/>
                <a:ext cx="273536" cy="215444"/>
              </a:xfrm>
              <a:prstGeom prst="rect">
                <a:avLst/>
              </a:prstGeom>
              <a:blipFill>
                <a:blip r:embed="rId3"/>
                <a:stretch>
                  <a:fillRect l="-15556" r="-6667" b="-142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325AA28D-4759-FF90-9B17-0E149CA474AE}"/>
                  </a:ext>
                </a:extLst>
              </p:cNvPr>
              <p:cNvGraphicFramePr>
                <a:graphicFrameLocks noGrp="1"/>
              </p:cNvGraphicFramePr>
              <p:nvPr>
                <p:extLst>
                  <p:ext uri="{D42A27DB-BD31-4B8C-83A1-F6EECF244321}">
                    <p14:modId xmlns:p14="http://schemas.microsoft.com/office/powerpoint/2010/main" val="3823140951"/>
                  </p:ext>
                </p:extLst>
              </p:nvPr>
            </p:nvGraphicFramePr>
            <p:xfrm>
              <a:off x="7654565" y="1163225"/>
              <a:ext cx="2846895" cy="1112520"/>
            </p:xfrm>
            <a:graphic>
              <a:graphicData uri="http://schemas.openxmlformats.org/drawingml/2006/table">
                <a:tbl>
                  <a:tblPr firstRow="1" bandRow="1">
                    <a:tableStyleId>{8799B23B-EC83-4686-B30A-512413B5E67A}</a:tableStyleId>
                  </a:tblPr>
                  <a:tblGrid>
                    <a:gridCol w="1293672">
                      <a:extLst>
                        <a:ext uri="{9D8B030D-6E8A-4147-A177-3AD203B41FA5}">
                          <a16:colId xmlns:a16="http://schemas.microsoft.com/office/drawing/2014/main" val="1453530988"/>
                        </a:ext>
                      </a:extLst>
                    </a:gridCol>
                    <a:gridCol w="1553223">
                      <a:extLst>
                        <a:ext uri="{9D8B030D-6E8A-4147-A177-3AD203B41FA5}">
                          <a16:colId xmlns:a16="http://schemas.microsoft.com/office/drawing/2014/main" val="2260824448"/>
                        </a:ext>
                      </a:extLst>
                    </a:gridCol>
                  </a:tblGrid>
                  <a:tr h="370840">
                    <a:tc>
                      <a:txBody>
                        <a:bodyPr/>
                        <a:lstStyle/>
                        <a:p>
                          <a:r>
                            <a:rPr lang="en-IN" dirty="0"/>
                            <a:t>Parameter</a:t>
                          </a:r>
                        </a:p>
                      </a:txBody>
                      <a:tcPr/>
                    </a:tc>
                    <a:tc>
                      <a:txBody>
                        <a:bodyPr/>
                        <a:lstStyle/>
                        <a:p>
                          <a:r>
                            <a:rPr lang="en-IN" dirty="0"/>
                            <a:t>Value (in mm)</a:t>
                          </a:r>
                        </a:p>
                      </a:txBody>
                      <a:tcPr/>
                    </a:tc>
                    <a:extLst>
                      <a:ext uri="{0D108BD9-81ED-4DB2-BD59-A6C34878D82A}">
                        <a16:rowId xmlns:a16="http://schemas.microsoft.com/office/drawing/2014/main" val="396030044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𝑫</m:t>
                                    </m:r>
                                  </m:e>
                                  <m:sub>
                                    <m:r>
                                      <a:rPr lang="en-IN" b="1" i="1" smtClean="0">
                                        <a:latin typeface="Cambria Math" panose="02040503050406030204" pitchFamily="18" charset="0"/>
                                      </a:rPr>
                                      <m:t>𝑿</m:t>
                                    </m:r>
                                  </m:sub>
                                </m:sSub>
                              </m:oMath>
                            </m:oMathPara>
                          </a14:m>
                          <a:endParaRPr lang="en-IN" b="1" dirty="0"/>
                        </a:p>
                      </a:txBody>
                      <a:tcPr/>
                    </a:tc>
                    <a:tc>
                      <a:txBody>
                        <a:bodyPr/>
                        <a:lstStyle/>
                        <a:p>
                          <a:r>
                            <a:rPr lang="en-IN" dirty="0"/>
                            <a:t>120</a:t>
                          </a:r>
                        </a:p>
                      </a:txBody>
                      <a:tcPr/>
                    </a:tc>
                    <a:extLst>
                      <a:ext uri="{0D108BD9-81ED-4DB2-BD59-A6C34878D82A}">
                        <a16:rowId xmlns:a16="http://schemas.microsoft.com/office/drawing/2014/main" val="73821333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𝑫</m:t>
                                    </m:r>
                                  </m:e>
                                  <m:sub>
                                    <m:r>
                                      <a:rPr lang="en-IN" b="1" i="1" smtClean="0">
                                        <a:latin typeface="Cambria Math" panose="02040503050406030204" pitchFamily="18" charset="0"/>
                                      </a:rPr>
                                      <m:t>𝒀</m:t>
                                    </m:r>
                                  </m:sub>
                                </m:sSub>
                              </m:oMath>
                            </m:oMathPara>
                          </a14:m>
                          <a:endParaRPr lang="en-IN" b="1" dirty="0"/>
                        </a:p>
                      </a:txBody>
                      <a:tcPr/>
                    </a:tc>
                    <a:tc>
                      <a:txBody>
                        <a:bodyPr/>
                        <a:lstStyle/>
                        <a:p>
                          <a:r>
                            <a:rPr lang="en-IN" dirty="0"/>
                            <a:t>120</a:t>
                          </a:r>
                        </a:p>
                      </a:txBody>
                      <a:tcPr/>
                    </a:tc>
                    <a:extLst>
                      <a:ext uri="{0D108BD9-81ED-4DB2-BD59-A6C34878D82A}">
                        <a16:rowId xmlns:a16="http://schemas.microsoft.com/office/drawing/2014/main" val="3703036217"/>
                      </a:ext>
                    </a:extLst>
                  </a:tr>
                </a:tbl>
              </a:graphicData>
            </a:graphic>
          </p:graphicFrame>
        </mc:Choice>
        <mc:Fallback xmlns="">
          <p:graphicFrame>
            <p:nvGraphicFramePr>
              <p:cNvPr id="10" name="Table 9">
                <a:extLst>
                  <a:ext uri="{FF2B5EF4-FFF2-40B4-BE49-F238E27FC236}">
                    <a16:creationId xmlns:a16="http://schemas.microsoft.com/office/drawing/2014/main" id="{325AA28D-4759-FF90-9B17-0E149CA474AE}"/>
                  </a:ext>
                </a:extLst>
              </p:cNvPr>
              <p:cNvGraphicFramePr>
                <a:graphicFrameLocks noGrp="1"/>
              </p:cNvGraphicFramePr>
              <p:nvPr>
                <p:extLst>
                  <p:ext uri="{D42A27DB-BD31-4B8C-83A1-F6EECF244321}">
                    <p14:modId xmlns:p14="http://schemas.microsoft.com/office/powerpoint/2010/main" val="3823140951"/>
                  </p:ext>
                </p:extLst>
              </p:nvPr>
            </p:nvGraphicFramePr>
            <p:xfrm>
              <a:off x="7654565" y="1163225"/>
              <a:ext cx="2846895" cy="1112520"/>
            </p:xfrm>
            <a:graphic>
              <a:graphicData uri="http://schemas.openxmlformats.org/drawingml/2006/table">
                <a:tbl>
                  <a:tblPr firstRow="1" bandRow="1">
                    <a:tableStyleId>{8799B23B-EC83-4686-B30A-512413B5E67A}</a:tableStyleId>
                  </a:tblPr>
                  <a:tblGrid>
                    <a:gridCol w="1293672">
                      <a:extLst>
                        <a:ext uri="{9D8B030D-6E8A-4147-A177-3AD203B41FA5}">
                          <a16:colId xmlns:a16="http://schemas.microsoft.com/office/drawing/2014/main" val="1453530988"/>
                        </a:ext>
                      </a:extLst>
                    </a:gridCol>
                    <a:gridCol w="1553223">
                      <a:extLst>
                        <a:ext uri="{9D8B030D-6E8A-4147-A177-3AD203B41FA5}">
                          <a16:colId xmlns:a16="http://schemas.microsoft.com/office/drawing/2014/main" val="2260824448"/>
                        </a:ext>
                      </a:extLst>
                    </a:gridCol>
                  </a:tblGrid>
                  <a:tr h="370840">
                    <a:tc>
                      <a:txBody>
                        <a:bodyPr/>
                        <a:lstStyle/>
                        <a:p>
                          <a:r>
                            <a:rPr lang="en-IN" dirty="0"/>
                            <a:t>Parameter</a:t>
                          </a:r>
                        </a:p>
                      </a:txBody>
                      <a:tcPr/>
                    </a:tc>
                    <a:tc>
                      <a:txBody>
                        <a:bodyPr/>
                        <a:lstStyle/>
                        <a:p>
                          <a:r>
                            <a:rPr lang="en-IN" dirty="0"/>
                            <a:t>Value (in mm)</a:t>
                          </a:r>
                        </a:p>
                      </a:txBody>
                      <a:tcPr/>
                    </a:tc>
                    <a:extLst>
                      <a:ext uri="{0D108BD9-81ED-4DB2-BD59-A6C34878D82A}">
                        <a16:rowId xmlns:a16="http://schemas.microsoft.com/office/drawing/2014/main" val="3960300441"/>
                      </a:ext>
                    </a:extLst>
                  </a:tr>
                  <a:tr h="370840">
                    <a:tc>
                      <a:txBody>
                        <a:bodyPr/>
                        <a:lstStyle/>
                        <a:p>
                          <a:endParaRPr lang="en-US"/>
                        </a:p>
                      </a:txBody>
                      <a:tcPr>
                        <a:blipFill>
                          <a:blip r:embed="rId4"/>
                          <a:stretch>
                            <a:fillRect l="-469" t="-106452" r="-121127" b="-120968"/>
                          </a:stretch>
                        </a:blipFill>
                      </a:tcPr>
                    </a:tc>
                    <a:tc>
                      <a:txBody>
                        <a:bodyPr/>
                        <a:lstStyle/>
                        <a:p>
                          <a:r>
                            <a:rPr lang="en-IN" dirty="0"/>
                            <a:t>120</a:t>
                          </a:r>
                        </a:p>
                      </a:txBody>
                      <a:tcPr/>
                    </a:tc>
                    <a:extLst>
                      <a:ext uri="{0D108BD9-81ED-4DB2-BD59-A6C34878D82A}">
                        <a16:rowId xmlns:a16="http://schemas.microsoft.com/office/drawing/2014/main" val="738213335"/>
                      </a:ext>
                    </a:extLst>
                  </a:tr>
                  <a:tr h="370840">
                    <a:tc>
                      <a:txBody>
                        <a:bodyPr/>
                        <a:lstStyle/>
                        <a:p>
                          <a:endParaRPr lang="en-US"/>
                        </a:p>
                      </a:txBody>
                      <a:tcPr>
                        <a:blipFill>
                          <a:blip r:embed="rId4"/>
                          <a:stretch>
                            <a:fillRect l="-469" t="-209836" r="-121127" b="-22951"/>
                          </a:stretch>
                        </a:blipFill>
                      </a:tcPr>
                    </a:tc>
                    <a:tc>
                      <a:txBody>
                        <a:bodyPr/>
                        <a:lstStyle/>
                        <a:p>
                          <a:r>
                            <a:rPr lang="en-IN" dirty="0"/>
                            <a:t>120</a:t>
                          </a:r>
                        </a:p>
                      </a:txBody>
                      <a:tcPr/>
                    </a:tc>
                    <a:extLst>
                      <a:ext uri="{0D108BD9-81ED-4DB2-BD59-A6C34878D82A}">
                        <a16:rowId xmlns:a16="http://schemas.microsoft.com/office/drawing/2014/main" val="3703036217"/>
                      </a:ext>
                    </a:extLst>
                  </a:tr>
                </a:tbl>
              </a:graphicData>
            </a:graphic>
          </p:graphicFrame>
        </mc:Fallback>
      </mc:AlternateContent>
      <p:pic>
        <p:nvPicPr>
          <p:cNvPr id="3" name="Picture 2">
            <a:extLst>
              <a:ext uri="{FF2B5EF4-FFF2-40B4-BE49-F238E27FC236}">
                <a16:creationId xmlns:a16="http://schemas.microsoft.com/office/drawing/2014/main" id="{9EEEEE8D-ABEE-AD6A-D675-586CD6C7C5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1047" y="2793312"/>
            <a:ext cx="4233007" cy="3001012"/>
          </a:xfrm>
          <a:prstGeom prst="rect">
            <a:avLst/>
          </a:prstGeom>
        </p:spPr>
      </p:pic>
      <p:sp>
        <p:nvSpPr>
          <p:cNvPr id="7" name="TextBox 6">
            <a:extLst>
              <a:ext uri="{FF2B5EF4-FFF2-40B4-BE49-F238E27FC236}">
                <a16:creationId xmlns:a16="http://schemas.microsoft.com/office/drawing/2014/main" id="{77191BA9-E1C2-8268-D616-D71BBD5AAD66}"/>
              </a:ext>
            </a:extLst>
          </p:cNvPr>
          <p:cNvSpPr txBox="1"/>
          <p:nvPr/>
        </p:nvSpPr>
        <p:spPr>
          <a:xfrm>
            <a:off x="8384639" y="5870301"/>
            <a:ext cx="2196445" cy="369332"/>
          </a:xfrm>
          <a:prstGeom prst="rect">
            <a:avLst/>
          </a:prstGeom>
          <a:noFill/>
        </p:spPr>
        <p:txBody>
          <a:bodyPr wrap="square" rtlCol="0">
            <a:spAutoFit/>
          </a:bodyPr>
          <a:lstStyle/>
          <a:p>
            <a:r>
              <a:rPr lang="en-IN" dirty="0"/>
              <a:t>S11 Parameter</a:t>
            </a:r>
          </a:p>
        </p:txBody>
      </p:sp>
    </p:spTree>
    <p:extLst>
      <p:ext uri="{BB962C8B-B14F-4D97-AF65-F5344CB8AC3E}">
        <p14:creationId xmlns:p14="http://schemas.microsoft.com/office/powerpoint/2010/main" val="1310734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777AB-DD1E-FB7C-9DB4-C44E78148CE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3712D8-3637-2A08-B673-8E920DDD1D44}"/>
              </a:ext>
            </a:extLst>
          </p:cNvPr>
          <p:cNvSpPr txBox="1"/>
          <p:nvPr/>
        </p:nvSpPr>
        <p:spPr>
          <a:xfrm>
            <a:off x="961904" y="1192459"/>
            <a:ext cx="2724400" cy="523220"/>
          </a:xfrm>
          <a:prstGeom prst="rect">
            <a:avLst/>
          </a:prstGeom>
          <a:noFill/>
        </p:spPr>
        <p:txBody>
          <a:bodyPr wrap="none" rtlCol="0">
            <a:spAutoFit/>
          </a:bodyPr>
          <a:lstStyle/>
          <a:p>
            <a:r>
              <a:rPr lang="en-IN" sz="2800" dirty="0"/>
              <a:t>Antenna with FSS</a:t>
            </a:r>
          </a:p>
        </p:txBody>
      </p:sp>
      <p:pic>
        <p:nvPicPr>
          <p:cNvPr id="17" name="Picture 16">
            <a:extLst>
              <a:ext uri="{FF2B5EF4-FFF2-40B4-BE49-F238E27FC236}">
                <a16:creationId xmlns:a16="http://schemas.microsoft.com/office/drawing/2014/main" id="{D5A2F786-CF17-B874-4ED0-E0D9FF0774EE}"/>
              </a:ext>
            </a:extLst>
          </p:cNvPr>
          <p:cNvPicPr>
            <a:picLocks noChangeAspect="1"/>
          </p:cNvPicPr>
          <p:nvPr/>
        </p:nvPicPr>
        <p:blipFill>
          <a:blip r:embed="rId3"/>
          <a:stretch>
            <a:fillRect/>
          </a:stretch>
        </p:blipFill>
        <p:spPr>
          <a:xfrm>
            <a:off x="254883" y="1789664"/>
            <a:ext cx="4418312" cy="2496172"/>
          </a:xfrm>
          <a:prstGeom prst="rect">
            <a:avLst/>
          </a:prstGeom>
        </p:spPr>
      </p:pic>
      <p:pic>
        <p:nvPicPr>
          <p:cNvPr id="20" name="Picture 19">
            <a:extLst>
              <a:ext uri="{FF2B5EF4-FFF2-40B4-BE49-F238E27FC236}">
                <a16:creationId xmlns:a16="http://schemas.microsoft.com/office/drawing/2014/main" id="{ED4948AD-AC31-0D90-91C6-F85077F19E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8352" y="1205354"/>
            <a:ext cx="5233025" cy="4026522"/>
          </a:xfrm>
          <a:prstGeom prst="rect">
            <a:avLst/>
          </a:prstGeom>
        </p:spPr>
      </p:pic>
      <p:cxnSp>
        <p:nvCxnSpPr>
          <p:cNvPr id="24" name="Connector: Elbow 23">
            <a:extLst>
              <a:ext uri="{FF2B5EF4-FFF2-40B4-BE49-F238E27FC236}">
                <a16:creationId xmlns:a16="http://schemas.microsoft.com/office/drawing/2014/main" id="{1027FCE6-FDA7-41BB-F790-C9975C2CFF0F}"/>
              </a:ext>
            </a:extLst>
          </p:cNvPr>
          <p:cNvCxnSpPr/>
          <p:nvPr/>
        </p:nvCxnSpPr>
        <p:spPr>
          <a:xfrm rot="16200000" flipH="1">
            <a:off x="8601086" y="5070748"/>
            <a:ext cx="1093509" cy="6144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9A4BF1F0-1A9E-7DA7-D6FC-54B966032425}"/>
              </a:ext>
            </a:extLst>
          </p:cNvPr>
          <p:cNvCxnSpPr/>
          <p:nvPr/>
        </p:nvCxnSpPr>
        <p:spPr>
          <a:xfrm rot="5400000">
            <a:off x="7907631" y="5240693"/>
            <a:ext cx="1220771" cy="40186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6B9D7600-275B-AE87-EFCB-7A3A9C26D9DF}"/>
              </a:ext>
            </a:extLst>
          </p:cNvPr>
          <p:cNvCxnSpPr/>
          <p:nvPr/>
        </p:nvCxnSpPr>
        <p:spPr>
          <a:xfrm rot="5400000">
            <a:off x="6639612" y="5197310"/>
            <a:ext cx="1461155" cy="45563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A9D4B0A8-2586-7FA9-513F-3334B4037CF5}"/>
              </a:ext>
            </a:extLst>
          </p:cNvPr>
          <p:cNvCxnSpPr/>
          <p:nvPr/>
        </p:nvCxnSpPr>
        <p:spPr>
          <a:xfrm rot="10800000" flipV="1">
            <a:off x="5109329" y="4619133"/>
            <a:ext cx="1932495" cy="130561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CD08496D-0F67-E145-3C0E-AB3BCD9A0698}"/>
              </a:ext>
            </a:extLst>
          </p:cNvPr>
          <p:cNvCxnSpPr/>
          <p:nvPr/>
        </p:nvCxnSpPr>
        <p:spPr>
          <a:xfrm flipV="1">
            <a:off x="8908330" y="942680"/>
            <a:ext cx="1414021" cy="98981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42FAB55-920E-172B-C4E8-1D6E9E08A03B}"/>
              </a:ext>
            </a:extLst>
          </p:cNvPr>
          <p:cNvSpPr txBox="1"/>
          <p:nvPr/>
        </p:nvSpPr>
        <p:spPr>
          <a:xfrm>
            <a:off x="10325995" y="758014"/>
            <a:ext cx="450764" cy="369332"/>
          </a:xfrm>
          <a:prstGeom prst="rect">
            <a:avLst/>
          </a:prstGeom>
          <a:noFill/>
        </p:spPr>
        <p:txBody>
          <a:bodyPr wrap="none" rtlCol="0">
            <a:spAutoFit/>
          </a:bodyPr>
          <a:lstStyle/>
          <a:p>
            <a:r>
              <a:rPr lang="en-IN" dirty="0"/>
              <a:t>Air</a:t>
            </a:r>
          </a:p>
        </p:txBody>
      </p:sp>
      <p:sp>
        <p:nvSpPr>
          <p:cNvPr id="34" name="TextBox 33">
            <a:extLst>
              <a:ext uri="{FF2B5EF4-FFF2-40B4-BE49-F238E27FC236}">
                <a16:creationId xmlns:a16="http://schemas.microsoft.com/office/drawing/2014/main" id="{9946EF5A-8F59-3685-34EA-F638E868D3B0}"/>
              </a:ext>
            </a:extLst>
          </p:cNvPr>
          <p:cNvSpPr txBox="1"/>
          <p:nvPr/>
        </p:nvSpPr>
        <p:spPr>
          <a:xfrm>
            <a:off x="9229703" y="5924747"/>
            <a:ext cx="569387" cy="369332"/>
          </a:xfrm>
          <a:prstGeom prst="rect">
            <a:avLst/>
          </a:prstGeom>
          <a:noFill/>
        </p:spPr>
        <p:txBody>
          <a:bodyPr wrap="none" rtlCol="0">
            <a:spAutoFit/>
          </a:bodyPr>
          <a:lstStyle/>
          <a:p>
            <a:r>
              <a:rPr lang="en-IN" dirty="0"/>
              <a:t>Skin</a:t>
            </a:r>
          </a:p>
        </p:txBody>
      </p:sp>
      <p:sp>
        <p:nvSpPr>
          <p:cNvPr id="35" name="TextBox 34">
            <a:extLst>
              <a:ext uri="{FF2B5EF4-FFF2-40B4-BE49-F238E27FC236}">
                <a16:creationId xmlns:a16="http://schemas.microsoft.com/office/drawing/2014/main" id="{F24716D8-04C2-B200-3B74-9D6C538B41FD}"/>
              </a:ext>
            </a:extLst>
          </p:cNvPr>
          <p:cNvSpPr txBox="1"/>
          <p:nvPr/>
        </p:nvSpPr>
        <p:spPr>
          <a:xfrm>
            <a:off x="8103626" y="6022300"/>
            <a:ext cx="469680" cy="369332"/>
          </a:xfrm>
          <a:prstGeom prst="rect">
            <a:avLst/>
          </a:prstGeom>
          <a:noFill/>
        </p:spPr>
        <p:txBody>
          <a:bodyPr wrap="none" rtlCol="0">
            <a:spAutoFit/>
          </a:bodyPr>
          <a:lstStyle/>
          <a:p>
            <a:r>
              <a:rPr lang="en-IN" dirty="0"/>
              <a:t>Fat</a:t>
            </a:r>
          </a:p>
        </p:txBody>
      </p:sp>
      <p:sp>
        <p:nvSpPr>
          <p:cNvPr id="36" name="TextBox 35">
            <a:extLst>
              <a:ext uri="{FF2B5EF4-FFF2-40B4-BE49-F238E27FC236}">
                <a16:creationId xmlns:a16="http://schemas.microsoft.com/office/drawing/2014/main" id="{0A52ABEE-70B8-E98E-128C-10DCD05C55D2}"/>
              </a:ext>
            </a:extLst>
          </p:cNvPr>
          <p:cNvSpPr txBox="1"/>
          <p:nvPr/>
        </p:nvSpPr>
        <p:spPr>
          <a:xfrm>
            <a:off x="6737299" y="6049411"/>
            <a:ext cx="859531" cy="369332"/>
          </a:xfrm>
          <a:prstGeom prst="rect">
            <a:avLst/>
          </a:prstGeom>
          <a:noFill/>
        </p:spPr>
        <p:txBody>
          <a:bodyPr wrap="none" rtlCol="0">
            <a:spAutoFit/>
          </a:bodyPr>
          <a:lstStyle/>
          <a:p>
            <a:r>
              <a:rPr lang="en-IN" dirty="0"/>
              <a:t>Muscle</a:t>
            </a:r>
          </a:p>
        </p:txBody>
      </p:sp>
      <p:sp>
        <p:nvSpPr>
          <p:cNvPr id="37" name="TextBox 36">
            <a:extLst>
              <a:ext uri="{FF2B5EF4-FFF2-40B4-BE49-F238E27FC236}">
                <a16:creationId xmlns:a16="http://schemas.microsoft.com/office/drawing/2014/main" id="{797765F9-ED20-93FA-B848-749790BB8088}"/>
              </a:ext>
            </a:extLst>
          </p:cNvPr>
          <p:cNvSpPr txBox="1"/>
          <p:nvPr/>
        </p:nvSpPr>
        <p:spPr>
          <a:xfrm>
            <a:off x="4519564" y="5708101"/>
            <a:ext cx="668773" cy="369332"/>
          </a:xfrm>
          <a:prstGeom prst="rect">
            <a:avLst/>
          </a:prstGeom>
          <a:noFill/>
        </p:spPr>
        <p:txBody>
          <a:bodyPr wrap="none" rtlCol="0">
            <a:spAutoFit/>
          </a:bodyPr>
          <a:lstStyle/>
          <a:p>
            <a:r>
              <a:rPr lang="en-IN" dirty="0"/>
              <a:t>Bone</a:t>
            </a:r>
          </a:p>
        </p:txBody>
      </p:sp>
      <p:sp>
        <p:nvSpPr>
          <p:cNvPr id="38" name="TextBox 37">
            <a:extLst>
              <a:ext uri="{FF2B5EF4-FFF2-40B4-BE49-F238E27FC236}">
                <a16:creationId xmlns:a16="http://schemas.microsoft.com/office/drawing/2014/main" id="{BD753830-146B-BDAC-57DC-26905623C5C2}"/>
              </a:ext>
            </a:extLst>
          </p:cNvPr>
          <p:cNvSpPr txBox="1"/>
          <p:nvPr/>
        </p:nvSpPr>
        <p:spPr>
          <a:xfrm>
            <a:off x="6989749" y="536383"/>
            <a:ext cx="2158091" cy="523220"/>
          </a:xfrm>
          <a:prstGeom prst="rect">
            <a:avLst/>
          </a:prstGeom>
          <a:noFill/>
        </p:spPr>
        <p:txBody>
          <a:bodyPr wrap="none" rtlCol="0">
            <a:spAutoFit/>
          </a:bodyPr>
          <a:lstStyle/>
          <a:p>
            <a:r>
              <a:rPr lang="en-IN" sz="2800" dirty="0"/>
              <a:t>SAR Phantom</a:t>
            </a:r>
          </a:p>
        </p:txBody>
      </p:sp>
    </p:spTree>
    <p:extLst>
      <p:ext uri="{BB962C8B-B14F-4D97-AF65-F5344CB8AC3E}">
        <p14:creationId xmlns:p14="http://schemas.microsoft.com/office/powerpoint/2010/main" val="2877902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061AF-4747-B5B8-20DF-4088E7A612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A2F237-5B88-0886-8533-7676BF67D76E}"/>
              </a:ext>
            </a:extLst>
          </p:cNvPr>
          <p:cNvSpPr txBox="1"/>
          <p:nvPr/>
        </p:nvSpPr>
        <p:spPr>
          <a:xfrm>
            <a:off x="7142374" y="83257"/>
            <a:ext cx="3091295" cy="584775"/>
          </a:xfrm>
          <a:prstGeom prst="rect">
            <a:avLst/>
          </a:prstGeom>
          <a:noFill/>
        </p:spPr>
        <p:txBody>
          <a:bodyPr wrap="none" rtlCol="0">
            <a:spAutoFit/>
          </a:bodyPr>
          <a:lstStyle/>
          <a:p>
            <a:r>
              <a:rPr lang="en-IN" sz="3200" u="sng" dirty="0">
                <a:solidFill>
                  <a:srgbClr val="FF0000"/>
                </a:solidFill>
              </a:rPr>
              <a:t>Antenna with FSS</a:t>
            </a:r>
          </a:p>
        </p:txBody>
      </p:sp>
      <p:sp>
        <p:nvSpPr>
          <p:cNvPr id="5" name="TextBox 4">
            <a:extLst>
              <a:ext uri="{FF2B5EF4-FFF2-40B4-BE49-F238E27FC236}">
                <a16:creationId xmlns:a16="http://schemas.microsoft.com/office/drawing/2014/main" id="{183E480C-361A-9949-A69B-8F58A89D574B}"/>
              </a:ext>
            </a:extLst>
          </p:cNvPr>
          <p:cNvSpPr txBox="1"/>
          <p:nvPr/>
        </p:nvSpPr>
        <p:spPr>
          <a:xfrm>
            <a:off x="1919745" y="2983937"/>
            <a:ext cx="1556260" cy="369332"/>
          </a:xfrm>
          <a:prstGeom prst="rect">
            <a:avLst/>
          </a:prstGeom>
          <a:noFill/>
        </p:spPr>
        <p:txBody>
          <a:bodyPr wrap="none" rtlCol="0">
            <a:spAutoFit/>
          </a:bodyPr>
          <a:lstStyle/>
          <a:p>
            <a:r>
              <a:rPr lang="en-IN" dirty="0"/>
              <a:t>S11 Parameter</a:t>
            </a:r>
          </a:p>
        </p:txBody>
      </p:sp>
      <p:sp>
        <p:nvSpPr>
          <p:cNvPr id="7" name="TextBox 6">
            <a:extLst>
              <a:ext uri="{FF2B5EF4-FFF2-40B4-BE49-F238E27FC236}">
                <a16:creationId xmlns:a16="http://schemas.microsoft.com/office/drawing/2014/main" id="{89355160-528D-92F8-8238-0BC640287348}"/>
              </a:ext>
            </a:extLst>
          </p:cNvPr>
          <p:cNvSpPr txBox="1"/>
          <p:nvPr/>
        </p:nvSpPr>
        <p:spPr>
          <a:xfrm>
            <a:off x="2223788" y="6188594"/>
            <a:ext cx="749116" cy="369332"/>
          </a:xfrm>
          <a:prstGeom prst="rect">
            <a:avLst/>
          </a:prstGeom>
          <a:noFill/>
        </p:spPr>
        <p:txBody>
          <a:bodyPr wrap="none" rtlCol="0">
            <a:spAutoFit/>
          </a:bodyPr>
          <a:lstStyle/>
          <a:p>
            <a:r>
              <a:rPr lang="en-IN" dirty="0"/>
              <a:t>VSWR</a:t>
            </a:r>
          </a:p>
        </p:txBody>
      </p:sp>
      <p:sp>
        <p:nvSpPr>
          <p:cNvPr id="9" name="TextBox 8">
            <a:extLst>
              <a:ext uri="{FF2B5EF4-FFF2-40B4-BE49-F238E27FC236}">
                <a16:creationId xmlns:a16="http://schemas.microsoft.com/office/drawing/2014/main" id="{FDBE49A2-F122-8270-6CEA-E14538F6DDAF}"/>
              </a:ext>
            </a:extLst>
          </p:cNvPr>
          <p:cNvSpPr txBox="1"/>
          <p:nvPr/>
        </p:nvSpPr>
        <p:spPr>
          <a:xfrm>
            <a:off x="8217536" y="4257833"/>
            <a:ext cx="615874" cy="369332"/>
          </a:xfrm>
          <a:prstGeom prst="rect">
            <a:avLst/>
          </a:prstGeom>
          <a:noFill/>
        </p:spPr>
        <p:txBody>
          <a:bodyPr wrap="none" rtlCol="0">
            <a:spAutoFit/>
          </a:bodyPr>
          <a:lstStyle/>
          <a:p>
            <a:r>
              <a:rPr lang="en-IN" dirty="0"/>
              <a:t>Gain</a:t>
            </a:r>
          </a:p>
        </p:txBody>
      </p:sp>
      <p:pic>
        <p:nvPicPr>
          <p:cNvPr id="10" name="Picture 9">
            <a:extLst>
              <a:ext uri="{FF2B5EF4-FFF2-40B4-BE49-F238E27FC236}">
                <a16:creationId xmlns:a16="http://schemas.microsoft.com/office/drawing/2014/main" id="{C8FC0705-9CE7-9419-CA79-1D40914825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9857" y="1090836"/>
            <a:ext cx="4131232" cy="2928859"/>
          </a:xfrm>
          <a:prstGeom prst="rect">
            <a:avLst/>
          </a:prstGeom>
        </p:spPr>
      </p:pic>
      <p:pic>
        <p:nvPicPr>
          <p:cNvPr id="12" name="Picture 11">
            <a:extLst>
              <a:ext uri="{FF2B5EF4-FFF2-40B4-BE49-F238E27FC236}">
                <a16:creationId xmlns:a16="http://schemas.microsoft.com/office/drawing/2014/main" id="{8CD8465A-CB04-F25B-6D02-6C1FDCD51E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075" y="300074"/>
            <a:ext cx="3891051" cy="2758581"/>
          </a:xfrm>
          <a:prstGeom prst="rect">
            <a:avLst/>
          </a:prstGeom>
        </p:spPr>
      </p:pic>
      <p:pic>
        <p:nvPicPr>
          <p:cNvPr id="14" name="Picture 13">
            <a:extLst>
              <a:ext uri="{FF2B5EF4-FFF2-40B4-BE49-F238E27FC236}">
                <a16:creationId xmlns:a16="http://schemas.microsoft.com/office/drawing/2014/main" id="{8514E81B-F0AD-AC02-033E-84F571D099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075" y="3429000"/>
            <a:ext cx="3891051" cy="2758580"/>
          </a:xfrm>
          <a:prstGeom prst="rect">
            <a:avLst/>
          </a:prstGeom>
        </p:spPr>
      </p:pic>
    </p:spTree>
    <p:extLst>
      <p:ext uri="{BB962C8B-B14F-4D97-AF65-F5344CB8AC3E}">
        <p14:creationId xmlns:p14="http://schemas.microsoft.com/office/powerpoint/2010/main" val="4277996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D3B5A-5587-2D98-465D-3262E065435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AA8E6FE-7B4C-2501-7DDD-4764912FA3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343" y="1169510"/>
            <a:ext cx="5243014" cy="4671465"/>
          </a:xfrm>
          <a:prstGeom prst="rect">
            <a:avLst/>
          </a:prstGeom>
        </p:spPr>
      </p:pic>
      <p:pic>
        <p:nvPicPr>
          <p:cNvPr id="8" name="Picture 7">
            <a:extLst>
              <a:ext uri="{FF2B5EF4-FFF2-40B4-BE49-F238E27FC236}">
                <a16:creationId xmlns:a16="http://schemas.microsoft.com/office/drawing/2014/main" id="{02D9A661-3EB6-98B7-4920-C73FD0247F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0539" y="1223714"/>
            <a:ext cx="5273497" cy="4671465"/>
          </a:xfrm>
          <a:prstGeom prst="rect">
            <a:avLst/>
          </a:prstGeom>
        </p:spPr>
      </p:pic>
      <p:sp>
        <p:nvSpPr>
          <p:cNvPr id="11" name="TextBox 10">
            <a:extLst>
              <a:ext uri="{FF2B5EF4-FFF2-40B4-BE49-F238E27FC236}">
                <a16:creationId xmlns:a16="http://schemas.microsoft.com/office/drawing/2014/main" id="{CFA37B13-61C1-3DFB-C43A-5E8C96689556}"/>
              </a:ext>
            </a:extLst>
          </p:cNvPr>
          <p:cNvSpPr txBox="1"/>
          <p:nvPr/>
        </p:nvSpPr>
        <p:spPr>
          <a:xfrm>
            <a:off x="467343" y="400069"/>
            <a:ext cx="4400692" cy="769441"/>
          </a:xfrm>
          <a:prstGeom prst="rect">
            <a:avLst/>
          </a:prstGeom>
          <a:noFill/>
        </p:spPr>
        <p:txBody>
          <a:bodyPr wrap="none" rtlCol="0">
            <a:spAutoFit/>
          </a:bodyPr>
          <a:lstStyle/>
          <a:p>
            <a:r>
              <a:rPr lang="en-IN" sz="4400" dirty="0">
                <a:solidFill>
                  <a:srgbClr val="FF0000"/>
                </a:solidFill>
              </a:rPr>
              <a:t>Radiation Patterns</a:t>
            </a:r>
          </a:p>
        </p:txBody>
      </p:sp>
      <p:sp>
        <p:nvSpPr>
          <p:cNvPr id="13" name="TextBox 12">
            <a:extLst>
              <a:ext uri="{FF2B5EF4-FFF2-40B4-BE49-F238E27FC236}">
                <a16:creationId xmlns:a16="http://schemas.microsoft.com/office/drawing/2014/main" id="{147EBA34-62F9-F7A6-8070-108C97120F8C}"/>
              </a:ext>
            </a:extLst>
          </p:cNvPr>
          <p:cNvSpPr txBox="1"/>
          <p:nvPr/>
        </p:nvSpPr>
        <p:spPr>
          <a:xfrm>
            <a:off x="2667689" y="6148751"/>
            <a:ext cx="1027845" cy="461665"/>
          </a:xfrm>
          <a:prstGeom prst="rect">
            <a:avLst/>
          </a:prstGeom>
          <a:noFill/>
        </p:spPr>
        <p:txBody>
          <a:bodyPr wrap="none" rtlCol="0">
            <a:spAutoFit/>
          </a:bodyPr>
          <a:lstStyle/>
          <a:p>
            <a:r>
              <a:rPr lang="en-IN" sz="2400" dirty="0"/>
              <a:t>E-Field</a:t>
            </a:r>
          </a:p>
        </p:txBody>
      </p:sp>
      <p:sp>
        <p:nvSpPr>
          <p:cNvPr id="15" name="TextBox 14">
            <a:extLst>
              <a:ext uri="{FF2B5EF4-FFF2-40B4-BE49-F238E27FC236}">
                <a16:creationId xmlns:a16="http://schemas.microsoft.com/office/drawing/2014/main" id="{2FADA70F-7272-5012-56A8-4EE4997ED5A7}"/>
              </a:ext>
            </a:extLst>
          </p:cNvPr>
          <p:cNvSpPr txBox="1"/>
          <p:nvPr/>
        </p:nvSpPr>
        <p:spPr>
          <a:xfrm>
            <a:off x="8144758" y="6148750"/>
            <a:ext cx="1069524" cy="461665"/>
          </a:xfrm>
          <a:prstGeom prst="rect">
            <a:avLst/>
          </a:prstGeom>
          <a:noFill/>
        </p:spPr>
        <p:txBody>
          <a:bodyPr wrap="none" rtlCol="0">
            <a:spAutoFit/>
          </a:bodyPr>
          <a:lstStyle/>
          <a:p>
            <a:r>
              <a:rPr lang="en-IN" sz="2400" dirty="0"/>
              <a:t>H-Field</a:t>
            </a:r>
          </a:p>
        </p:txBody>
      </p:sp>
    </p:spTree>
    <p:extLst>
      <p:ext uri="{BB962C8B-B14F-4D97-AF65-F5344CB8AC3E}">
        <p14:creationId xmlns:p14="http://schemas.microsoft.com/office/powerpoint/2010/main" val="3203376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30473-E148-4728-74EB-926107D7D53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474DA0-AD74-747A-A1C6-E90EADFFB61B}"/>
              </a:ext>
            </a:extLst>
          </p:cNvPr>
          <p:cNvSpPr>
            <a:spLocks noGrp="1"/>
          </p:cNvSpPr>
          <p:nvPr>
            <p:ph type="title"/>
          </p:nvPr>
        </p:nvSpPr>
        <p:spPr/>
        <p:txBody>
          <a:bodyPr/>
          <a:lstStyle/>
          <a:p>
            <a:r>
              <a:rPr lang="en-IN" b="1" u="sng" dirty="0">
                <a:solidFill>
                  <a:srgbClr val="FF0000"/>
                </a:solidFill>
              </a:rPr>
              <a:t>Future Scope</a:t>
            </a:r>
          </a:p>
        </p:txBody>
      </p:sp>
      <p:sp>
        <p:nvSpPr>
          <p:cNvPr id="4" name="Rectangle 1">
            <a:extLst>
              <a:ext uri="{FF2B5EF4-FFF2-40B4-BE49-F238E27FC236}">
                <a16:creationId xmlns:a16="http://schemas.microsoft.com/office/drawing/2014/main" id="{F7A77482-B642-B5D8-BA78-6A3922006C38}"/>
              </a:ext>
            </a:extLst>
          </p:cNvPr>
          <p:cNvSpPr>
            <a:spLocks noGrp="1" noChangeArrowheads="1"/>
          </p:cNvSpPr>
          <p:nvPr>
            <p:ph idx="1"/>
          </p:nvPr>
        </p:nvSpPr>
        <p:spPr bwMode="auto">
          <a:xfrm>
            <a:off x="527653" y="1797946"/>
            <a:ext cx="1197693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rPr>
              <a:t> Antenna Miniaturization</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 Reduce overall antenna and FSS size for compact, wearable applications </a:t>
            </a:r>
          </a:p>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rPr>
              <a:t> Flexible &amp; Textile Materials</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 Implement on flexible or fabric substrates to improve comfort and usability </a:t>
            </a:r>
          </a:p>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rPr>
              <a:t> Multi-band / Wideband Design</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 Extend operation to support Wi-Fi, Bluetooth, and IoT frequency bands </a:t>
            </a:r>
          </a:p>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rPr>
              <a:t> Advanced EM Structures</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 Explore AMC and metamaterials for improved gain and further SAR reduction </a:t>
            </a:r>
          </a:p>
        </p:txBody>
      </p:sp>
    </p:spTree>
    <p:extLst>
      <p:ext uri="{BB962C8B-B14F-4D97-AF65-F5344CB8AC3E}">
        <p14:creationId xmlns:p14="http://schemas.microsoft.com/office/powerpoint/2010/main" val="59556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83F1A-91F3-17B8-37DC-056385C9A5D8}"/>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AC263856-7768-17F0-EF8A-D08281BCAE62}"/>
              </a:ext>
            </a:extLst>
          </p:cNvPr>
          <p:cNvSpPr>
            <a:spLocks noGrp="1" noChangeArrowheads="1"/>
          </p:cNvSpPr>
          <p:nvPr>
            <p:ph idx="1"/>
          </p:nvPr>
        </p:nvSpPr>
        <p:spPr bwMode="auto">
          <a:xfrm>
            <a:off x="527050" y="1798193"/>
            <a:ext cx="1138843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rPr>
              <a:t> Experimental Validation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Fabricate and test using VNA and anechoic chamber to verify </a:t>
            </a: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simulation results </a:t>
            </a:r>
          </a:p>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rPr>
              <a:t> Real-world Integration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Incorporate into wearable health monitoring and WBAN systems </a:t>
            </a:r>
          </a:p>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rPr>
              <a:t> System-Level Optimization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Enhance compatibility with medical IoT devices and real-time data transmission </a:t>
            </a:r>
          </a:p>
        </p:txBody>
      </p:sp>
    </p:spTree>
    <p:extLst>
      <p:ext uri="{BB962C8B-B14F-4D97-AF65-F5344CB8AC3E}">
        <p14:creationId xmlns:p14="http://schemas.microsoft.com/office/powerpoint/2010/main" val="3467145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72B84-5D2E-4380-A2AD-61E3162AD1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146D71-6DA5-575C-BD14-83AB4832564F}"/>
              </a:ext>
            </a:extLst>
          </p:cNvPr>
          <p:cNvSpPr>
            <a:spLocks noGrp="1"/>
          </p:cNvSpPr>
          <p:nvPr>
            <p:ph type="title"/>
          </p:nvPr>
        </p:nvSpPr>
        <p:spPr/>
        <p:txBody>
          <a:bodyPr/>
          <a:lstStyle/>
          <a:p>
            <a:r>
              <a:rPr lang="en-IN" b="1" u="sng" dirty="0">
                <a:solidFill>
                  <a:srgbClr val="FF0000"/>
                </a:solidFill>
              </a:rPr>
              <a:t>Results</a:t>
            </a:r>
          </a:p>
        </p:txBody>
      </p:sp>
      <p:sp>
        <p:nvSpPr>
          <p:cNvPr id="2" name="Content Placeholder 1">
            <a:extLst>
              <a:ext uri="{FF2B5EF4-FFF2-40B4-BE49-F238E27FC236}">
                <a16:creationId xmlns:a16="http://schemas.microsoft.com/office/drawing/2014/main" id="{D2913E5B-6C46-0BCE-87D8-6A4538A1F49F}"/>
              </a:ext>
            </a:extLst>
          </p:cNvPr>
          <p:cNvSpPr>
            <a:spLocks noGrp="1" noChangeArrowheads="1"/>
          </p:cNvSpPr>
          <p:nvPr>
            <p:ph idx="1"/>
          </p:nvPr>
        </p:nvSpPr>
        <p:spPr bwMode="auto">
          <a:xfrm>
            <a:off x="838200" y="1418083"/>
            <a:ext cx="1073150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rPr>
              <a:t>Operating Frequency</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Designed for </a:t>
            </a:r>
            <a:r>
              <a:rPr kumimoji="0" lang="en-US" altLang="en-US" b="1" i="0" u="none" strike="noStrike" cap="none" normalizeH="0" baseline="0" dirty="0">
                <a:ln>
                  <a:noFill/>
                </a:ln>
                <a:solidFill>
                  <a:schemeClr val="tx1"/>
                </a:solidFill>
                <a:effectLst/>
                <a:latin typeface="Arial" panose="020B0604020202020204" pitchFamily="34" charset="0"/>
              </a:rPr>
              <a:t>2.45 GHz ISM band</a:t>
            </a:r>
            <a:r>
              <a:rPr kumimoji="0" lang="en-US" altLang="en-US" b="0" i="0" u="none" strike="noStrike" cap="none" normalizeH="0" baseline="0" dirty="0">
                <a:ln>
                  <a:noFill/>
                </a:ln>
                <a:solidFill>
                  <a:schemeClr val="tx1"/>
                </a:solidFill>
                <a:effectLst/>
                <a:latin typeface="Arial" panose="020B0604020202020204" pitchFamily="34" charset="0"/>
              </a:rPr>
              <a:t> (WBAN applications) </a:t>
            </a:r>
          </a:p>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rPr>
              <a:t>Impedance Matching</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Achieved stable resonance with </a:t>
            </a:r>
            <a:r>
              <a:rPr kumimoji="0" lang="en-US" altLang="en-US" b="1" i="0" u="none" strike="noStrike" cap="none" normalizeH="0" baseline="0" dirty="0">
                <a:ln>
                  <a:noFill/>
                </a:ln>
                <a:solidFill>
                  <a:schemeClr val="tx1"/>
                </a:solidFill>
                <a:effectLst/>
                <a:latin typeface="Arial" panose="020B0604020202020204" pitchFamily="34" charset="0"/>
              </a:rPr>
              <a:t>excellent return loss (S₁₁)</a:t>
            </a:r>
            <a:r>
              <a:rPr kumimoji="0" lang="en-US" altLang="en-US" b="0"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rPr>
              <a:t>Gain Improvement</a:t>
            </a:r>
            <a:r>
              <a:rPr kumimoji="0" lang="en-US" altLang="en-US" b="0" i="0" u="none" strike="noStrike" cap="none" normalizeH="0" baseline="0" dirty="0">
                <a:ln>
                  <a:noFill/>
                </a:ln>
                <a:solidFill>
                  <a:schemeClr val="tx1"/>
                </a:solidFill>
                <a:effectLst/>
                <a:latin typeface="Arial" panose="020B0604020202020204" pitchFamily="34" charset="0"/>
              </a:rPr>
              <a:t> </a:t>
            </a:r>
          </a:p>
          <a:p>
            <a:pPr mar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latin typeface="Arial" panose="020B0604020202020204" pitchFamily="34" charset="0"/>
              </a:rPr>
              <a:t>	Without FSS: </a:t>
            </a:r>
            <a:r>
              <a:rPr kumimoji="0" lang="en-US" altLang="en-US" b="1" i="0" u="none" strike="noStrike" cap="none" normalizeH="0" baseline="0" dirty="0">
                <a:ln>
                  <a:noFill/>
                </a:ln>
                <a:solidFill>
                  <a:schemeClr val="tx1"/>
                </a:solidFill>
                <a:effectLst/>
                <a:latin typeface="Arial" panose="020B0604020202020204" pitchFamily="34" charset="0"/>
              </a:rPr>
              <a:t>2.3 </a:t>
            </a:r>
            <a:r>
              <a:rPr kumimoji="0" lang="en-US" altLang="en-US" b="1" i="0" u="none" strike="noStrike" cap="none" normalizeH="0" baseline="0" dirty="0" err="1">
                <a:ln>
                  <a:noFill/>
                </a:ln>
                <a:solidFill>
                  <a:schemeClr val="tx1"/>
                </a:solidFill>
                <a:effectLst/>
                <a:latin typeface="Arial" panose="020B0604020202020204" pitchFamily="34" charset="0"/>
              </a:rPr>
              <a:t>dBi</a:t>
            </a:r>
            <a:r>
              <a:rPr kumimoji="0" lang="en-US" altLang="en-US" b="0" i="0" u="none" strike="noStrike" cap="none" normalizeH="0" baseline="0" dirty="0">
                <a:ln>
                  <a:noFill/>
                </a:ln>
                <a:solidFill>
                  <a:schemeClr val="tx1"/>
                </a:solidFill>
                <a:effectLst/>
                <a:latin typeface="Arial" panose="020B0604020202020204" pitchFamily="34" charset="0"/>
              </a:rPr>
              <a:t> </a:t>
            </a:r>
          </a:p>
          <a:p>
            <a:pPr mar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latin typeface="Arial" panose="020B0604020202020204" pitchFamily="34" charset="0"/>
              </a:rPr>
              <a:t>	With 3×3 FSS: </a:t>
            </a:r>
            <a:r>
              <a:rPr kumimoji="0" lang="en-US" altLang="en-US" b="1" i="0" u="none" strike="noStrike" cap="none" normalizeH="0" baseline="0" dirty="0">
                <a:ln>
                  <a:noFill/>
                </a:ln>
                <a:solidFill>
                  <a:schemeClr val="tx1"/>
                </a:solidFill>
                <a:effectLst/>
                <a:latin typeface="Arial" panose="020B0604020202020204" pitchFamily="34" charset="0"/>
              </a:rPr>
              <a:t>8.65 </a:t>
            </a:r>
            <a:r>
              <a:rPr kumimoji="0" lang="en-US" altLang="en-US" b="1" i="0" u="none" strike="noStrike" cap="none" normalizeH="0" baseline="0" dirty="0" err="1">
                <a:ln>
                  <a:noFill/>
                </a:ln>
                <a:solidFill>
                  <a:schemeClr val="tx1"/>
                </a:solidFill>
                <a:effectLst/>
                <a:latin typeface="Arial" panose="020B0604020202020204" pitchFamily="34" charset="0"/>
              </a:rPr>
              <a:t>dBi</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~276% increase in gain</a:t>
            </a:r>
            <a:r>
              <a:rPr kumimoji="0" lang="en-US" altLang="en-US" b="0"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rPr>
              <a:t>SAR Reduction</a:t>
            </a:r>
            <a:r>
              <a:rPr kumimoji="0" lang="en-US" altLang="en-US" b="0" i="0" u="none" strike="noStrike" cap="none" normalizeH="0" baseline="0" dirty="0">
                <a:ln>
                  <a:noFill/>
                </a:ln>
                <a:solidFill>
                  <a:schemeClr val="tx1"/>
                </a:solidFill>
                <a:effectLst/>
                <a:latin typeface="Arial" panose="020B0604020202020204" pitchFamily="34" charset="0"/>
              </a:rPr>
              <a:t> </a:t>
            </a:r>
          </a:p>
          <a:p>
            <a:pPr mar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latin typeface="Arial" panose="020B0604020202020204" pitchFamily="34" charset="0"/>
              </a:rPr>
              <a:t>	Without FSS: </a:t>
            </a:r>
            <a:r>
              <a:rPr kumimoji="0" lang="en-US" altLang="en-US" b="1" i="0" u="none" strike="noStrike" cap="none" normalizeH="0" baseline="0" dirty="0">
                <a:ln>
                  <a:noFill/>
                </a:ln>
                <a:solidFill>
                  <a:schemeClr val="tx1"/>
                </a:solidFill>
                <a:effectLst/>
                <a:latin typeface="Arial" panose="020B0604020202020204" pitchFamily="34" charset="0"/>
              </a:rPr>
              <a:t>13.4 W/kg</a:t>
            </a:r>
            <a:r>
              <a:rPr kumimoji="0" lang="en-US" altLang="en-US" b="0" i="0" u="none" strike="noStrike" cap="none" normalizeH="0" baseline="0" dirty="0">
                <a:ln>
                  <a:noFill/>
                </a:ln>
                <a:solidFill>
                  <a:schemeClr val="tx1"/>
                </a:solidFill>
                <a:effectLst/>
                <a:latin typeface="Arial" panose="020B0604020202020204" pitchFamily="34" charset="0"/>
              </a:rPr>
              <a:t> </a:t>
            </a:r>
          </a:p>
          <a:p>
            <a:pPr mar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latin typeface="Arial" panose="020B0604020202020204" pitchFamily="34" charset="0"/>
              </a:rPr>
              <a:t>	With FSS: </a:t>
            </a:r>
            <a:r>
              <a:rPr kumimoji="0" lang="en-US" altLang="en-US" b="1" i="0" u="none" strike="noStrike" cap="none" normalizeH="0" baseline="0" dirty="0">
                <a:ln>
                  <a:noFill/>
                </a:ln>
                <a:solidFill>
                  <a:schemeClr val="tx1"/>
                </a:solidFill>
                <a:effectLst/>
                <a:latin typeface="Arial" panose="020B0604020202020204" pitchFamily="34" charset="0"/>
              </a:rPr>
              <a:t>0.47 W/kg</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~96.5% reduction in SAR</a:t>
            </a:r>
            <a:endParaRPr kumimoji="0" lang="en-US" altLang="en-US"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53666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2E078-E0B2-5DB2-DDBB-1E52B2AD50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738FA6-0E1D-DC46-BCB8-587A4479C3AC}"/>
              </a:ext>
            </a:extLst>
          </p:cNvPr>
          <p:cNvSpPr>
            <a:spLocks noGrp="1"/>
          </p:cNvSpPr>
          <p:nvPr>
            <p:ph type="title"/>
          </p:nvPr>
        </p:nvSpPr>
        <p:spPr/>
        <p:txBody>
          <a:bodyPr/>
          <a:lstStyle/>
          <a:p>
            <a:r>
              <a:rPr lang="en-IN" b="1" u="sng" dirty="0">
                <a:solidFill>
                  <a:srgbClr val="FF0000"/>
                </a:solidFill>
              </a:rPr>
              <a:t>Conclusion</a:t>
            </a:r>
          </a:p>
        </p:txBody>
      </p:sp>
      <p:sp>
        <p:nvSpPr>
          <p:cNvPr id="4" name="Rectangle 1">
            <a:extLst>
              <a:ext uri="{FF2B5EF4-FFF2-40B4-BE49-F238E27FC236}">
                <a16:creationId xmlns:a16="http://schemas.microsoft.com/office/drawing/2014/main" id="{0F5F5F31-814B-A304-668D-3C0E4ADE47BE}"/>
              </a:ext>
            </a:extLst>
          </p:cNvPr>
          <p:cNvSpPr>
            <a:spLocks noGrp="1" noChangeArrowheads="1"/>
          </p:cNvSpPr>
          <p:nvPr>
            <p:ph idx="1"/>
          </p:nvPr>
        </p:nvSpPr>
        <p:spPr bwMode="auto">
          <a:xfrm>
            <a:off x="951321" y="1164134"/>
            <a:ext cx="10125173"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Successfully designed a </a:t>
            </a:r>
            <a:r>
              <a:rPr kumimoji="0" lang="en-US" altLang="en-US" b="1" i="0" u="none" strike="noStrike" cap="none" normalizeH="0" baseline="0" dirty="0">
                <a:ln>
                  <a:noFill/>
                </a:ln>
                <a:solidFill>
                  <a:schemeClr val="tx1"/>
                </a:solidFill>
                <a:effectLst/>
                <a:latin typeface="Arial" panose="020B0604020202020204" pitchFamily="34" charset="0"/>
              </a:rPr>
              <a:t>compact WBAN antenna</a:t>
            </a:r>
            <a:r>
              <a:rPr kumimoji="0" lang="en-US" altLang="en-US" b="0" i="0" u="none" strike="noStrike" cap="none" normalizeH="0" baseline="0" dirty="0">
                <a:ln>
                  <a:noFill/>
                </a:ln>
                <a:solidFill>
                  <a:schemeClr val="tx1"/>
                </a:solidFill>
                <a:effectLst/>
                <a:latin typeface="Arial" panose="020B0604020202020204" pitchFamily="34" charset="0"/>
              </a:rPr>
              <a:t> operating at 2.45 GHz </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Integration of </a:t>
            </a:r>
            <a:r>
              <a:rPr kumimoji="0" lang="en-US" altLang="en-US" b="1" i="0" u="none" strike="noStrike" cap="none" normalizeH="0" baseline="0" dirty="0">
                <a:ln>
                  <a:noFill/>
                </a:ln>
                <a:solidFill>
                  <a:schemeClr val="tx1"/>
                </a:solidFill>
                <a:effectLst/>
                <a:latin typeface="Arial" panose="020B0604020202020204" pitchFamily="34" charset="0"/>
              </a:rPr>
              <a:t>3×3 FSS</a:t>
            </a:r>
            <a:r>
              <a:rPr kumimoji="0" lang="en-US" altLang="en-US" b="0" i="0" u="none" strike="noStrike" cap="none" normalizeH="0" baseline="0" dirty="0">
                <a:ln>
                  <a:noFill/>
                </a:ln>
                <a:solidFill>
                  <a:schemeClr val="tx1"/>
                </a:solidFill>
                <a:effectLst/>
                <a:latin typeface="Arial" panose="020B0604020202020204" pitchFamily="34" charset="0"/>
              </a:rPr>
              <a:t> effectively: </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Suppresses back radiation </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Enhances forward radiation </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Achieved </a:t>
            </a:r>
            <a:r>
              <a:rPr kumimoji="0" lang="en-US" altLang="en-US" b="1" i="0" u="none" strike="noStrike" cap="none" normalizeH="0" baseline="0" dirty="0">
                <a:ln>
                  <a:noFill/>
                </a:ln>
                <a:solidFill>
                  <a:schemeClr val="tx1"/>
                </a:solidFill>
                <a:effectLst/>
                <a:latin typeface="Arial" panose="020B0604020202020204" pitchFamily="34" charset="0"/>
              </a:rPr>
              <a:t>high gain + low SAR simultaneously</a:t>
            </a:r>
            <a:r>
              <a:rPr kumimoji="0" lang="en-US" altLang="en-US" b="0" i="0" u="none" strike="noStrike" cap="none" normalizeH="0" baseline="0" dirty="0">
                <a:ln>
                  <a:noFill/>
                </a:ln>
                <a:solidFill>
                  <a:schemeClr val="tx1"/>
                </a:solidFill>
                <a:effectLst/>
                <a:latin typeface="Arial" panose="020B0604020202020204" pitchFamily="34" charset="0"/>
              </a:rPr>
              <a:t>, which is critical for wearable systems </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Proposed design is a </a:t>
            </a:r>
            <a:r>
              <a:rPr kumimoji="0" lang="en-US" altLang="en-US" b="1" i="0" u="none" strike="noStrike" cap="none" normalizeH="0" baseline="0" dirty="0">
                <a:ln>
                  <a:noFill/>
                </a:ln>
                <a:solidFill>
                  <a:schemeClr val="tx1"/>
                </a:solidFill>
                <a:effectLst/>
                <a:latin typeface="Arial" panose="020B0604020202020204" pitchFamily="34" charset="0"/>
              </a:rPr>
              <a:t>safe, efficient, and practical solution</a:t>
            </a:r>
            <a:r>
              <a:rPr kumimoji="0" lang="en-US" altLang="en-US" b="0" i="0" u="none" strike="noStrike" cap="none" normalizeH="0" baseline="0" dirty="0">
                <a:ln>
                  <a:noFill/>
                </a:ln>
                <a:solidFill>
                  <a:schemeClr val="tx1"/>
                </a:solidFill>
                <a:effectLst/>
                <a:latin typeface="Arial" panose="020B0604020202020204" pitchFamily="34" charset="0"/>
              </a:rPr>
              <a:t> for: </a:t>
            </a:r>
          </a:p>
          <a:p>
            <a:pPr mar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latin typeface="Arial" panose="020B0604020202020204" pitchFamily="34" charset="0"/>
              </a:rPr>
              <a:t>	Wireless Body Area Networks (WBAN) </a:t>
            </a:r>
          </a:p>
          <a:p>
            <a:pPr mar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latin typeface="Arial" panose="020B0604020202020204" pitchFamily="34" charset="0"/>
              </a:rPr>
              <a:t>	Wearable healthcare devices</a:t>
            </a:r>
          </a:p>
          <a:p>
            <a:pPr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23495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B18E-4B58-785F-1D13-9B2F0FCF05C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B039AB-9315-D51B-9417-0647BDFECF74}"/>
              </a:ext>
            </a:extLst>
          </p:cNvPr>
          <p:cNvSpPr>
            <a:spLocks noGrp="1"/>
          </p:cNvSpPr>
          <p:nvPr>
            <p:ph type="title"/>
          </p:nvPr>
        </p:nvSpPr>
        <p:spPr/>
        <p:txBody>
          <a:bodyPr/>
          <a:lstStyle/>
          <a:p>
            <a:r>
              <a:rPr lang="en-IN" b="1" u="sng" dirty="0">
                <a:solidFill>
                  <a:srgbClr val="FF0000"/>
                </a:solidFill>
              </a:rPr>
              <a:t>Comparison Table</a:t>
            </a:r>
          </a:p>
        </p:txBody>
      </p:sp>
      <p:pic>
        <p:nvPicPr>
          <p:cNvPr id="5" name="Content Placeholder 4">
            <a:extLst>
              <a:ext uri="{FF2B5EF4-FFF2-40B4-BE49-F238E27FC236}">
                <a16:creationId xmlns:a16="http://schemas.microsoft.com/office/drawing/2014/main" id="{4EABFF48-00AD-E7D2-C450-213FA5E5C680}"/>
              </a:ext>
            </a:extLst>
          </p:cNvPr>
          <p:cNvPicPr>
            <a:picLocks noGrp="1" noChangeAspect="1"/>
          </p:cNvPicPr>
          <p:nvPr>
            <p:ph idx="1"/>
          </p:nvPr>
        </p:nvPicPr>
        <p:blipFill>
          <a:blip r:embed="rId2"/>
          <a:stretch>
            <a:fillRect/>
          </a:stretch>
        </p:blipFill>
        <p:spPr bwMode="auto">
          <a:xfrm>
            <a:off x="1776246" y="2268406"/>
            <a:ext cx="8639507" cy="232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1CCE5E7B-FD39-24AE-01A1-08265E2C4516}"/>
              </a:ext>
            </a:extLst>
          </p:cNvPr>
          <p:cNvPicPr>
            <a:picLocks noChangeAspect="1"/>
          </p:cNvPicPr>
          <p:nvPr/>
        </p:nvPicPr>
        <p:blipFill>
          <a:blip r:embed="rId3"/>
          <a:stretch>
            <a:fillRect/>
          </a:stretch>
        </p:blipFill>
        <p:spPr>
          <a:xfrm>
            <a:off x="1123256" y="1804761"/>
            <a:ext cx="9945488" cy="3248478"/>
          </a:xfrm>
          <a:prstGeom prst="rect">
            <a:avLst/>
          </a:prstGeom>
        </p:spPr>
      </p:pic>
    </p:spTree>
    <p:extLst>
      <p:ext uri="{BB962C8B-B14F-4D97-AF65-F5344CB8AC3E}">
        <p14:creationId xmlns:p14="http://schemas.microsoft.com/office/powerpoint/2010/main" val="2221255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7309F-0A61-633B-560F-D202A8A4D482}"/>
              </a:ext>
            </a:extLst>
          </p:cNvPr>
          <p:cNvSpPr>
            <a:spLocks noGrp="1"/>
          </p:cNvSpPr>
          <p:nvPr>
            <p:ph type="title"/>
          </p:nvPr>
        </p:nvSpPr>
        <p:spPr>
          <a:xfrm>
            <a:off x="669340" y="244856"/>
            <a:ext cx="10595559" cy="677108"/>
          </a:xfrm>
        </p:spPr>
        <p:txBody>
          <a:bodyPr>
            <a:normAutofit fontScale="90000"/>
          </a:bodyPr>
          <a:lstStyle/>
          <a:p>
            <a:r>
              <a:rPr lang="en-IN" sz="4400" u="sng" spc="-35" dirty="0">
                <a:solidFill>
                  <a:srgbClr val="FF0000"/>
                </a:solidFill>
                <a:uFill>
                  <a:solidFill>
                    <a:srgbClr val="FF0000"/>
                  </a:solidFill>
                </a:uFill>
                <a:latin typeface="Calibri Light"/>
                <a:cs typeface="Calibri Light"/>
              </a:rPr>
              <a:t>References</a:t>
            </a:r>
            <a:endParaRPr lang="en-IN" sz="4400" dirty="0"/>
          </a:p>
        </p:txBody>
      </p:sp>
      <p:sp>
        <p:nvSpPr>
          <p:cNvPr id="3" name="Text Placeholder 2">
            <a:extLst>
              <a:ext uri="{FF2B5EF4-FFF2-40B4-BE49-F238E27FC236}">
                <a16:creationId xmlns:a16="http://schemas.microsoft.com/office/drawing/2014/main" id="{73114625-173F-F33D-7E9C-0DE34B41D717}"/>
              </a:ext>
            </a:extLst>
          </p:cNvPr>
          <p:cNvSpPr>
            <a:spLocks noGrp="1"/>
          </p:cNvSpPr>
          <p:nvPr>
            <p:ph type="body" idx="1"/>
          </p:nvPr>
        </p:nvSpPr>
        <p:spPr>
          <a:xfrm>
            <a:off x="669340" y="1073166"/>
            <a:ext cx="10244455" cy="5539978"/>
          </a:xfrm>
        </p:spPr>
        <p:txBody>
          <a:bodyPr>
            <a:normAutofit fontScale="77500" lnSpcReduction="20000"/>
          </a:bodyPr>
          <a:lstStyle/>
          <a:p>
            <a:pPr marL="0" indent="0">
              <a:buNone/>
            </a:pPr>
            <a:r>
              <a:rPr lang="en-IN" dirty="0"/>
              <a:t>[1] </a:t>
            </a:r>
            <a:r>
              <a:rPr lang="en-IN" dirty="0" err="1"/>
              <a:t>Yotrawee</a:t>
            </a:r>
            <a:r>
              <a:rPr lang="en-IN" dirty="0"/>
              <a:t> </a:t>
            </a:r>
            <a:r>
              <a:rPr lang="en-IN" dirty="0" err="1"/>
              <a:t>Hengroemyat</a:t>
            </a:r>
            <a:r>
              <a:rPr lang="en-IN" dirty="0"/>
              <a:t>, Wanwisa </a:t>
            </a:r>
            <a:r>
              <a:rPr lang="en-IN" dirty="0" err="1"/>
              <a:t>Thaiwirot</a:t>
            </a:r>
            <a:r>
              <a:rPr lang="en-IN" dirty="0"/>
              <a:t>, </a:t>
            </a:r>
            <a:r>
              <a:rPr lang="en-IN" dirty="0" err="1"/>
              <a:t>Prayoot</a:t>
            </a:r>
            <a:r>
              <a:rPr lang="en-IN" dirty="0"/>
              <a:t> </a:t>
            </a:r>
            <a:r>
              <a:rPr lang="en-IN" dirty="0" err="1"/>
              <a:t>Akkaraekthalin</a:t>
            </a:r>
            <a:r>
              <a:rPr lang="en-IN" dirty="0"/>
              <a:t>, </a:t>
            </a:r>
            <a:r>
              <a:rPr lang="en-IN" dirty="0" err="1"/>
              <a:t>Akkarat</a:t>
            </a:r>
            <a:r>
              <a:rPr lang="en-IN" dirty="0"/>
              <a:t> </a:t>
            </a:r>
            <a:r>
              <a:rPr lang="en-IN" dirty="0" err="1"/>
              <a:t>Boonpoonga</a:t>
            </a:r>
            <a:r>
              <a:rPr lang="en-IN" dirty="0"/>
              <a:t> and </a:t>
            </a:r>
            <a:r>
              <a:rPr lang="en-IN" dirty="0" err="1"/>
              <a:t>Nonchanutt</a:t>
            </a:r>
            <a:r>
              <a:rPr lang="en-IN" dirty="0"/>
              <a:t> </a:t>
            </a:r>
            <a:r>
              <a:rPr lang="en-IN" dirty="0" err="1"/>
              <a:t>Chudpooti</a:t>
            </a:r>
            <a:r>
              <a:rPr lang="en-IN" dirty="0"/>
              <a:t>, “Dual-band textile AMC integrated monopole antenna for SAR reduction,” EURASIP Journal on Wireless Communications and Networking, vol. 2026:28, 2026. </a:t>
            </a:r>
            <a:r>
              <a:rPr lang="en-IN" dirty="0">
                <a:hlinkClick r:id="rId2"/>
              </a:rPr>
              <a:t>https://doi.org/10.1186/s13638-026-02576-y</a:t>
            </a:r>
            <a:endParaRPr lang="en-IN" dirty="0"/>
          </a:p>
          <a:p>
            <a:pPr marL="0" indent="0">
              <a:buNone/>
            </a:pPr>
            <a:endParaRPr lang="en-IN" dirty="0"/>
          </a:p>
          <a:p>
            <a:pPr marL="0" indent="0">
              <a:buNone/>
            </a:pPr>
            <a:r>
              <a:rPr lang="en-IN" dirty="0"/>
              <a:t>[2] Archana Mohan and Niraj Kumar, “Compact wideband implantable antenna for wireless capsule endoscopy application in the 2.45 GHz ISM band,” Scientific Reports, vol. 15, 2025. </a:t>
            </a:r>
            <a:r>
              <a:rPr lang="en-IN" dirty="0">
                <a:hlinkClick r:id="rId3"/>
              </a:rPr>
              <a:t>https://doi.org/10.1038/s41598 025-15591-8</a:t>
            </a:r>
            <a:endParaRPr lang="en-IN" dirty="0"/>
          </a:p>
          <a:p>
            <a:pPr marL="0" indent="0">
              <a:buNone/>
            </a:pPr>
            <a:endParaRPr lang="en-IN" dirty="0"/>
          </a:p>
          <a:p>
            <a:pPr marL="0" indent="0">
              <a:buNone/>
            </a:pPr>
            <a:r>
              <a:rPr lang="en-IN" dirty="0"/>
              <a:t>[3] </a:t>
            </a:r>
            <a:r>
              <a:rPr lang="en-US" dirty="0"/>
              <a:t>Sunaina Singh, Ranjan Mishra, Ankush Kapoor and Soni Singh, “A Comprehensive Review and Analysis of the Design Aspects, Structure, and Applications of Flexible Wearable Antennas,” Telecom, vol. 6, no. 1, 2025. </a:t>
            </a:r>
            <a:r>
              <a:rPr lang="en-US" dirty="0">
                <a:hlinkClick r:id="rId4"/>
              </a:rPr>
              <a:t>https://doi.org/10.3390/telecom6010003</a:t>
            </a:r>
            <a:endParaRPr lang="en-US" dirty="0"/>
          </a:p>
          <a:p>
            <a:pPr marL="0" indent="0">
              <a:buNone/>
            </a:pPr>
            <a:endParaRPr lang="en-US" dirty="0"/>
          </a:p>
          <a:p>
            <a:pPr marL="0" indent="0">
              <a:buNone/>
            </a:pPr>
            <a:r>
              <a:rPr lang="en-US" dirty="0"/>
              <a:t>[4] </a:t>
            </a:r>
            <a:r>
              <a:rPr lang="en-IN" dirty="0"/>
              <a:t>Youssef Amraoui, Imane </a:t>
            </a:r>
            <a:r>
              <a:rPr lang="en-IN" dirty="0" err="1"/>
              <a:t>Halkhams</a:t>
            </a:r>
            <a:r>
              <a:rPr lang="en-IN" dirty="0"/>
              <a:t>, Rachid El Alami, Mohammed Ouazzani Jamil and Hassan </a:t>
            </a:r>
            <a:r>
              <a:rPr lang="en-IN" dirty="0" err="1"/>
              <a:t>Qjidaa</a:t>
            </a:r>
            <a:r>
              <a:rPr lang="en-IN" dirty="0"/>
              <a:t>, “Terahertz dual-band antenna design with improved performances using FSS-based </a:t>
            </a:r>
            <a:r>
              <a:rPr lang="en-IN" dirty="0" err="1"/>
              <a:t>metasurface</a:t>
            </a:r>
            <a:r>
              <a:rPr lang="en-IN" dirty="0"/>
              <a:t> concept for wireless applications,” Scientific African, </a:t>
            </a:r>
            <a:r>
              <a:rPr lang="en-IN" dirty="0">
                <a:hlinkClick r:id="rId5"/>
              </a:rPr>
              <a:t>https://doi.org/10.1016/j.sciaf.2025.e02566</a:t>
            </a:r>
            <a:endParaRPr lang="en-IN" dirty="0"/>
          </a:p>
          <a:p>
            <a:pPr marL="0" indent="0">
              <a:buNone/>
            </a:pPr>
            <a:endParaRPr lang="en-US" dirty="0"/>
          </a:p>
        </p:txBody>
      </p:sp>
    </p:spTree>
    <p:extLst>
      <p:ext uri="{BB962C8B-B14F-4D97-AF65-F5344CB8AC3E}">
        <p14:creationId xmlns:p14="http://schemas.microsoft.com/office/powerpoint/2010/main" val="2780129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25A8E-D25D-E8EC-8BB0-A2FB80EAD931}"/>
              </a:ext>
            </a:extLst>
          </p:cNvPr>
          <p:cNvSpPr>
            <a:spLocks noGrp="1"/>
          </p:cNvSpPr>
          <p:nvPr>
            <p:ph type="title"/>
          </p:nvPr>
        </p:nvSpPr>
        <p:spPr>
          <a:xfrm>
            <a:off x="669340" y="244856"/>
            <a:ext cx="10595559" cy="5539978"/>
          </a:xfrm>
        </p:spPr>
        <p:txBody>
          <a:bodyPr>
            <a:noAutofit/>
          </a:bodyPr>
          <a:lstStyle/>
          <a:p>
            <a:r>
              <a:rPr lang="en-US" sz="2000" dirty="0">
                <a:latin typeface="+mn-lt"/>
              </a:rPr>
              <a:t>[5] </a:t>
            </a:r>
            <a:r>
              <a:rPr lang="en-IN" sz="2000" dirty="0" err="1">
                <a:latin typeface="+mn-lt"/>
              </a:rPr>
              <a:t>Kummaramsetty</a:t>
            </a:r>
            <a:r>
              <a:rPr lang="en-IN" sz="2000" dirty="0">
                <a:latin typeface="+mn-lt"/>
              </a:rPr>
              <a:t> Sainath, Shine Let </a:t>
            </a:r>
            <a:r>
              <a:rPr lang="en-IN" sz="2000" dirty="0" err="1">
                <a:latin typeface="+mn-lt"/>
              </a:rPr>
              <a:t>Gunamony</a:t>
            </a:r>
            <a:r>
              <a:rPr lang="en-IN" sz="2000" dirty="0">
                <a:latin typeface="+mn-lt"/>
              </a:rPr>
              <a:t>, Wahaj Abbas Awan, Navin M. George, </a:t>
            </a:r>
            <a:r>
              <a:rPr lang="en-IN" sz="2000" dirty="0" err="1">
                <a:latin typeface="+mn-lt"/>
              </a:rPr>
              <a:t>Majjiga</a:t>
            </a:r>
            <a:r>
              <a:rPr lang="en-IN" sz="2000" dirty="0">
                <a:latin typeface="+mn-lt"/>
              </a:rPr>
              <a:t> Deva Sindhu, Fahad N. </a:t>
            </a:r>
            <a:r>
              <a:rPr lang="en-IN" sz="2000" dirty="0" err="1">
                <a:latin typeface="+mn-lt"/>
              </a:rPr>
              <a:t>Alsunaydih</a:t>
            </a:r>
            <a:r>
              <a:rPr lang="en-IN" sz="2000" dirty="0">
                <a:latin typeface="+mn-lt"/>
              </a:rPr>
              <a:t> and Khaled </a:t>
            </a:r>
            <a:r>
              <a:rPr lang="en-IN" sz="2000" dirty="0" err="1">
                <a:latin typeface="+mn-lt"/>
              </a:rPr>
              <a:t>Alhassoon</a:t>
            </a:r>
            <a:r>
              <a:rPr lang="en-IN" sz="2000" dirty="0">
                <a:latin typeface="+mn-lt"/>
              </a:rPr>
              <a:t>, “Development of flexible durable multi-slotted antenna for wearable applications,” </a:t>
            </a:r>
            <a:r>
              <a:rPr lang="en-IN" sz="2000" dirty="0" err="1">
                <a:latin typeface="+mn-lt"/>
              </a:rPr>
              <a:t>Heliyon</a:t>
            </a:r>
            <a:r>
              <a:rPr lang="en-IN" sz="2000" dirty="0">
                <a:latin typeface="+mn-lt"/>
              </a:rPr>
              <a:t>, vol. 10, 2024. </a:t>
            </a:r>
            <a:r>
              <a:rPr lang="en-IN" sz="2000" dirty="0">
                <a:latin typeface="+mn-lt"/>
                <a:hlinkClick r:id="rId2"/>
              </a:rPr>
              <a:t>https://doi.org/10.1016/j.heliyon.2024.e40627</a:t>
            </a:r>
            <a:br>
              <a:rPr lang="en-IN" sz="2000" dirty="0">
                <a:latin typeface="+mn-lt"/>
              </a:rPr>
            </a:br>
            <a:br>
              <a:rPr lang="en-IN" sz="2000" dirty="0">
                <a:latin typeface="+mn-lt"/>
              </a:rPr>
            </a:br>
            <a:r>
              <a:rPr lang="en-IN" sz="2000" dirty="0">
                <a:latin typeface="+mn-lt"/>
              </a:rPr>
              <a:t>[6] </a:t>
            </a:r>
            <a:r>
              <a:rPr lang="en-IN" sz="2000" dirty="0" err="1">
                <a:latin typeface="+mn-lt"/>
              </a:rPr>
              <a:t>Biragathis</a:t>
            </a:r>
            <a:r>
              <a:rPr lang="en-IN" sz="2000" dirty="0">
                <a:latin typeface="+mn-lt"/>
              </a:rPr>
              <a:t> Babu, </a:t>
            </a:r>
            <a:r>
              <a:rPr lang="en-IN" sz="2000" dirty="0" err="1">
                <a:latin typeface="+mn-lt"/>
              </a:rPr>
              <a:t>DiviyaDevi</a:t>
            </a:r>
            <a:r>
              <a:rPr lang="en-IN" sz="2000" dirty="0">
                <a:latin typeface="+mn-lt"/>
              </a:rPr>
              <a:t> Paramasivam, Raimi Dewan, Noor </a:t>
            </a:r>
            <a:r>
              <a:rPr lang="en-IN" sz="2000" dirty="0" err="1">
                <a:latin typeface="+mn-lt"/>
              </a:rPr>
              <a:t>Asmawati</a:t>
            </a:r>
            <a:r>
              <a:rPr lang="en-IN" sz="2000" dirty="0">
                <a:latin typeface="+mn-lt"/>
              </a:rPr>
              <a:t> Samsuri and Nazirah Othman, “On-Body Reduced Size AMC Design for Lowering Specific Absorption Rate in Wearable Antenna Application,” Journal of Medical Devices Technology, vol. 3, no. 1, 2024. </a:t>
            </a:r>
            <a:r>
              <a:rPr lang="en-IN" sz="2000" dirty="0">
                <a:latin typeface="+mn-lt"/>
                <a:hlinkClick r:id="rId3"/>
              </a:rPr>
              <a:t>https://jmeditec.utm.my</a:t>
            </a:r>
            <a:br>
              <a:rPr lang="en-IN" sz="2000" dirty="0">
                <a:latin typeface="+mn-lt"/>
              </a:rPr>
            </a:br>
            <a:br>
              <a:rPr lang="en-IN" sz="2000" dirty="0">
                <a:latin typeface="+mn-lt"/>
              </a:rPr>
            </a:br>
            <a:r>
              <a:rPr lang="en-IN" sz="2000" dirty="0">
                <a:latin typeface="+mn-lt"/>
              </a:rPr>
              <a:t>[7] Mahmoud A. </a:t>
            </a:r>
            <a:r>
              <a:rPr lang="en-IN" sz="2000" dirty="0" err="1">
                <a:latin typeface="+mn-lt"/>
              </a:rPr>
              <a:t>Abdelghany</a:t>
            </a:r>
            <a:r>
              <a:rPr lang="en-IN" sz="2000" dirty="0">
                <a:latin typeface="+mn-lt"/>
              </a:rPr>
              <a:t>, Mohamed I. Ahmed, Ahmed A. Ibrahim, Arpan Desai and Mai F. Ahmed, “Textile Antenna with Dual Bands and SAR Measurements for Wearable Communication,” Electronics, vol. 13, 2024. </a:t>
            </a:r>
            <a:r>
              <a:rPr lang="en-IN" sz="2000" dirty="0">
                <a:latin typeface="+mn-lt"/>
                <a:hlinkClick r:id="rId4"/>
              </a:rPr>
              <a:t>https://doi.org/10.3390/electronics13122251</a:t>
            </a:r>
            <a:br>
              <a:rPr lang="en-IN" sz="2000" dirty="0">
                <a:latin typeface="+mn-lt"/>
              </a:rPr>
            </a:br>
            <a:br>
              <a:rPr lang="en-IN" sz="2000" dirty="0">
                <a:latin typeface="+mn-lt"/>
              </a:rPr>
            </a:br>
            <a:r>
              <a:rPr lang="en-IN" sz="2000" dirty="0">
                <a:latin typeface="+mn-lt"/>
              </a:rPr>
              <a:t>[8] Mahmoud A. </a:t>
            </a:r>
            <a:r>
              <a:rPr lang="en-IN" sz="2000" dirty="0" err="1">
                <a:latin typeface="+mn-lt"/>
              </a:rPr>
              <a:t>Abdelghany</a:t>
            </a:r>
            <a:r>
              <a:rPr lang="en-IN" sz="2000" dirty="0">
                <a:latin typeface="+mn-lt"/>
              </a:rPr>
              <a:t>, Mohamed I. Ahmed, Ahmed A. Ibrahim, Arpan Desai and Mai F. Ahmed, “Textile Antenna with Dual Bands and SAR Measurements for Wearable Communication,” Electronics, vol. 13, 2024. </a:t>
            </a:r>
            <a:r>
              <a:rPr lang="en-IN" sz="2000" dirty="0">
                <a:latin typeface="+mn-lt"/>
                <a:hlinkClick r:id="rId4"/>
              </a:rPr>
              <a:t>https://doi.org/10.3390/electronics13122251</a:t>
            </a:r>
            <a:br>
              <a:rPr lang="en-IN" sz="2000" dirty="0">
                <a:latin typeface="+mn-lt"/>
              </a:rPr>
            </a:br>
            <a:endParaRPr lang="en-IN" sz="2000" dirty="0">
              <a:latin typeface="+mn-lt"/>
            </a:endParaRPr>
          </a:p>
        </p:txBody>
      </p:sp>
    </p:spTree>
    <p:extLst>
      <p:ext uri="{BB962C8B-B14F-4D97-AF65-F5344CB8AC3E}">
        <p14:creationId xmlns:p14="http://schemas.microsoft.com/office/powerpoint/2010/main" val="1986766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01FF2-5B99-A36D-4106-19238E1B052A}"/>
              </a:ext>
            </a:extLst>
          </p:cNvPr>
          <p:cNvSpPr>
            <a:spLocks noGrp="1"/>
          </p:cNvSpPr>
          <p:nvPr>
            <p:ph type="title"/>
          </p:nvPr>
        </p:nvSpPr>
        <p:spPr>
          <a:xfrm>
            <a:off x="622206" y="659011"/>
            <a:ext cx="10595559" cy="5920898"/>
          </a:xfrm>
        </p:spPr>
        <p:txBody>
          <a:bodyPr>
            <a:noAutofit/>
          </a:bodyPr>
          <a:lstStyle/>
          <a:p>
            <a:r>
              <a:rPr lang="en-IN" sz="2200" dirty="0">
                <a:latin typeface="+mn-lt"/>
              </a:rPr>
              <a:t>[9] Hesham A. El-Hakim and Hesham A. Mohamed, “Engineering planar antenna using geometry arrangements for wireless communications and satellite applications,” Scientific vol. 13, Reports, </a:t>
            </a:r>
            <a:r>
              <a:rPr lang="en-IN" sz="2200" dirty="0">
                <a:latin typeface="+mn-lt"/>
                <a:hlinkClick r:id="rId2"/>
              </a:rPr>
              <a:t>https://doi.org/10.1038/s41598-023-46400-9</a:t>
            </a:r>
            <a:br>
              <a:rPr lang="en-IN" sz="2200" dirty="0">
                <a:latin typeface="+mn-lt"/>
              </a:rPr>
            </a:br>
            <a:br>
              <a:rPr lang="en-IN" sz="2200" dirty="0">
                <a:latin typeface="+mn-lt"/>
              </a:rPr>
            </a:br>
            <a:r>
              <a:rPr lang="en-IN" sz="2200" dirty="0">
                <a:latin typeface="+mn-lt"/>
              </a:rPr>
              <a:t>[10] . Yang Xiao, Haoran Zu, </a:t>
            </a:r>
            <a:r>
              <a:rPr lang="en-IN" sz="2200" dirty="0" err="1">
                <a:latin typeface="+mn-lt"/>
              </a:rPr>
              <a:t>Rongguo</a:t>
            </a:r>
            <a:r>
              <a:rPr lang="en-IN" sz="2200" dirty="0">
                <a:latin typeface="+mn-lt"/>
              </a:rPr>
              <a:t> Song, Yitong Xin, </a:t>
            </a:r>
            <a:r>
              <a:rPr lang="en-IN" sz="2200" dirty="0" err="1">
                <a:latin typeface="+mn-lt"/>
              </a:rPr>
              <a:t>Yueyue</a:t>
            </a:r>
            <a:r>
              <a:rPr lang="en-IN" sz="2200" dirty="0">
                <a:latin typeface="+mn-lt"/>
              </a:rPr>
              <a:t> Xi, Guan Long Huang, Bian Wu and </a:t>
            </a:r>
            <a:r>
              <a:rPr lang="en-IN" sz="2200" dirty="0" err="1">
                <a:latin typeface="+mn-lt"/>
              </a:rPr>
              <a:t>Daping</a:t>
            </a:r>
            <a:r>
              <a:rPr lang="en-IN" sz="2200" dirty="0">
                <a:latin typeface="+mn-lt"/>
              </a:rPr>
              <a:t> He, “Multiband and Low-Specific Absorption-Rate Wearable Antenna With Low Profile Based on Highly Conductive Graphene Assembled Film,” IEEE Antennas and Wireless Propagation 2023. Letters, vol. 22, no. 9, 2023. </a:t>
            </a:r>
            <a:r>
              <a:rPr lang="en-IN" sz="2200" dirty="0">
                <a:latin typeface="+mn-lt"/>
                <a:hlinkClick r:id="rId3"/>
              </a:rPr>
              <a:t>https://doi.org/10.1109/LAWP.2023.3281395</a:t>
            </a:r>
            <a:br>
              <a:rPr lang="en-IN" sz="2200" dirty="0">
                <a:latin typeface="+mn-lt"/>
              </a:rPr>
            </a:br>
            <a:br>
              <a:rPr lang="en-IN" sz="2200" dirty="0">
                <a:latin typeface="+mn-lt"/>
              </a:rPr>
            </a:br>
            <a:r>
              <a:rPr lang="en-IN" sz="2200" dirty="0">
                <a:latin typeface="+mn-lt"/>
              </a:rPr>
              <a:t>[11] Xi Liang Chang, Pei Song Chee, Eng Hock Lim, “Compact conformal tattoo-polymer antenna for on-body wireless power transfer,” Scientific Reports, vol. 13, 2023, </a:t>
            </a:r>
            <a:r>
              <a:rPr lang="en-IN" sz="2200" dirty="0">
                <a:latin typeface="+mn-lt"/>
                <a:hlinkClick r:id="rId4"/>
              </a:rPr>
              <a:t>https://doi.org/10.1038/s41598-023-36335-6</a:t>
            </a:r>
            <a:br>
              <a:rPr lang="en-IN" sz="2200" dirty="0">
                <a:latin typeface="+mn-lt"/>
              </a:rPr>
            </a:br>
            <a:br>
              <a:rPr lang="en-IN" sz="2200" dirty="0">
                <a:latin typeface="+mn-lt"/>
              </a:rPr>
            </a:br>
            <a:r>
              <a:rPr lang="en-IN" sz="2200" dirty="0">
                <a:latin typeface="+mn-lt"/>
              </a:rPr>
              <a:t>[12] 12.	 Ahmed A. Ibrahim, Hesham A. Mohamed, Mahmoud A. </a:t>
            </a:r>
            <a:r>
              <a:rPr lang="en-IN" sz="2200" dirty="0" err="1">
                <a:latin typeface="+mn-lt"/>
              </a:rPr>
              <a:t>Abdelghany</a:t>
            </a:r>
            <a:r>
              <a:rPr lang="en-IN" sz="2200" dirty="0">
                <a:latin typeface="+mn-lt"/>
              </a:rPr>
              <a:t>, Emad </a:t>
            </a:r>
            <a:r>
              <a:rPr lang="en-IN" sz="2200" dirty="0" err="1">
                <a:latin typeface="+mn-lt"/>
              </a:rPr>
              <a:t>Tammam</a:t>
            </a:r>
            <a:r>
              <a:rPr lang="en-IN" sz="2200" dirty="0">
                <a:latin typeface="+mn-lt"/>
              </a:rPr>
              <a:t>, “Flexible and frequency reconfigurable CPW-fed monopole antenna with frequency selective surface for IoT applications,” Scientific Reports, vol. 13, 2023, </a:t>
            </a:r>
            <a:r>
              <a:rPr lang="en-IN" sz="2200" dirty="0">
                <a:latin typeface="+mn-lt"/>
                <a:hlinkClick r:id="rId5"/>
              </a:rPr>
              <a:t>https://doi.org/10.1038/s41598-023-34917-y</a:t>
            </a:r>
            <a:br>
              <a:rPr lang="en-IN" sz="2200" dirty="0">
                <a:latin typeface="+mn-lt"/>
              </a:rPr>
            </a:br>
            <a:br>
              <a:rPr lang="en-IN" sz="2200" dirty="0">
                <a:latin typeface="+mn-lt"/>
              </a:rPr>
            </a:br>
            <a:br>
              <a:rPr lang="en-IN" sz="2200" dirty="0">
                <a:latin typeface="+mn-lt"/>
              </a:rPr>
            </a:br>
            <a:endParaRPr lang="en-IN" sz="2200" dirty="0">
              <a:latin typeface="+mn-lt"/>
            </a:endParaRPr>
          </a:p>
        </p:txBody>
      </p:sp>
    </p:spTree>
    <p:extLst>
      <p:ext uri="{BB962C8B-B14F-4D97-AF65-F5344CB8AC3E}">
        <p14:creationId xmlns:p14="http://schemas.microsoft.com/office/powerpoint/2010/main" val="1215225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DA7EF-0E0F-396D-17D0-18139BB76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FE1B4-28A3-3AA9-AEC8-B1143827EECB}"/>
              </a:ext>
            </a:extLst>
          </p:cNvPr>
          <p:cNvSpPr>
            <a:spLocks noGrp="1"/>
          </p:cNvSpPr>
          <p:nvPr>
            <p:ph type="title"/>
          </p:nvPr>
        </p:nvSpPr>
        <p:spPr>
          <a:xfrm>
            <a:off x="622206" y="659011"/>
            <a:ext cx="10595559" cy="5920898"/>
          </a:xfrm>
        </p:spPr>
        <p:txBody>
          <a:bodyPr>
            <a:noAutofit/>
          </a:bodyPr>
          <a:lstStyle/>
          <a:p>
            <a:r>
              <a:rPr lang="en-IN" sz="2200" dirty="0">
                <a:latin typeface="+mn-lt"/>
              </a:rPr>
              <a:t>[13] Ayman Ayd R. Saad, Walaa M. Hassan, Ahmed A. Ibrahim, “A monopole antenna with cotton fabric material for wearable applications,” Scientific Reports, vol. 13, 2023, </a:t>
            </a:r>
            <a:r>
              <a:rPr lang="en-IN" sz="2200" dirty="0">
                <a:latin typeface="+mn-lt"/>
                <a:hlinkClick r:id="rId2"/>
              </a:rPr>
              <a:t>https://doi.org/10.1038/s41598-023-34394-3</a:t>
            </a:r>
            <a:br>
              <a:rPr lang="en-IN" sz="2200" dirty="0">
                <a:latin typeface="+mn-lt"/>
              </a:rPr>
            </a:br>
            <a:br>
              <a:rPr lang="en-IN" sz="2200" dirty="0">
                <a:latin typeface="+mn-lt"/>
              </a:rPr>
            </a:br>
            <a:r>
              <a:rPr lang="en-IN" sz="2200" dirty="0">
                <a:latin typeface="+mn-lt"/>
              </a:rPr>
              <a:t>[14] Umar Musa, </a:t>
            </a:r>
            <a:r>
              <a:rPr lang="en-IN" sz="2200" dirty="0" err="1">
                <a:latin typeface="+mn-lt"/>
              </a:rPr>
              <a:t>Shahraf</a:t>
            </a:r>
            <a:r>
              <a:rPr lang="en-IN" sz="2200" dirty="0">
                <a:latin typeface="+mn-lt"/>
              </a:rPr>
              <a:t> Mhd Shah, Huda A. Majid, Ismail Ahmed Mahadi, Mohamad Kamal A. Rahim, Muhammad Saad Yahya, “Design and Analysis of a Compact Dual-Band Wearable Antenna for WBAN Applications,” IEEE Access, vol. 11, 2023, </a:t>
            </a:r>
            <a:r>
              <a:rPr lang="en-IN" sz="2200" dirty="0">
                <a:latin typeface="+mn-lt"/>
                <a:hlinkClick r:id="rId3"/>
              </a:rPr>
              <a:t>https://doi.org/10.1109/ACCESS.2023.3262290</a:t>
            </a:r>
            <a:br>
              <a:rPr lang="en-IN" sz="2200" dirty="0">
                <a:latin typeface="+mn-lt"/>
              </a:rPr>
            </a:br>
            <a:br>
              <a:rPr lang="en-IN" sz="2200" dirty="0">
                <a:latin typeface="+mn-lt"/>
              </a:rPr>
            </a:br>
            <a:r>
              <a:rPr lang="en-IN" sz="2200" dirty="0">
                <a:latin typeface="+mn-lt"/>
              </a:rPr>
              <a:t>[15] Musa Hussain, Md. Abu Sufian, Mohammed S. </a:t>
            </a:r>
            <a:r>
              <a:rPr lang="en-IN" sz="2200" dirty="0" err="1">
                <a:latin typeface="+mn-lt"/>
              </a:rPr>
              <a:t>Alzaidi</a:t>
            </a:r>
            <a:r>
              <a:rPr lang="en-IN" sz="2200" dirty="0">
                <a:latin typeface="+mn-lt"/>
              </a:rPr>
              <a:t>, Syeda Iffat Naqvi, Niamat Hussain, Dalia H. </a:t>
            </a:r>
            <a:r>
              <a:rPr lang="en-IN" sz="2200" dirty="0" err="1">
                <a:latin typeface="+mn-lt"/>
              </a:rPr>
              <a:t>Elkamchouchi</a:t>
            </a:r>
            <a:r>
              <a:rPr lang="en-IN" sz="2200" dirty="0">
                <a:latin typeface="+mn-lt"/>
              </a:rPr>
              <a:t>, Mohamed Fathy Abo Sree, Sara Yehia Abdel Fatah, “Bandwidth and Gain Enhancement of a CPW Antenna Using Frequency Selective Surface for UWB Applications,” Micromachines, vol. 14, 2023, </a:t>
            </a:r>
            <a:r>
              <a:rPr lang="en-IN" sz="2200" dirty="0">
                <a:latin typeface="+mn-lt"/>
                <a:hlinkClick r:id="rId4"/>
              </a:rPr>
              <a:t>https://doi.org/10.3390/mi14030591</a:t>
            </a:r>
            <a:br>
              <a:rPr lang="en-IN" sz="2200" dirty="0">
                <a:latin typeface="+mn-lt"/>
              </a:rPr>
            </a:br>
            <a:br>
              <a:rPr lang="en-IN" sz="2200" dirty="0">
                <a:latin typeface="+mn-lt"/>
              </a:rPr>
            </a:br>
            <a:r>
              <a:rPr lang="en-IN" sz="2200" dirty="0">
                <a:latin typeface="+mn-lt"/>
              </a:rPr>
              <a:t>[16] 16.	Iftikhar Ud Din, Waheed Ullah, Nisar Ahmad Abbasi, Sadiq Ullah, Waleed </a:t>
            </a:r>
            <a:r>
              <a:rPr lang="en-IN" sz="2200" dirty="0" err="1">
                <a:latin typeface="+mn-lt"/>
              </a:rPr>
              <a:t>Shihzad</a:t>
            </a:r>
            <a:r>
              <a:rPr lang="en-IN" sz="2200" dirty="0">
                <a:latin typeface="+mn-lt"/>
              </a:rPr>
              <a:t>, Bilawal Khan, Dushantha Nalin K. Jayakody, “A Novel Compact Ultra-Wideband Frequency-Selective Surface-Based Antenna for Gain Enhancement Applications,” Journal of Electromagnetic Engineering and Science, vol. 23, no. 2, 2023, </a:t>
            </a:r>
            <a:r>
              <a:rPr lang="en-IN" sz="2200" dirty="0">
                <a:latin typeface="+mn-lt"/>
                <a:hlinkClick r:id="rId5"/>
              </a:rPr>
              <a:t>https://doi.org/10.26866/jees.2023.2.r.159</a:t>
            </a:r>
            <a:br>
              <a:rPr lang="en-IN" sz="2200" dirty="0">
                <a:latin typeface="+mn-lt"/>
              </a:rPr>
            </a:br>
            <a:br>
              <a:rPr lang="en-IN" sz="2200" dirty="0">
                <a:latin typeface="+mn-lt"/>
              </a:rPr>
            </a:br>
            <a:endParaRPr lang="en-IN" sz="2200" dirty="0">
              <a:latin typeface="+mn-lt"/>
            </a:endParaRPr>
          </a:p>
        </p:txBody>
      </p:sp>
    </p:spTree>
    <p:extLst>
      <p:ext uri="{BB962C8B-B14F-4D97-AF65-F5344CB8AC3E}">
        <p14:creationId xmlns:p14="http://schemas.microsoft.com/office/powerpoint/2010/main" val="1379611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78417-D6B3-2EE4-CFAA-2CD0039FD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3D2A4-7F52-0870-3B5F-420AB3F793A6}"/>
              </a:ext>
            </a:extLst>
          </p:cNvPr>
          <p:cNvSpPr>
            <a:spLocks noGrp="1"/>
          </p:cNvSpPr>
          <p:nvPr>
            <p:ph type="title"/>
          </p:nvPr>
        </p:nvSpPr>
        <p:spPr>
          <a:xfrm>
            <a:off x="622206" y="659011"/>
            <a:ext cx="10595559" cy="5920898"/>
          </a:xfrm>
        </p:spPr>
        <p:txBody>
          <a:bodyPr>
            <a:noAutofit/>
          </a:bodyPr>
          <a:lstStyle/>
          <a:p>
            <a:r>
              <a:rPr lang="en-IN" sz="2200" dirty="0">
                <a:latin typeface="+mn-lt"/>
              </a:rPr>
              <a:t>[17] Hüseyin </a:t>
            </a:r>
            <a:r>
              <a:rPr lang="en-IN" sz="2200" dirty="0" err="1">
                <a:latin typeface="+mn-lt"/>
              </a:rPr>
              <a:t>Şerif</a:t>
            </a:r>
            <a:r>
              <a:rPr lang="en-IN" sz="2200" dirty="0">
                <a:latin typeface="+mn-lt"/>
              </a:rPr>
              <a:t> </a:t>
            </a:r>
            <a:r>
              <a:rPr lang="en-IN" sz="2200" dirty="0" err="1">
                <a:latin typeface="+mn-lt"/>
              </a:rPr>
              <a:t>Savcı</a:t>
            </a:r>
            <a:r>
              <a:rPr lang="en-IN" sz="2200" dirty="0">
                <a:latin typeface="+mn-lt"/>
              </a:rPr>
              <a:t>, Fatih </a:t>
            </a:r>
            <a:r>
              <a:rPr lang="en-IN" sz="2200" dirty="0" err="1">
                <a:latin typeface="+mn-lt"/>
              </a:rPr>
              <a:t>Kaburcuk</a:t>
            </a:r>
            <a:r>
              <a:rPr lang="en-IN" sz="2200" dirty="0">
                <a:latin typeface="+mn-lt"/>
              </a:rPr>
              <a:t>, “FDTD-based SAR calculation of a wearable antenna for wireless body area network devices,” International Journal of Microwave and Wireless Technologies, 2023, </a:t>
            </a:r>
            <a:r>
              <a:rPr lang="en-IN" sz="2200" dirty="0">
                <a:latin typeface="+mn-lt"/>
                <a:hlinkClick r:id="rId2"/>
              </a:rPr>
              <a:t>https://doi.org/10.1017/S1759078722001283</a:t>
            </a:r>
            <a:br>
              <a:rPr lang="en-IN" sz="2200" dirty="0">
                <a:latin typeface="+mn-lt"/>
              </a:rPr>
            </a:br>
            <a:br>
              <a:rPr lang="en-IN" sz="2200" dirty="0">
                <a:latin typeface="+mn-lt"/>
              </a:rPr>
            </a:br>
            <a:r>
              <a:rPr lang="en-IN" sz="2200" dirty="0">
                <a:latin typeface="+mn-lt"/>
              </a:rPr>
              <a:t>[18] Devendra Kumar, Dhirendra Mathur, “A Soft Surface Based Low Profile Wearable Antenna for Biomedical Telemetry,” International Journal of Electrical and Electronic Engineering &amp; Telecommunications, vol. 11, no. 5, 2022, </a:t>
            </a:r>
            <a:r>
              <a:rPr lang="en-IN" sz="2200" dirty="0">
                <a:latin typeface="+mn-lt"/>
                <a:hlinkClick r:id="rId3"/>
              </a:rPr>
              <a:t>https://doi.org/10.18178/ijeetc.11.5.356-362</a:t>
            </a:r>
            <a:br>
              <a:rPr lang="en-IN" sz="2200" dirty="0">
                <a:latin typeface="+mn-lt"/>
              </a:rPr>
            </a:br>
            <a:br>
              <a:rPr lang="en-IN" sz="2200" dirty="0">
                <a:latin typeface="+mn-lt"/>
              </a:rPr>
            </a:br>
            <a:r>
              <a:rPr lang="en-IN" sz="2200" dirty="0">
                <a:latin typeface="+mn-lt"/>
              </a:rPr>
              <a:t>[19] VSD Rekha, M. </a:t>
            </a:r>
            <a:r>
              <a:rPr lang="en-IN" sz="2200" dirty="0" err="1">
                <a:latin typeface="+mn-lt"/>
              </a:rPr>
              <a:t>Padmanabharaju</a:t>
            </a:r>
            <a:r>
              <a:rPr lang="en-IN" sz="2200" dirty="0">
                <a:latin typeface="+mn-lt"/>
              </a:rPr>
              <a:t>, B. T. P. Madhav, S. S. Mohan Reddy, “Triple Band Textile Array Antenna with Enhanced Gain and Low SAR for Off Body Communication Applications,” International Journal on Recent and Innovation Trends in Computing and Communication, vol. 10, no. 6, June 2022, </a:t>
            </a:r>
            <a:r>
              <a:rPr lang="en-IN" sz="2200" dirty="0">
                <a:latin typeface="+mn-lt"/>
                <a:hlinkClick r:id="rId4"/>
              </a:rPr>
              <a:t>https://doi.org/10.17762/ijritcc.v10i6.5626</a:t>
            </a:r>
            <a:br>
              <a:rPr lang="en-IN" sz="2200" dirty="0">
                <a:latin typeface="+mn-lt"/>
              </a:rPr>
            </a:br>
            <a:br>
              <a:rPr lang="en-IN" sz="2200" dirty="0">
                <a:latin typeface="+mn-lt"/>
              </a:rPr>
            </a:br>
            <a:r>
              <a:rPr lang="en-IN" sz="2200" dirty="0">
                <a:latin typeface="+mn-lt"/>
              </a:rPr>
              <a:t>[20] 20.	M. M. Hasan Mahfuz, Md Rafiqul Islam, Chen-Wang Park, </a:t>
            </a:r>
            <a:r>
              <a:rPr lang="en-IN" sz="2200" dirty="0" err="1">
                <a:latin typeface="+mn-lt"/>
              </a:rPr>
              <a:t>Eklas</a:t>
            </a:r>
            <a:r>
              <a:rPr lang="en-IN" sz="2200" dirty="0">
                <a:latin typeface="+mn-lt"/>
              </a:rPr>
              <a:t> H. A. Elsheikh, F. M. </a:t>
            </a:r>
            <a:r>
              <a:rPr lang="en-IN" sz="2200" dirty="0" err="1">
                <a:latin typeface="+mn-lt"/>
              </a:rPr>
              <a:t>Sadeque</a:t>
            </a:r>
            <a:r>
              <a:rPr lang="en-IN" sz="2200" dirty="0">
                <a:latin typeface="+mn-lt"/>
              </a:rPr>
              <a:t>, Mohamed </a:t>
            </a:r>
            <a:r>
              <a:rPr lang="en-IN" sz="2200" dirty="0" err="1">
                <a:latin typeface="+mn-lt"/>
              </a:rPr>
              <a:t>Hediati</a:t>
            </a:r>
            <a:r>
              <a:rPr lang="en-IN" sz="2200" dirty="0">
                <a:latin typeface="+mn-lt"/>
              </a:rPr>
              <a:t>, “Wearable Textile Patch Antenna: Challenges and Future Directions,” IEEE Access, vol. 10, pp. 38426–38427, 2022, </a:t>
            </a:r>
            <a:r>
              <a:rPr lang="en-IN" sz="2200" dirty="0">
                <a:latin typeface="+mn-lt"/>
                <a:hlinkClick r:id="rId5"/>
              </a:rPr>
              <a:t>https://doi.org/10.1109/ACCESS.2022.3161564</a:t>
            </a:r>
            <a:br>
              <a:rPr lang="en-IN" sz="2200" dirty="0">
                <a:latin typeface="+mn-lt"/>
              </a:rPr>
            </a:br>
            <a:br>
              <a:rPr lang="en-IN" sz="2200" dirty="0">
                <a:latin typeface="+mn-lt"/>
              </a:rPr>
            </a:br>
            <a:endParaRPr lang="en-IN" sz="2200" dirty="0">
              <a:latin typeface="+mn-lt"/>
            </a:endParaRPr>
          </a:p>
        </p:txBody>
      </p:sp>
    </p:spTree>
    <p:extLst>
      <p:ext uri="{BB962C8B-B14F-4D97-AF65-F5344CB8AC3E}">
        <p14:creationId xmlns:p14="http://schemas.microsoft.com/office/powerpoint/2010/main" val="673061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8A224E-8EC1-EEC3-A759-059F5AFCB39E}"/>
              </a:ext>
            </a:extLst>
          </p:cNvPr>
          <p:cNvSpPr>
            <a:spLocks noGrp="1"/>
          </p:cNvSpPr>
          <p:nvPr>
            <p:ph type="title"/>
          </p:nvPr>
        </p:nvSpPr>
        <p:spPr>
          <a:xfrm>
            <a:off x="4822988" y="2766218"/>
            <a:ext cx="2546023" cy="1325563"/>
          </a:xfrm>
        </p:spPr>
        <p:txBody>
          <a:bodyPr/>
          <a:lstStyle/>
          <a:p>
            <a:r>
              <a:rPr lang="en-IN" b="1" dirty="0"/>
              <a:t>Thank You</a:t>
            </a:r>
          </a:p>
        </p:txBody>
      </p:sp>
    </p:spTree>
    <p:extLst>
      <p:ext uri="{BB962C8B-B14F-4D97-AF65-F5344CB8AC3E}">
        <p14:creationId xmlns:p14="http://schemas.microsoft.com/office/powerpoint/2010/main" val="31943797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1208</TotalTime>
  <Words>3281</Words>
  <Application>Microsoft Office PowerPoint</Application>
  <PresentationFormat>Widescreen</PresentationFormat>
  <Paragraphs>352</Paragraphs>
  <Slides>35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Cambria Math</vt:lpstr>
      <vt:lpstr>Times New Roman</vt:lpstr>
      <vt:lpstr>Office Theme</vt:lpstr>
      <vt:lpstr>Reduced specific absorption rate compact flexible monopole antenna system for wearable wireless communication</vt:lpstr>
      <vt:lpstr>Contents</vt:lpstr>
      <vt:lpstr>Abstract</vt:lpstr>
      <vt:lpstr>Objectives</vt:lpstr>
      <vt:lpstr>Literature Survey</vt:lpstr>
      <vt:lpstr>PowerPoint Presentation</vt:lpstr>
      <vt:lpstr>PowerPoint Presentation</vt:lpstr>
      <vt:lpstr>PowerPoint Presentation</vt:lpstr>
      <vt:lpstr>PowerPoint Presentation</vt:lpstr>
      <vt:lpstr>PowerPoint Presentation</vt:lpstr>
      <vt:lpstr>PowerPoint Presentation</vt:lpstr>
      <vt:lpstr>Software Used</vt:lpstr>
      <vt:lpstr>PowerPoint Presentation</vt:lpstr>
      <vt:lpstr>Proposed Design</vt:lpstr>
      <vt:lpstr>S11 Parameter and VSWR</vt:lpstr>
      <vt:lpstr>Gain without FSS</vt:lpstr>
      <vt:lpstr>PowerPoint Presentation</vt:lpstr>
      <vt:lpstr>PowerPoint Presentation</vt:lpstr>
      <vt:lpstr>S11 Parameter Results</vt:lpstr>
      <vt:lpstr>PowerPoint Presentation</vt:lpstr>
      <vt:lpstr>PowerPoint Presentation</vt:lpstr>
      <vt:lpstr>PowerPoint Presentation</vt:lpstr>
      <vt:lpstr>PowerPoint Presentation</vt:lpstr>
      <vt:lpstr>PowerPoint Presentation</vt:lpstr>
      <vt:lpstr>Future Scope</vt:lpstr>
      <vt:lpstr>PowerPoint Presentation</vt:lpstr>
      <vt:lpstr>Results</vt:lpstr>
      <vt:lpstr>Conclusion</vt:lpstr>
      <vt:lpstr>Comparison Table</vt:lpstr>
      <vt:lpstr>References</vt:lpstr>
      <vt:lpstr>[5] Kummaramsetty Sainath, Shine Let Gunamony, Wahaj Abbas Awan, Navin M. George, Majjiga Deva Sindhu, Fahad N. Alsunaydih and Khaled Alhassoon, “Development of flexible durable multi-slotted antenna for wearable applications,” Heliyon, vol. 10, 2024. https://doi.org/10.1016/j.heliyon.2024.e40627  [6] Biragathis Babu, DiviyaDevi Paramasivam, Raimi Dewan, Noor Asmawati Samsuri and Nazirah Othman, “On-Body Reduced Size AMC Design for Lowering Specific Absorption Rate in Wearable Antenna Application,” Journal of Medical Devices Technology, vol. 3, no. 1, 2024. https://jmeditec.utm.my  [7] Mahmoud A. Abdelghany, Mohamed I. Ahmed, Ahmed A. Ibrahim, Arpan Desai and Mai F. Ahmed, “Textile Antenna with Dual Bands and SAR Measurements for Wearable Communication,” Electronics, vol. 13, 2024. https://doi.org/10.3390/electronics13122251  [8] Mahmoud A. Abdelghany, Mohamed I. Ahmed, Ahmed A. Ibrahim, Arpan Desai and Mai F. Ahmed, “Textile Antenna with Dual Bands and SAR Measurements for Wearable Communication,” Electronics, vol. 13, 2024. https://doi.org/10.3390/electronics13122251 </vt:lpstr>
      <vt:lpstr>[9] Hesham A. El-Hakim and Hesham A. Mohamed, “Engineering planar antenna using geometry arrangements for wireless communications and satellite applications,” Scientific vol. 13, Reports, https://doi.org/10.1038/s41598-023-46400-9  [10] . Yang Xiao, Haoran Zu, Rongguo Song, Yitong Xin, Yueyue Xi, Guan Long Huang, Bian Wu and Daping He, “Multiband and Low-Specific Absorption-Rate Wearable Antenna With Low Profile Based on Highly Conductive Graphene Assembled Film,” IEEE Antennas and Wireless Propagation 2023. Letters, vol. 22, no. 9, 2023. https://doi.org/10.1109/LAWP.2023.3281395  [11] Xi Liang Chang, Pei Song Chee, Eng Hock Lim, “Compact conformal tattoo-polymer antenna for on-body wireless power transfer,” Scientific Reports, vol. 13, 2023, https://doi.org/10.1038/s41598-023-36335-6  [12] 12.  Ahmed A. Ibrahim, Hesham A. Mohamed, Mahmoud A. Abdelghany, Emad Tammam, “Flexible and frequency reconfigurable CPW-fed monopole antenna with frequency selective surface for IoT applications,” Scientific Reports, vol. 13, 2023, https://doi.org/10.1038/s41598-023-34917-y   </vt:lpstr>
      <vt:lpstr>[13] Ayman Ayd R. Saad, Walaa M. Hassan, Ahmed A. Ibrahim, “A monopole antenna with cotton fabric material for wearable applications,” Scientific Reports, vol. 13, 2023, https://doi.org/10.1038/s41598-023-34394-3  [14] Umar Musa, Shahraf Mhd Shah, Huda A. Majid, Ismail Ahmed Mahadi, Mohamad Kamal A. Rahim, Muhammad Saad Yahya, “Design and Analysis of a Compact Dual-Band Wearable Antenna for WBAN Applications,” IEEE Access, vol. 11, 2023, https://doi.org/10.1109/ACCESS.2023.3262290  [15] Musa Hussain, Md. Abu Sufian, Mohammed S. Alzaidi, Syeda Iffat Naqvi, Niamat Hussain, Dalia H. Elkamchouchi, Mohamed Fathy Abo Sree, Sara Yehia Abdel Fatah, “Bandwidth and Gain Enhancement of a CPW Antenna Using Frequency Selective Surface for UWB Applications,” Micromachines, vol. 14, 2023, https://doi.org/10.3390/mi14030591  [16] 16. Iftikhar Ud Din, Waheed Ullah, Nisar Ahmad Abbasi, Sadiq Ullah, Waleed Shihzad, Bilawal Khan, Dushantha Nalin K. Jayakody, “A Novel Compact Ultra-Wideband Frequency-Selective Surface-Based Antenna for Gain Enhancement Applications,” Journal of Electromagnetic Engineering and Science, vol. 23, no. 2, 2023, https://doi.org/10.26866/jees.2023.2.r.159  </vt:lpstr>
      <vt:lpstr>[17] Hüseyin Şerif Savcı, Fatih Kaburcuk, “FDTD-based SAR calculation of a wearable antenna for wireless body area network devices,” International Journal of Microwave and Wireless Technologies, 2023, https://doi.org/10.1017/S1759078722001283  [18] Devendra Kumar, Dhirendra Mathur, “A Soft Surface Based Low Profile Wearable Antenna for Biomedical Telemetry,” International Journal of Electrical and Electronic Engineering &amp; Telecommunications, vol. 11, no. 5, 2022, https://doi.org/10.18178/ijeetc.11.5.356-362  [19] VSD Rekha, M. Padmanabharaju, B. T. P. Madhav, S. S. Mohan Reddy, “Triple Band Textile Array Antenna with Enhanced Gain and Low SAR for Off Body Communication Applications,” International Journal on Recent and Innovation Trends in Computing and Communication, vol. 10, no. 6, June 2022, https://doi.org/10.17762/ijritcc.v10i6.5626  [20] 20. M. M. Hasan Mahfuz, Md Rafiqul Islam, Chen-Wang Park, Eklas H. A. Elsheikh, F. M. Sadeque, Mohamed Hediati, “Wearable Textile Patch Antenna: Challenges and Future Directions,” IEEE Access, vol. 10, pp. 38426–38427, 2022, https://doi.org/10.1109/ACCESS.2022.3161564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Harshavardhan N P</dc:creator>
  <cp:lastModifiedBy>Hema Anantha Nakka</cp:lastModifiedBy>
  <cp:revision>15</cp:revision>
  <dcterms:created xsi:type="dcterms:W3CDTF">2026-01-28T15:26:38Z</dcterms:created>
  <dcterms:modified xsi:type="dcterms:W3CDTF">2026-05-19T07:25:32Z</dcterms:modified>
</cp:coreProperties>
</file>